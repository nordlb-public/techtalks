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5" name="Shape 11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mit Metapher anfangen, um das Ganze zu verbildlichen</a:t>
            </a:r>
          </a:p>
          <a:p>
            <a:pPr marL="171450" indent="-171450">
              <a:buSzPct val="100000"/>
              <a:buChar char="-"/>
            </a:pPr>
            <a:r>
              <a:t>man stellt sich vor, man müsste direkt beim Koch sein Essen bestellen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7" name="Shape 1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deswegen gibt es Kellner, die fungieren als Schnittstelle zwischen Kunden und Küche</a:t>
            </a:r>
          </a:p>
          <a:p>
            <a:pPr marL="171450" indent="-171450">
              <a:buSzPct val="100000"/>
              <a:buChar char="-"/>
            </a:pPr>
            <a:r>
              <a:t>man weiß aber gar nicht, was es zu essen gibt, man müsste also probieren „gibt es hier schnitzel?“ und würde nur „ja“ oder „nein“ kriegen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14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1" name="Shape 14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deswegen gibt es Speisekarten, quasi eine Beschreibung von dem, was die Küche im Angebot hat  - also das, was ich beim Kellner bestellen kann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5" name="Shape 16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der Workflow ist dann der folgende: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17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9" name="Shape 17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man merkt schnell, der Kunde ist eine Art Frontend oder vielleicht auch einfach eine andere Anwendung</a:t>
            </a:r>
          </a:p>
          <a:p>
            <a:pPr marL="171450" indent="-171450">
              <a:buSzPct val="100000"/>
              <a:buChar char="-"/>
            </a:pPr>
            <a:r>
              <a:t>die Küche ist das Backend einer Anwendung</a:t>
            </a:r>
          </a:p>
          <a:p>
            <a:pPr marL="171450" indent="-171450">
              <a:buSzPct val="100000"/>
              <a:buChar char="-"/>
            </a:pPr>
            <a:r>
              <a:t>und der Kellner ist die Schnittstelle zwischen den beiden, die API</a:t>
            </a:r>
          </a:p>
          <a:p>
            <a:pPr marL="171450" indent="-171450">
              <a:buSzPct val="100000"/>
              <a:buChar char="-"/>
            </a:pPr>
            <a:r>
              <a:t>die Speisekarte ist dann also die Schnittstellenbeschreibung, aber dazu wird Carl später noch mehr sagen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0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3" name="Shape 20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und auch hier ist der Workflow relativ ähnlich, statt Schnitzel mit Bratkartoffeln kommen dann aber Daten zurück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hape 2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8" name="Shape 2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nun ist das Konzept der Schnittstelle bzw. API nix Neues und wird Ihnen als Entwickler ja bestimmt bekannt sein</a:t>
            </a:r>
          </a:p>
          <a:p>
            <a:pPr marL="171450" indent="-171450">
              <a:buSzPct val="100000"/>
              <a:buChar char="-"/>
            </a:pPr>
            <a:r>
              <a:t>vielleicht haben Sie mit SOAP und XML gearbeitet</a:t>
            </a:r>
          </a:p>
          <a:p>
            <a:pPr marL="171450" indent="-171450">
              <a:buSzPct val="100000"/>
              <a:buChar char="-"/>
            </a:pPr>
            <a:r>
              <a:t>die neuere Technologie und die, die wir heute vorstellen, hat aber ein paar Unterschiede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3" name="Shape 2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viele Frontends sind in Javascript geschrieben, deswegen ist JSON praktisch, aber keine Pflicht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2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0" name="Shape 2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REST ist eng mit HTTP verbunden und macht sich deren Verben zu Nutze</a:t>
            </a:r>
          </a:p>
          <a:p>
            <a:pPr marL="171450" indent="-171450">
              <a:buSzPct val="100000"/>
              <a:buChar char="-"/>
            </a:pPr>
            <a:r>
              <a:t>HTTP Verben stärken Standardisierung (removeOffice / deleteOffice)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25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7" name="Shape 25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REST ist eng mit HTTP verbunden und macht sich deren Verben zu Nutze</a:t>
            </a:r>
          </a:p>
          <a:p>
            <a:pPr marL="171450" indent="-171450">
              <a:buSzPct val="100000"/>
              <a:buChar char="-"/>
            </a:pPr>
            <a:r>
              <a:t>HTTP Verben stärken Standardisierung (removeOffice / deleteOffice)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26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3" name="Shape 26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171450" indent="-171450">
              <a:buSzPct val="100000"/>
              <a:buChar char="-"/>
            </a:pPr>
            <a:r>
              <a:t>Ressource wird immer im Plural beschrieben</a:t>
            </a:r>
          </a:p>
          <a:p>
            <a:pPr marL="171450" indent="-171450">
              <a:buSzPct val="100000"/>
              <a:buChar char="-"/>
            </a:pPr>
            <a:r>
              <a:t>hat im Standard nur die aufgelisteten Endpunkte</a:t>
            </a:r>
          </a:p>
          <a:p>
            <a:pPr marL="171450" indent="-171450">
              <a:buSzPct val="100000"/>
              <a:buChar char="-"/>
            </a:pPr>
            <a:r>
              <a:t>Endpunkte = URI (Unique Resource Identifier)</a:t>
            </a:r>
          </a:p>
          <a:p>
            <a:pPr marL="171450" indent="-171450">
              <a:buSzPct val="100000"/>
              <a:buChar char="-"/>
            </a:pPr>
            <a:r>
              <a:t>es darf keine koexistierenden Endpunkte geben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26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9" name="Shape 26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marL="171450" indent="-171450">
              <a:buSzPct val="100000"/>
              <a:buChar char="-"/>
            </a:lvl1pPr>
          </a:lstStyle>
          <a:p>
            <a:pPr/>
            <a:r>
              <a:t>das HTTP Protokoll ist auch in den Antworten integriert und macht es dem Kunden sehr leicht zu erfahren, ob seine Anfrage erfolgreich war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platzhalter 4"/>
          <p:cNvSpPr/>
          <p:nvPr>
            <p:ph type="body" sz="quarter" idx="13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platzhalter 3"/>
          <p:cNvSpPr/>
          <p:nvPr>
            <p:ph type="body" sz="quarter" idx="13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Bildplatzhalter 2"/>
          <p:cNvSpPr/>
          <p:nvPr>
            <p:ph type="pic" sz="half" idx="13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5959172" y="6482985"/>
            <a:ext cx="273656" cy="26425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>
            <a:noFill/>
          </a:ln>
          <a:solidFill>
            <a:srgbClr val="000000"/>
          </a:solidFill>
          <a:uFillTx/>
          <a:latin typeface="Arial Narrow"/>
          <a:ea typeface="Arial Narrow"/>
          <a:cs typeface="Arial Narrow"/>
          <a:sym typeface="Arial Narrow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hyperlink" Target="https://nordicapis.com/top-specification-formats-for-rest-apis/" TargetMode="Externa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tif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nordlb" TargetMode="External"/><Relationship Id="rId3" Type="http://schemas.openxmlformats.org/officeDocument/2006/relationships/hyperlink" Target="http://editor.swagger.io/" TargetMode="External"/><Relationship Id="rId4" Type="http://schemas.openxmlformats.org/officeDocument/2006/relationships/hyperlink" Target="https://swagger.io/specification/" TargetMode="External"/><Relationship Id="rId5" Type="http://schemas.openxmlformats.org/officeDocument/2006/relationships/hyperlink" Target="https://swagger.io/docs/specification/about/" TargetMode="External"/><Relationship Id="rId6" Type="http://schemas.openxmlformats.org/officeDocument/2006/relationships/hyperlink" Target="https://www.ics.uci.edu/~fielding/pubs/dissertation/fielding_dissertation.pdf" TargetMode="External"/><Relationship Id="rId7" Type="http://schemas.openxmlformats.org/officeDocument/2006/relationships/hyperlink" Target="https://tools.ietf.org/html/rfc7231" TargetMode="External"/><Relationship Id="rId8" Type="http://schemas.openxmlformats.org/officeDocument/2006/relationships/hyperlink" Target="https://tools.ietf.org/html/rfc7230" TargetMode="External"/><Relationship Id="rId9" Type="http://schemas.openxmlformats.org/officeDocument/2006/relationships/hyperlink" Target="https://tools.ietf.org/html/rfc6585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chLab 12.09.2019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  <a:r>
              <a:t>TechLab 12.09.2019</a:t>
            </a:r>
          </a:p>
          <a:p>
            <a:pPr algn="ctr"/>
            <a:r>
              <a:t>API-Design mit OpenAPI</a:t>
            </a:r>
          </a:p>
        </p:txBody>
      </p:sp>
      <p:sp>
        <p:nvSpPr>
          <p:cNvPr id="95" name="Manuel Ottlik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  <a:p>
            <a:pPr algn="ctr"/>
            <a:r>
              <a:t>Manuel Ottlik</a:t>
            </a:r>
          </a:p>
          <a:p>
            <a:pPr algn="ctr"/>
            <a:r>
              <a:t>Carl Volhard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genda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Agenda</a:t>
            </a:r>
          </a:p>
        </p:txBody>
      </p:sp>
      <p:sp>
        <p:nvSpPr>
          <p:cNvPr id="98" name="Vorstellungsrund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Vorstellungsrunde</a:t>
            </a:r>
          </a:p>
          <a:p>
            <a:pPr/>
            <a:r>
              <a:t>Was ist eine API?</a:t>
            </a:r>
          </a:p>
          <a:p>
            <a:pPr/>
            <a:r>
              <a:t>Abgrenzung REST vs. SOAP</a:t>
            </a:r>
          </a:p>
          <a:p>
            <a:pPr/>
            <a:r>
              <a:t>Rest-Paradigma</a:t>
            </a:r>
          </a:p>
          <a:p>
            <a:pPr/>
            <a:r>
              <a:t>Einführung OpenAPI</a:t>
            </a:r>
          </a:p>
          <a:p>
            <a:pPr/>
            <a:r>
              <a:t>Swagger-UI</a:t>
            </a:r>
          </a:p>
          <a:p>
            <a:pPr/>
            <a:r>
              <a:t>Use Case vorstellen</a:t>
            </a:r>
          </a:p>
          <a:p>
            <a:pPr/>
            <a:r>
              <a:t>Hands-on</a:t>
            </a:r>
          </a:p>
        </p:txBody>
      </p:sp>
      <p:sp>
        <p:nvSpPr>
          <p:cNvPr id="99" name="Foliennummer"/>
          <p:cNvSpPr txBox="1"/>
          <p:nvPr>
            <p:ph type="sldNum" sz="quarter" idx="2"/>
          </p:nvPr>
        </p:nvSpPr>
        <p:spPr>
          <a:xfrm>
            <a:off x="6043929" y="6482985"/>
            <a:ext cx="188899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Vorstellungsrund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Vorstellungsrunde</a:t>
            </a:r>
          </a:p>
        </p:txBody>
      </p:sp>
      <p:sp>
        <p:nvSpPr>
          <p:cNvPr id="102" name="Text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Was ist eine API?</a:t>
            </a:r>
          </a:p>
        </p:txBody>
      </p:sp>
      <p:sp>
        <p:nvSpPr>
          <p:cNvPr id="105" name="Textplatzhalter 4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sp>
        <p:nvSpPr>
          <p:cNvPr id="108" name="Foliennummer"/>
          <p:cNvSpPr txBox="1"/>
          <p:nvPr>
            <p:ph type="sldNum" sz="quarter" idx="2"/>
          </p:nvPr>
        </p:nvSpPr>
        <p:spPr>
          <a:xfrm>
            <a:off x="6043929" y="6482985"/>
            <a:ext cx="188899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09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0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12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13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sp>
        <p:nvSpPr>
          <p:cNvPr id="118" name="Foliennummer"/>
          <p:cNvSpPr txBox="1"/>
          <p:nvPr>
            <p:ph type="sldNum" sz="quarter" idx="2"/>
          </p:nvPr>
        </p:nvSpPr>
        <p:spPr>
          <a:xfrm>
            <a:off x="6043929" y="6482985"/>
            <a:ext cx="188899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19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Grafik 13" descr="Grafik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23" name="Textfeld 15"/>
          <p:cNvSpPr txBox="1"/>
          <p:nvPr/>
        </p:nvSpPr>
        <p:spPr>
          <a:xfrm>
            <a:off x="6349884" y="3463549"/>
            <a:ext cx="1209637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Kellner</a:t>
            </a:r>
          </a:p>
        </p:txBody>
      </p:sp>
      <p:sp>
        <p:nvSpPr>
          <p:cNvPr id="124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25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sp>
        <p:nvSpPr>
          <p:cNvPr id="130" name="Foliennummer"/>
          <p:cNvSpPr txBox="1"/>
          <p:nvPr>
            <p:ph type="sldNum" sz="quarter" idx="2"/>
          </p:nvPr>
        </p:nvSpPr>
        <p:spPr>
          <a:xfrm>
            <a:off x="6043929" y="6482985"/>
            <a:ext cx="188899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31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32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" name="Grafik 13" descr="Grafik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35" name="Textfeld 15"/>
          <p:cNvSpPr txBox="1"/>
          <p:nvPr/>
        </p:nvSpPr>
        <p:spPr>
          <a:xfrm>
            <a:off x="6349884" y="3463549"/>
            <a:ext cx="1209637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Kellner</a:t>
            </a:r>
          </a:p>
        </p:txBody>
      </p:sp>
      <p:sp>
        <p:nvSpPr>
          <p:cNvPr id="136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37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  <p:pic>
        <p:nvPicPr>
          <p:cNvPr id="138" name="Grafik 9" descr="Grafik 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sp>
        <p:nvSpPr>
          <p:cNvPr id="139" name="Textfeld 10"/>
          <p:cNvSpPr txBox="1"/>
          <p:nvPr/>
        </p:nvSpPr>
        <p:spPr>
          <a:xfrm>
            <a:off x="3764077" y="2624184"/>
            <a:ext cx="1679896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Speisekarte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sp>
        <p:nvSpPr>
          <p:cNvPr id="144" name="Foliennummer"/>
          <p:cNvSpPr txBox="1"/>
          <p:nvPr>
            <p:ph type="sldNum" sz="quarter" idx="2"/>
          </p:nvPr>
        </p:nvSpPr>
        <p:spPr>
          <a:xfrm>
            <a:off x="6043929" y="6482985"/>
            <a:ext cx="188899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45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Grafik 9" descr="Grafik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Grafik 11" descr="Grafik 1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Grafik 13" descr="Grafik 1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extfeld 14"/>
          <p:cNvSpPr txBox="1"/>
          <p:nvPr/>
        </p:nvSpPr>
        <p:spPr>
          <a:xfrm>
            <a:off x="1624522" y="4590494"/>
            <a:ext cx="11590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Kunde</a:t>
            </a:r>
          </a:p>
        </p:txBody>
      </p:sp>
      <p:sp>
        <p:nvSpPr>
          <p:cNvPr id="150" name="Textfeld 15"/>
          <p:cNvSpPr txBox="1"/>
          <p:nvPr/>
        </p:nvSpPr>
        <p:spPr>
          <a:xfrm>
            <a:off x="6349884" y="3463549"/>
            <a:ext cx="1209637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der Kellner</a:t>
            </a:r>
          </a:p>
        </p:txBody>
      </p:sp>
      <p:sp>
        <p:nvSpPr>
          <p:cNvPr id="151" name="Textfeld 16"/>
          <p:cNvSpPr txBox="1"/>
          <p:nvPr/>
        </p:nvSpPr>
        <p:spPr>
          <a:xfrm>
            <a:off x="9830692" y="3463549"/>
            <a:ext cx="1120898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Küche</a:t>
            </a:r>
          </a:p>
        </p:txBody>
      </p:sp>
      <p:sp>
        <p:nvSpPr>
          <p:cNvPr id="152" name="Textfeld 17"/>
          <p:cNvSpPr txBox="1"/>
          <p:nvPr/>
        </p:nvSpPr>
        <p:spPr>
          <a:xfrm>
            <a:off x="3764077" y="2624184"/>
            <a:ext cx="1679896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Speisekarte</a:t>
            </a:r>
          </a:p>
        </p:txBody>
      </p:sp>
      <p:sp>
        <p:nvSpPr>
          <p:cNvPr id="153" name="Gerade Verbindung mit Pfeil 19"/>
          <p:cNvSpPr/>
          <p:nvPr/>
        </p:nvSpPr>
        <p:spPr>
          <a:xfrm flipV="1">
            <a:off x="2200769" y="3758267"/>
            <a:ext cx="424985" cy="832228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Gerade Verbindung mit Pfeil 20"/>
          <p:cNvSpPr/>
          <p:nvPr/>
        </p:nvSpPr>
        <p:spPr>
          <a:xfrm>
            <a:off x="3959604" y="3463549"/>
            <a:ext cx="1224645" cy="463465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Gerade Verbindung mit Pfeil 23"/>
          <p:cNvSpPr/>
          <p:nvPr/>
        </p:nvSpPr>
        <p:spPr>
          <a:xfrm>
            <a:off x="7433160" y="4448164"/>
            <a:ext cx="1989764" cy="142332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Gerade Verbindung mit Pfeil 29"/>
          <p:cNvSpPr/>
          <p:nvPr/>
        </p:nvSpPr>
        <p:spPr>
          <a:xfrm flipH="1">
            <a:off x="3919452" y="5637402"/>
            <a:ext cx="178806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Gerade Verbindung mit Pfeil 32"/>
          <p:cNvSpPr/>
          <p:nvPr/>
        </p:nvSpPr>
        <p:spPr>
          <a:xfrm flipH="1">
            <a:off x="7139030" y="5613632"/>
            <a:ext cx="218304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feld 34"/>
          <p:cNvSpPr txBox="1"/>
          <p:nvPr/>
        </p:nvSpPr>
        <p:spPr>
          <a:xfrm>
            <a:off x="1453061" y="3825457"/>
            <a:ext cx="904676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400">
                <a:solidFill>
                  <a:srgbClr val="262626"/>
                </a:solidFill>
              </a:defRPr>
            </a:pPr>
            <a:r>
              <a:t>wählt aus</a:t>
            </a:r>
          </a:p>
          <a:p>
            <a:pPr>
              <a:defRPr sz="1400">
                <a:solidFill>
                  <a:srgbClr val="262626"/>
                </a:solidFill>
              </a:defRPr>
            </a:pPr>
            <a:r>
              <a:t>Angebot</a:t>
            </a:r>
          </a:p>
        </p:txBody>
      </p:sp>
      <p:sp>
        <p:nvSpPr>
          <p:cNvPr id="159" name="Textfeld 35"/>
          <p:cNvSpPr txBox="1"/>
          <p:nvPr/>
        </p:nvSpPr>
        <p:spPr>
          <a:xfrm>
            <a:off x="3760484" y="3796222"/>
            <a:ext cx="1397727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nimmt die Bestellung auf</a:t>
            </a:r>
          </a:p>
        </p:txBody>
      </p:sp>
      <p:sp>
        <p:nvSpPr>
          <p:cNvPr id="160" name="Textfeld 36"/>
          <p:cNvSpPr txBox="1"/>
          <p:nvPr/>
        </p:nvSpPr>
        <p:spPr>
          <a:xfrm>
            <a:off x="7650032" y="3912770"/>
            <a:ext cx="1476874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übersetzt die Bestellung</a:t>
            </a:r>
          </a:p>
        </p:txBody>
      </p:sp>
      <p:sp>
        <p:nvSpPr>
          <p:cNvPr id="161" name="Textfeld 37"/>
          <p:cNvSpPr txBox="1"/>
          <p:nvPr/>
        </p:nvSpPr>
        <p:spPr>
          <a:xfrm>
            <a:off x="7545209" y="5637402"/>
            <a:ext cx="1476875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fertigt das Gericht an</a:t>
            </a:r>
          </a:p>
        </p:txBody>
      </p:sp>
      <p:sp>
        <p:nvSpPr>
          <p:cNvPr id="162" name="Textfeld 38"/>
          <p:cNvSpPr txBox="1"/>
          <p:nvPr/>
        </p:nvSpPr>
        <p:spPr>
          <a:xfrm>
            <a:off x="3955882" y="5648223"/>
            <a:ext cx="1476874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262626"/>
                </a:solidFill>
              </a:defRPr>
            </a:pPr>
            <a:r>
              <a:t>liefert das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Gericht aus</a:t>
            </a:r>
          </a:p>
        </p:txBody>
      </p:sp>
      <p:sp>
        <p:nvSpPr>
          <p:cNvPr id="163" name="Textfeld 21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sp>
        <p:nvSpPr>
          <p:cNvPr id="168" name="Foliennummer"/>
          <p:cNvSpPr txBox="1"/>
          <p:nvPr>
            <p:ph type="sldNum" sz="quarter" idx="2"/>
          </p:nvPr>
        </p:nvSpPr>
        <p:spPr>
          <a:xfrm>
            <a:off x="6043929" y="6482985"/>
            <a:ext cx="188899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69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Grafik 11" descr="Grafik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Grafik 13" descr="Grafik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Textfeld 14"/>
          <p:cNvSpPr txBox="1"/>
          <p:nvPr/>
        </p:nvSpPr>
        <p:spPr>
          <a:xfrm>
            <a:off x="1624521" y="4590494"/>
            <a:ext cx="145118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Frontend</a:t>
            </a:r>
          </a:p>
        </p:txBody>
      </p:sp>
      <p:sp>
        <p:nvSpPr>
          <p:cNvPr id="173" name="Textfeld 15"/>
          <p:cNvSpPr txBox="1"/>
          <p:nvPr/>
        </p:nvSpPr>
        <p:spPr>
          <a:xfrm>
            <a:off x="6349884" y="3463549"/>
            <a:ext cx="170523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</a:t>
            </a:r>
          </a:p>
        </p:txBody>
      </p:sp>
      <p:sp>
        <p:nvSpPr>
          <p:cNvPr id="174" name="Textfeld 16"/>
          <p:cNvSpPr txBox="1"/>
          <p:nvPr/>
        </p:nvSpPr>
        <p:spPr>
          <a:xfrm>
            <a:off x="9830693" y="3463549"/>
            <a:ext cx="1425846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Backend</a:t>
            </a:r>
          </a:p>
        </p:txBody>
      </p:sp>
      <p:sp>
        <p:nvSpPr>
          <p:cNvPr id="175" name="Textfeld 46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  <p:pic>
        <p:nvPicPr>
          <p:cNvPr id="176" name="Grafik 9" descr="Grafik 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Textfeld 10"/>
          <p:cNvSpPr txBox="1"/>
          <p:nvPr/>
        </p:nvSpPr>
        <p:spPr>
          <a:xfrm>
            <a:off x="3764077" y="2624184"/>
            <a:ext cx="320497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Schnittstellenbeschreibung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el 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Herzlich Willkommen im RESTaurant!</a:t>
            </a:r>
          </a:p>
        </p:txBody>
      </p:sp>
      <p:sp>
        <p:nvSpPr>
          <p:cNvPr id="182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83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17213" y="3927014"/>
            <a:ext cx="1836587" cy="22444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Grafik 9" descr="Grafik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73316" y="1923328"/>
            <a:ext cx="1290763" cy="17710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" name="Grafik 11" descr="Grafik 1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38200" y="4590494"/>
            <a:ext cx="2725142" cy="1586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6" name="Grafik 13" descr="Grafik 1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432754" y="3463549"/>
            <a:ext cx="1592638" cy="2707895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Gerade Verbindung mit Pfeil 19"/>
          <p:cNvSpPr/>
          <p:nvPr/>
        </p:nvSpPr>
        <p:spPr>
          <a:xfrm flipV="1">
            <a:off x="2200769" y="3758267"/>
            <a:ext cx="424985" cy="832228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Gerade Verbindung mit Pfeil 20"/>
          <p:cNvSpPr/>
          <p:nvPr/>
        </p:nvSpPr>
        <p:spPr>
          <a:xfrm>
            <a:off x="3959604" y="3463549"/>
            <a:ext cx="1224645" cy="463465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Gerade Verbindung mit Pfeil 23"/>
          <p:cNvSpPr/>
          <p:nvPr/>
        </p:nvSpPr>
        <p:spPr>
          <a:xfrm>
            <a:off x="7433160" y="4448164"/>
            <a:ext cx="1989764" cy="142332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Gerade Verbindung mit Pfeil 29"/>
          <p:cNvSpPr/>
          <p:nvPr/>
        </p:nvSpPr>
        <p:spPr>
          <a:xfrm flipH="1">
            <a:off x="3919452" y="5637402"/>
            <a:ext cx="178806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91" name="Gerade Verbindung mit Pfeil 32"/>
          <p:cNvSpPr/>
          <p:nvPr/>
        </p:nvSpPr>
        <p:spPr>
          <a:xfrm flipH="1">
            <a:off x="7139030" y="5613632"/>
            <a:ext cx="2183044" cy="1"/>
          </a:xfrm>
          <a:prstGeom prst="line">
            <a:avLst/>
          </a:prstGeom>
          <a:ln w="1270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Textfeld 34"/>
          <p:cNvSpPr txBox="1"/>
          <p:nvPr/>
        </p:nvSpPr>
        <p:spPr>
          <a:xfrm>
            <a:off x="1201776" y="3713217"/>
            <a:ext cx="1102443" cy="695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sz="1400">
                <a:solidFill>
                  <a:srgbClr val="262626"/>
                </a:solidFill>
              </a:defRPr>
            </a:pPr>
            <a:r>
              <a:t>wählt aus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verfügbaren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Endpunkten</a:t>
            </a:r>
          </a:p>
        </p:txBody>
      </p:sp>
      <p:sp>
        <p:nvSpPr>
          <p:cNvPr id="193" name="Textfeld 35"/>
          <p:cNvSpPr txBox="1"/>
          <p:nvPr/>
        </p:nvSpPr>
        <p:spPr>
          <a:xfrm>
            <a:off x="3760484" y="3796222"/>
            <a:ext cx="1397727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sendet die Anfrage ab</a:t>
            </a:r>
          </a:p>
        </p:txBody>
      </p:sp>
      <p:sp>
        <p:nvSpPr>
          <p:cNvPr id="194" name="Textfeld 36"/>
          <p:cNvSpPr txBox="1"/>
          <p:nvPr/>
        </p:nvSpPr>
        <p:spPr>
          <a:xfrm>
            <a:off x="7650032" y="3912770"/>
            <a:ext cx="1476874" cy="492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262626"/>
                </a:solidFill>
              </a:defRPr>
            </a:pPr>
            <a:r>
              <a:t>leitet die</a:t>
            </a:r>
          </a:p>
          <a:p>
            <a:pPr algn="ctr">
              <a:defRPr sz="1400">
                <a:solidFill>
                  <a:srgbClr val="262626"/>
                </a:solidFill>
              </a:defRPr>
            </a:pPr>
            <a:r>
              <a:t>Anfrage weiter</a:t>
            </a:r>
          </a:p>
        </p:txBody>
      </p:sp>
      <p:sp>
        <p:nvSpPr>
          <p:cNvPr id="195" name="Textfeld 37"/>
          <p:cNvSpPr txBox="1"/>
          <p:nvPr/>
        </p:nvSpPr>
        <p:spPr>
          <a:xfrm>
            <a:off x="7545209" y="5637402"/>
            <a:ext cx="1476875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gibt Antwort</a:t>
            </a:r>
          </a:p>
        </p:txBody>
      </p:sp>
      <p:sp>
        <p:nvSpPr>
          <p:cNvPr id="196" name="Textfeld 38"/>
          <p:cNvSpPr txBox="1"/>
          <p:nvPr/>
        </p:nvSpPr>
        <p:spPr>
          <a:xfrm>
            <a:off x="3955882" y="5648223"/>
            <a:ext cx="1476874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262626"/>
                </a:solidFill>
              </a:defRPr>
            </a:lvl1pPr>
          </a:lstStyle>
          <a:p>
            <a:pPr/>
            <a:r>
              <a:t>liefert die Antwort aus</a:t>
            </a:r>
          </a:p>
        </p:txBody>
      </p:sp>
      <p:sp>
        <p:nvSpPr>
          <p:cNvPr id="197" name="Textfeld 21"/>
          <p:cNvSpPr txBox="1"/>
          <p:nvPr/>
        </p:nvSpPr>
        <p:spPr>
          <a:xfrm>
            <a:off x="10047675" y="6501458"/>
            <a:ext cx="1754564" cy="17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700"/>
            </a:lvl1pPr>
          </a:lstStyle>
          <a:p>
            <a:pPr/>
            <a:r>
              <a:t>Bilder von https://publicdomainvectors.org</a:t>
            </a:r>
          </a:p>
        </p:txBody>
      </p:sp>
      <p:sp>
        <p:nvSpPr>
          <p:cNvPr id="198" name="Textfeld 22"/>
          <p:cNvSpPr txBox="1"/>
          <p:nvPr/>
        </p:nvSpPr>
        <p:spPr>
          <a:xfrm>
            <a:off x="1624521" y="4590494"/>
            <a:ext cx="145118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Frontend</a:t>
            </a:r>
          </a:p>
        </p:txBody>
      </p:sp>
      <p:sp>
        <p:nvSpPr>
          <p:cNvPr id="199" name="Textfeld 24"/>
          <p:cNvSpPr txBox="1"/>
          <p:nvPr/>
        </p:nvSpPr>
        <p:spPr>
          <a:xfrm>
            <a:off x="6349884" y="3463549"/>
            <a:ext cx="170523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</a:t>
            </a:r>
          </a:p>
        </p:txBody>
      </p:sp>
      <p:sp>
        <p:nvSpPr>
          <p:cNvPr id="200" name="Textfeld 25"/>
          <p:cNvSpPr txBox="1"/>
          <p:nvPr/>
        </p:nvSpPr>
        <p:spPr>
          <a:xfrm>
            <a:off x="9830693" y="3463549"/>
            <a:ext cx="1425846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das Backend</a:t>
            </a:r>
          </a:p>
        </p:txBody>
      </p:sp>
      <p:sp>
        <p:nvSpPr>
          <p:cNvPr id="201" name="Textfeld 26"/>
          <p:cNvSpPr txBox="1"/>
          <p:nvPr/>
        </p:nvSpPr>
        <p:spPr>
          <a:xfrm>
            <a:off x="3764077" y="2624184"/>
            <a:ext cx="3204975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die Schnittstellenbeschreibung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SOAP &amp; XML vs. REST &amp; JSON</a:t>
            </a:r>
          </a:p>
        </p:txBody>
      </p:sp>
      <p:sp>
        <p:nvSpPr>
          <p:cNvPr id="206" name="Textplatzhalter 4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el 1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Strukturierung</a:t>
            </a:r>
          </a:p>
        </p:txBody>
      </p:sp>
      <p:sp>
        <p:nvSpPr>
          <p:cNvPr id="211" name="Textplatzhalter 2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SOAP</a:t>
            </a:r>
          </a:p>
        </p:txBody>
      </p:sp>
      <p:pic>
        <p:nvPicPr>
          <p:cNvPr id="212" name="Inhaltsplatzhalter 9" descr="Inhaltsplatzhalter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65968" y="3013682"/>
            <a:ext cx="2505426" cy="2667373"/>
          </a:xfrm>
          <a:prstGeom prst="rect">
            <a:avLst/>
          </a:prstGeom>
          <a:ln w="12700">
            <a:miter lim="400000"/>
          </a:ln>
        </p:spPr>
      </p:pic>
      <p:sp>
        <p:nvSpPr>
          <p:cNvPr id="213" name="Textplatzhalter 4"/>
          <p:cNvSpPr/>
          <p:nvPr>
            <p:ph type="body" idx="13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marL="0" indent="0" algn="ctr">
              <a:buSzTx/>
              <a:buFontTx/>
              <a:buNone/>
              <a:defRPr b="1" sz="2400"/>
            </a:lvl1pPr>
          </a:lstStyle>
          <a:p>
            <a:pPr/>
            <a:r>
              <a:t>REST</a:t>
            </a:r>
          </a:p>
        </p:txBody>
      </p:sp>
      <p:sp>
        <p:nvSpPr>
          <p:cNvPr id="2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15" name="Inhaltsplatzhalter 7" descr="Inhaltsplatzhalter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39581" y="2989866"/>
            <a:ext cx="3048426" cy="2715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6" name="Textfeld 10"/>
          <p:cNvSpPr txBox="1"/>
          <p:nvPr/>
        </p:nvSpPr>
        <p:spPr>
          <a:xfrm>
            <a:off x="2541709" y="5520204"/>
            <a:ext cx="1717848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aktionsorientiert</a:t>
            </a:r>
          </a:p>
        </p:txBody>
      </p:sp>
      <p:sp>
        <p:nvSpPr>
          <p:cNvPr id="217" name="Textfeld 11"/>
          <p:cNvSpPr txBox="1"/>
          <p:nvPr/>
        </p:nvSpPr>
        <p:spPr>
          <a:xfrm>
            <a:off x="7711517" y="5496388"/>
            <a:ext cx="212437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ressourcenorientiert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el 1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Basis</a:t>
            </a:r>
          </a:p>
        </p:txBody>
      </p:sp>
      <p:sp>
        <p:nvSpPr>
          <p:cNvPr id="220" name="Textplatzhalter 2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SOAP</a:t>
            </a:r>
          </a:p>
        </p:txBody>
      </p:sp>
      <p:sp>
        <p:nvSpPr>
          <p:cNvPr id="221" name="Textplatzhalter 4"/>
          <p:cNvSpPr/>
          <p:nvPr>
            <p:ph type="body" idx="13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marL="0" indent="0" algn="ctr">
              <a:buSzTx/>
              <a:buFontTx/>
              <a:buNone/>
              <a:defRPr b="1" sz="2400"/>
            </a:lvl1pPr>
          </a:lstStyle>
          <a:p>
            <a:pPr/>
            <a:r>
              <a:t>REST</a:t>
            </a:r>
          </a:p>
        </p:txBody>
      </p:sp>
      <p:sp>
        <p:nvSpPr>
          <p:cNvPr id="2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23" name="Textfeld 10"/>
          <p:cNvSpPr txBox="1"/>
          <p:nvPr/>
        </p:nvSpPr>
        <p:spPr>
          <a:xfrm>
            <a:off x="2207701" y="5574962"/>
            <a:ext cx="2594407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Remote Procedure Calls</a:t>
            </a:r>
          </a:p>
        </p:txBody>
      </p:sp>
      <p:sp>
        <p:nvSpPr>
          <p:cNvPr id="224" name="Textfeld 11"/>
          <p:cNvSpPr txBox="1"/>
          <p:nvPr/>
        </p:nvSpPr>
        <p:spPr>
          <a:xfrm>
            <a:off x="7385050" y="5574962"/>
            <a:ext cx="288652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Hypertext Transfer Protocol</a:t>
            </a:r>
          </a:p>
        </p:txBody>
      </p:sp>
      <p:pic>
        <p:nvPicPr>
          <p:cNvPr id="225" name="Inhaltsplatzhalter 8" descr="Inhaltsplatzhalter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54524" y="3080010"/>
            <a:ext cx="3925159" cy="224715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Inhaltsplatzhalter 15" descr="Inhaltsplatzhalter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792986" y="3181306"/>
            <a:ext cx="3944490" cy="20445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Beliebtheit</a:t>
            </a:r>
          </a:p>
        </p:txBody>
      </p:sp>
      <p:sp>
        <p:nvSpPr>
          <p:cNvPr id="2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30" name="Inhaltsplatzhalter 10" descr="Inhaltsplatzhalter 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70736" y="1825625"/>
            <a:ext cx="8450529" cy="43513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Informationsdichte</a:t>
            </a:r>
          </a:p>
        </p:txBody>
      </p:sp>
      <p:sp>
        <p:nvSpPr>
          <p:cNvPr id="233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34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76575" y="1843881"/>
            <a:ext cx="6038850" cy="4314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Was ist das REST-Paradigma?</a:t>
            </a:r>
          </a:p>
        </p:txBody>
      </p:sp>
      <p:sp>
        <p:nvSpPr>
          <p:cNvPr id="237" name="Textplatzhalter 4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877823">
              <a:defRPr sz="8448"/>
            </a:pPr>
            <a:r>
              <a:t>RE</a:t>
            </a:r>
            <a:r>
              <a:rPr sz="4224"/>
              <a:t>presentational </a:t>
            </a:r>
            <a:r>
              <a:t>S</a:t>
            </a:r>
            <a:r>
              <a:rPr sz="4224"/>
              <a:t>tate </a:t>
            </a:r>
            <a:r>
              <a:t>T</a:t>
            </a:r>
            <a:r>
              <a:rPr sz="4224"/>
              <a:t>ransfer</a:t>
            </a:r>
          </a:p>
        </p:txBody>
      </p:sp>
      <p:sp>
        <p:nvSpPr>
          <p:cNvPr id="240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50000"/>
              </a:lnSpc>
              <a:defRPr sz="2400"/>
            </a:pPr>
            <a:r>
              <a:t>ursprünglich behandelt in der Dissertation von Roy Fielding</a:t>
            </a:r>
          </a:p>
          <a:p>
            <a:pPr>
              <a:lnSpc>
                <a:spcPct val="150000"/>
              </a:lnSpc>
              <a:defRPr sz="2400"/>
            </a:pPr>
            <a:r>
              <a:t>kein Regelwerk, sondern Sammlung von Best Practices</a:t>
            </a:r>
          </a:p>
          <a:p>
            <a:pPr>
              <a:lnSpc>
                <a:spcPct val="150000"/>
              </a:lnSpc>
              <a:defRPr sz="2400"/>
            </a:pPr>
            <a:r>
              <a:t>zustandslos</a:t>
            </a:r>
          </a:p>
          <a:p>
            <a:pPr>
              <a:lnSpc>
                <a:spcPct val="150000"/>
              </a:lnSpc>
              <a:defRPr sz="2400"/>
            </a:pPr>
            <a:r>
              <a:t>übergibt Abbild eines Zustandes (State Transfer)</a:t>
            </a:r>
          </a:p>
          <a:p>
            <a:pPr>
              <a:lnSpc>
                <a:spcPct val="150000"/>
              </a:lnSpc>
              <a:defRPr sz="2400"/>
            </a:pPr>
            <a:r>
              <a:t>kann mehrere Repräsentationen einer Ressource anbieten</a:t>
            </a:r>
          </a:p>
        </p:txBody>
      </p:sp>
      <p:sp>
        <p:nvSpPr>
          <p:cNvPr id="241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Ressourcenorientierung</a:t>
            </a:r>
          </a:p>
        </p:txBody>
      </p:sp>
      <p:sp>
        <p:nvSpPr>
          <p:cNvPr id="246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47" name="Textfeld 3"/>
          <p:cNvSpPr txBox="1"/>
          <p:nvPr/>
        </p:nvSpPr>
        <p:spPr>
          <a:xfrm>
            <a:off x="1231328" y="2138089"/>
            <a:ext cx="1567420" cy="346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GET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POST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PUT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PATCH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DELETE</a:t>
            </a:r>
          </a:p>
        </p:txBody>
      </p:sp>
      <p:sp>
        <p:nvSpPr>
          <p:cNvPr id="248" name="Textfeld 5"/>
          <p:cNvSpPr txBox="1"/>
          <p:nvPr/>
        </p:nvSpPr>
        <p:spPr>
          <a:xfrm>
            <a:off x="3402741" y="3637410"/>
            <a:ext cx="40671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000">
                <a:latin typeface="Courier"/>
                <a:ea typeface="Courier"/>
                <a:cs typeface="Courier"/>
                <a:sym typeface="Courier"/>
              </a:defRPr>
            </a:pPr>
            <a:r>
              <a:t>/offices/</a:t>
            </a:r>
            <a:r>
              <a:rPr>
                <a:solidFill>
                  <a:srgbClr val="808080"/>
                </a:solidFill>
              </a:rPr>
              <a:t>{id}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Verschachtelung</a:t>
            </a:r>
          </a:p>
        </p:txBody>
      </p:sp>
      <p:sp>
        <p:nvSpPr>
          <p:cNvPr id="253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54" name="Textfeld 3"/>
          <p:cNvSpPr txBox="1"/>
          <p:nvPr/>
        </p:nvSpPr>
        <p:spPr>
          <a:xfrm>
            <a:off x="1231328" y="2138089"/>
            <a:ext cx="1567420" cy="346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GET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POST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PUT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PATCH</a:t>
            </a:r>
          </a:p>
          <a:p>
            <a:pPr>
              <a:lnSpc>
                <a:spcPct val="150000"/>
              </a:lnSpc>
              <a:defRPr sz="3200">
                <a:latin typeface="Courier"/>
                <a:ea typeface="Courier"/>
                <a:cs typeface="Courier"/>
                <a:sym typeface="Courier"/>
              </a:defRPr>
            </a:pPr>
            <a:r>
              <a:t>DELETE</a:t>
            </a:r>
          </a:p>
        </p:txBody>
      </p:sp>
      <p:sp>
        <p:nvSpPr>
          <p:cNvPr id="255" name="Textfeld 4"/>
          <p:cNvSpPr txBox="1"/>
          <p:nvPr/>
        </p:nvSpPr>
        <p:spPr>
          <a:xfrm>
            <a:off x="3415441" y="3637410"/>
            <a:ext cx="742053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000">
                <a:latin typeface="Courier"/>
                <a:ea typeface="Courier"/>
                <a:cs typeface="Courier"/>
                <a:sym typeface="Courier"/>
              </a:defRPr>
            </a:pPr>
            <a:r>
              <a:t>/offices/{id}/desks/</a:t>
            </a:r>
            <a:r>
              <a:rPr>
                <a:solidFill>
                  <a:srgbClr val="808080"/>
                </a:solidFill>
              </a:rPr>
              <a:t>{id}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Operationen auf eine Ressource</a:t>
            </a:r>
          </a:p>
        </p:txBody>
      </p:sp>
      <p:sp>
        <p:nvSpPr>
          <p:cNvPr id="260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aphicFrame>
        <p:nvGraphicFramePr>
          <p:cNvPr id="261" name="Inhaltsplatzhalter 3"/>
          <p:cNvGraphicFramePr/>
          <p:nvPr/>
        </p:nvGraphicFramePr>
        <p:xfrm>
          <a:off x="838200" y="1690688"/>
          <a:ext cx="10515600" cy="480218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220191"/>
                <a:gridCol w="1978513"/>
                <a:gridCol w="4316895"/>
              </a:tblGrid>
              <a:tr h="33436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Aktion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HTTP-Methode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URI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alle Büros auslesen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neues Büro anlegen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POST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auslesen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komplett aktualisieren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PUT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teilweise aktualisieren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PATCH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Büro mit der ID {x} löschen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DELETE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alle Schreibtische, die in dem Büro mit der ID {x} stehen, auslesen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/offices/{id}/desks/</a:t>
                      </a:r>
                    </a:p>
                  </a:txBody>
                  <a:tcPr marL="0" marR="0" marT="0" marB="0" anchor="ctr" anchorCtr="0" horzOverflow="overflow"/>
                </a:tc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einen neuen Schreibtisch anlegen, der in dem Büro mit der ID {x} steht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POST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/offices/{id}/desks/</a:t>
                      </a:r>
                    </a:p>
                  </a:txBody>
                  <a:tcPr marL="0" marR="0" marT="0" marB="0" anchor="ctr" anchorCtr="0" horzOverflow="overflow"/>
                </a:tc>
              </a:tr>
              <a:tr h="7090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Schreibtisch mit der ID {y} auslesen, der in dem Büro mit der ID {x} steht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GET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sz="1600"/>
                        <a:t>/offices/{id}/desks/{id}</a:t>
                      </a:r>
                    </a:p>
                  </a:txBody>
                  <a:tcPr marL="0" marR="0" marT="0" marB="0" anchor="ctr" anchorCtr="0" horzOverflow="overflow"/>
                </a:tc>
              </a:tr>
              <a:tr h="334363">
                <a:tc grid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500"/>
                        </a:spcBef>
                        <a:tabLst>
                          <a:tab pos="3543300" algn="l"/>
                        </a:tabLst>
                        <a:defRPr sz="1800"/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…</a:t>
                      </a:r>
                    </a:p>
                  </a:txBody>
                  <a:tcPr marL="0" marR="0" marT="0" marB="0" anchor="ctr" anchorCtr="0" horzOverflow="overflow">
                    <a:solidFill>
                      <a:schemeClr val="accent3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Antworten mit HTTP-Statuscodes</a:t>
            </a:r>
          </a:p>
        </p:txBody>
      </p:sp>
      <p:sp>
        <p:nvSpPr>
          <p:cNvPr id="266" name="Inhaltsplatzhalter 2"/>
          <p:cNvSpPr txBox="1"/>
          <p:nvPr>
            <p:ph type="body" idx="1"/>
          </p:nvPr>
        </p:nvSpPr>
        <p:spPr>
          <a:xfrm>
            <a:off x="838200" y="1825625"/>
            <a:ext cx="11216184" cy="4351338"/>
          </a:xfrm>
          <a:prstGeom prst="rect">
            <a:avLst/>
          </a:prstGeom>
        </p:spPr>
        <p:txBody>
          <a:bodyPr anchor="ctr"/>
          <a:lstStyle/>
          <a:p>
            <a:pPr marL="0" indent="0">
              <a:lnSpc>
                <a:spcPct val="150000"/>
              </a:lnSpc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GET		 </a:t>
            </a:r>
            <a:r>
              <a:rPr b="1"/>
              <a:t>/offices</a:t>
            </a:r>
            <a:r>
              <a:t>		 </a:t>
            </a:r>
            <a:r>
              <a:rPr>
                <a:solidFill>
                  <a:schemeClr val="accent6"/>
                </a:solidFill>
              </a:rPr>
              <a:t>200 OK</a:t>
            </a:r>
            <a:endParaRPr>
              <a:solidFill>
                <a:schemeClr val="accent6"/>
              </a:solidFill>
            </a:endParaRPr>
          </a:p>
          <a:p>
            <a:pPr marL="0" indent="0">
              <a:lnSpc>
                <a:spcPct val="150000"/>
              </a:lnSpc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POST	 </a:t>
            </a:r>
            <a:r>
              <a:rPr b="1"/>
              <a:t>/offices</a:t>
            </a:r>
            <a:r>
              <a:t>		 </a:t>
            </a:r>
            <a:r>
              <a:rPr>
                <a:solidFill>
                  <a:schemeClr val="accent6"/>
                </a:solidFill>
              </a:rPr>
              <a:t>201 Created</a:t>
            </a:r>
            <a:endParaRPr>
              <a:solidFill>
                <a:schemeClr val="accent6"/>
              </a:solidFill>
            </a:endParaRPr>
          </a:p>
          <a:p>
            <a:pPr marL="0" indent="0">
              <a:lnSpc>
                <a:spcPct val="150000"/>
              </a:lnSpc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DELETE	 </a:t>
            </a:r>
            <a:r>
              <a:rPr b="1"/>
              <a:t>/offices/1</a:t>
            </a:r>
            <a:r>
              <a:t>	 </a:t>
            </a:r>
            <a:r>
              <a:rPr>
                <a:solidFill>
                  <a:schemeClr val="accent6"/>
                </a:solidFill>
              </a:rPr>
              <a:t>202 No Content</a:t>
            </a:r>
          </a:p>
        </p:txBody>
      </p:sp>
      <p:sp>
        <p:nvSpPr>
          <p:cNvPr id="267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Antworten mit HTTP-Statuscodes</a:t>
            </a:r>
          </a:p>
        </p:txBody>
      </p:sp>
      <p:sp>
        <p:nvSpPr>
          <p:cNvPr id="272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 marL="0" indent="0">
              <a:lnSpc>
                <a:spcPct val="120000"/>
              </a:lnSpc>
              <a:buSzTx/>
              <a:buNone/>
              <a:defRPr sz="2900">
                <a:latin typeface="Courier"/>
                <a:ea typeface="Courier"/>
                <a:cs typeface="Courier"/>
                <a:sym typeface="Courier"/>
              </a:defRPr>
            </a:pPr>
            <a:r>
              <a:t>POST		</a:t>
            </a:r>
            <a:r>
              <a:rPr b="1"/>
              <a:t>/offices</a:t>
            </a:r>
            <a:r>
              <a:t>		  </a:t>
            </a:r>
            <a:r>
              <a:rPr>
                <a:solidFill>
                  <a:srgbClr val="FF0000"/>
                </a:solidFill>
              </a:rPr>
              <a:t>400 Bad Request</a:t>
            </a:r>
          </a:p>
          <a:p>
            <a:pPr marL="0" indent="0">
              <a:lnSpc>
                <a:spcPct val="120000"/>
              </a:lnSpc>
              <a:buSzTx/>
              <a:buNone/>
              <a:defRPr sz="29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</a:t>
            </a:r>
            <a:r>
              <a:t>		  </a:t>
            </a:r>
            <a:r>
              <a:rPr>
                <a:solidFill>
                  <a:srgbClr val="FF0000"/>
                </a:solidFill>
              </a:rPr>
              <a:t>401 Unauthorized</a:t>
            </a:r>
            <a:endParaRPr>
              <a:solidFill>
                <a:srgbClr val="FF0000"/>
              </a:solidFill>
            </a:endParaRPr>
          </a:p>
          <a:p>
            <a:pPr marL="0" indent="0">
              <a:lnSpc>
                <a:spcPct val="120000"/>
              </a:lnSpc>
              <a:buSzTx/>
              <a:buNone/>
              <a:defRPr sz="29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/offices/2</a:t>
            </a:r>
            <a:r>
              <a:t>	</a:t>
            </a:r>
            <a:r>
              <a:rPr>
                <a:solidFill>
                  <a:srgbClr val="FF0000"/>
                </a:solidFill>
              </a:rPr>
              <a:t>  403 Forbidden</a:t>
            </a:r>
            <a:endParaRPr>
              <a:solidFill>
                <a:srgbClr val="FF0000"/>
              </a:solidFill>
            </a:endParaRPr>
          </a:p>
          <a:p>
            <a:pPr marL="0" indent="0">
              <a:lnSpc>
                <a:spcPct val="120000"/>
              </a:lnSpc>
              <a:buSzTx/>
              <a:buNone/>
              <a:defRPr sz="2900">
                <a:latin typeface="Courier"/>
                <a:ea typeface="Courier"/>
                <a:cs typeface="Courier"/>
                <a:sym typeface="Courier"/>
              </a:defRPr>
            </a:pPr>
            <a:r>
              <a:t>GET		</a:t>
            </a:r>
            <a:r>
              <a:rPr b="1"/>
              <a:t>/offices/7</a:t>
            </a:r>
            <a:r>
              <a:t>	  </a:t>
            </a:r>
            <a:r>
              <a:rPr>
                <a:solidFill>
                  <a:srgbClr val="FF0000"/>
                </a:solidFill>
              </a:rPr>
              <a:t>404 Not Found</a:t>
            </a:r>
            <a:endParaRPr>
              <a:solidFill>
                <a:srgbClr val="FF0000"/>
              </a:solidFill>
            </a:endParaRPr>
          </a:p>
          <a:p>
            <a:pPr marL="0" indent="0">
              <a:lnSpc>
                <a:spcPct val="120000"/>
              </a:lnSpc>
              <a:buSzTx/>
              <a:buNone/>
              <a:defRPr sz="2900">
                <a:latin typeface="Courier"/>
                <a:ea typeface="Courier"/>
                <a:cs typeface="Courier"/>
                <a:sym typeface="Courier"/>
              </a:defRPr>
            </a:pPr>
            <a:r>
              <a:t>POST		</a:t>
            </a:r>
            <a:r>
              <a:rPr b="1"/>
              <a:t>/offices</a:t>
            </a:r>
            <a:r>
              <a:t>		  </a:t>
            </a:r>
            <a:r>
              <a:rPr>
                <a:solidFill>
                  <a:srgbClr val="FF0000"/>
                </a:solidFill>
              </a:rPr>
              <a:t>422 Unprocessable Entity</a:t>
            </a:r>
          </a:p>
        </p:txBody>
      </p:sp>
      <p:sp>
        <p:nvSpPr>
          <p:cNvPr id="273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Antworten mit HTTP-Statuscodes</a:t>
            </a:r>
          </a:p>
        </p:txBody>
      </p:sp>
      <p:sp>
        <p:nvSpPr>
          <p:cNvPr id="276" name="Inhaltsplatzhalter 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anchor="ctr"/>
          <a:lstStyle/>
          <a:p>
            <a:pPr marL="0" indent="0" algn="ctr">
              <a:lnSpc>
                <a:spcPct val="150000"/>
              </a:lnSpc>
              <a:buSzTx/>
              <a:buNone/>
              <a:defRPr sz="4000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3xx Umleitungen</a:t>
            </a:r>
          </a:p>
          <a:p>
            <a:pPr marL="0" indent="0" algn="ctr">
              <a:lnSpc>
                <a:spcPct val="150000"/>
              </a:lnSpc>
              <a:buSzTx/>
              <a:buNone/>
              <a:defRPr sz="4000">
                <a:solidFill>
                  <a:srgbClr val="C000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5xx Server-Fehler</a:t>
            </a:r>
          </a:p>
        </p:txBody>
      </p:sp>
      <p:sp>
        <p:nvSpPr>
          <p:cNvPr id="277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itel 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/>
            <a:r>
              <a:t>Anpassung der Antwort</a:t>
            </a:r>
          </a:p>
        </p:txBody>
      </p:sp>
      <p:sp>
        <p:nvSpPr>
          <p:cNvPr id="280" name="Inhaltsplatzhalter 2"/>
          <p:cNvSpPr txBox="1"/>
          <p:nvPr>
            <p:ph type="body" idx="1"/>
          </p:nvPr>
        </p:nvSpPr>
        <p:spPr>
          <a:xfrm>
            <a:off x="838199" y="1825625"/>
            <a:ext cx="10515601" cy="4351338"/>
          </a:xfrm>
          <a:prstGeom prst="rect">
            <a:avLst/>
          </a:prstGeom>
        </p:spPr>
        <p:txBody>
          <a:bodyPr anchor="ctr"/>
          <a:lstStyle/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Content-Type:    </a:t>
            </a:r>
            <a:r>
              <a:rPr b="0"/>
              <a:t>application/json</a:t>
            </a:r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Accept:          </a:t>
            </a:r>
            <a:r>
              <a:rPr b="0"/>
              <a:t>application/json</a:t>
            </a:r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Accept:          </a:t>
            </a:r>
            <a:r>
              <a:rPr b="0"/>
              <a:t>application/xml</a:t>
            </a:r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Accept:          </a:t>
            </a:r>
            <a:r>
              <a:rPr b="0"/>
              <a:t>application/ical</a:t>
            </a:r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Accept:          </a:t>
            </a:r>
            <a:r>
              <a:rPr b="0"/>
              <a:t>application/csv</a:t>
            </a:r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Accept-version:  </a:t>
            </a:r>
            <a:r>
              <a:rPr b="0"/>
              <a:t>v10</a:t>
            </a:r>
            <a:endParaRPr b="0"/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Authorization:   </a:t>
            </a:r>
            <a:r>
              <a:rPr b="0"/>
              <a:t>Bearer: apsofijawßef9ijavsdvoinam49</a:t>
            </a:r>
            <a:endParaRPr b="0"/>
          </a:p>
          <a:p>
            <a:pPr marL="0" indent="0">
              <a:buSzTx/>
              <a:buNone/>
              <a:defRPr b="1" sz="2500">
                <a:latin typeface="Courier"/>
                <a:ea typeface="Courier"/>
                <a:cs typeface="Courier"/>
                <a:sym typeface="Courier"/>
              </a:defRPr>
            </a:pPr>
            <a:r>
              <a:t>Cache-Control:   </a:t>
            </a:r>
            <a:r>
              <a:rPr b="0"/>
              <a:t>max-age=300</a:t>
            </a:r>
          </a:p>
        </p:txBody>
      </p:sp>
      <p:sp>
        <p:nvSpPr>
          <p:cNvPr id="281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OpenAPI</a:t>
            </a:r>
          </a:p>
        </p:txBody>
      </p:sp>
      <p:sp>
        <p:nvSpPr>
          <p:cNvPr id="284" name="Textplatzhalt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API-Beschreibunge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API-Beschreibungen</a:t>
            </a:r>
          </a:p>
        </p:txBody>
      </p:sp>
      <p:sp>
        <p:nvSpPr>
          <p:cNvPr id="287" name="Formale Beschreibung der API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Formale Beschreibung der API </a:t>
            </a:r>
          </a:p>
          <a:p>
            <a:pPr/>
            <a:r>
              <a:t>Nur Beschreibung, keine Implementierung</a:t>
            </a:r>
          </a:p>
          <a:p>
            <a:pPr/>
            <a:r>
              <a:t>Beschreibungsformate</a:t>
            </a:r>
          </a:p>
          <a:p>
            <a:pPr lvl="1" marL="685800" indent="-228600"/>
            <a:r>
              <a:t>API Blueprint</a:t>
            </a:r>
          </a:p>
          <a:p>
            <a:pPr lvl="1" marL="685800" indent="-228600"/>
            <a:r>
              <a:t>RAML</a:t>
            </a:r>
          </a:p>
          <a:p>
            <a:pPr lvl="1" marL="685800" indent="-228600"/>
            <a:r>
              <a:t>OpenAPI</a:t>
            </a:r>
          </a:p>
        </p:txBody>
      </p:sp>
      <p:sp>
        <p:nvSpPr>
          <p:cNvPr id="288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89" name="Grafik 9" descr="Grafik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86216" y="4118277"/>
            <a:ext cx="1290763" cy="1771046"/>
          </a:xfrm>
          <a:prstGeom prst="rect">
            <a:avLst/>
          </a:prstGeom>
          <a:ln w="12700">
            <a:miter lim="400000"/>
          </a:ln>
        </p:spPr>
      </p:pic>
      <p:sp>
        <p:nvSpPr>
          <p:cNvPr id="290" name="https://nordicapis.com/top-specification-formats-for-rest-apis/">
            <a:hlinkClick r:id="rId3" invalidUrl="" action="" tgtFrame="" tooltip="" history="1" highlightClick="0" endSnd="0"/>
          </p:cNvPr>
          <p:cNvSpPr txBox="1"/>
          <p:nvPr/>
        </p:nvSpPr>
        <p:spPr>
          <a:xfrm>
            <a:off x="868605" y="6085769"/>
            <a:ext cx="5558593" cy="313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 u="sng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https://nordicapis.com/top-specification-formats-for-rest-apis/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OpenAPI Entstehu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OpenAPI Entstehung</a:t>
            </a:r>
          </a:p>
        </p:txBody>
      </p:sp>
      <p:sp>
        <p:nvSpPr>
          <p:cNvPr id="293" name="Version 1.0.0 2011 (Swagger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Version 1.0.0 2011 (Swagger)</a:t>
            </a:r>
          </a:p>
          <a:p>
            <a:pPr/>
            <a:r>
              <a:t>Apache 2.0 Open-Source-Lizenz</a:t>
            </a:r>
          </a:p>
          <a:p>
            <a:pPr/>
            <a:r>
              <a:t>Seit 2014 populäre als RAML und API Blueprint</a:t>
            </a:r>
          </a:p>
          <a:p>
            <a:pPr/>
            <a:r>
              <a:t>2015 von SmartBear an die Linux Foundation</a:t>
            </a:r>
          </a:p>
          <a:p>
            <a:pPr/>
            <a:r>
              <a:t>2016 in OpenAPI-Specification (OAS)</a:t>
            </a:r>
          </a:p>
          <a:p>
            <a:pPr/>
            <a:r>
              <a:t>2017 Version 3.0.0</a:t>
            </a:r>
          </a:p>
          <a:p>
            <a:pPr/>
            <a:r>
              <a:t>Aktuell Version 3.0.2</a:t>
            </a:r>
          </a:p>
        </p:txBody>
      </p:sp>
      <p:sp>
        <p:nvSpPr>
          <p:cNvPr id="294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Exkurs YAML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Exkurs YAML</a:t>
            </a:r>
          </a:p>
        </p:txBody>
      </p:sp>
      <p:sp>
        <p:nvSpPr>
          <p:cNvPr id="297" name="OAS wird in YAML/JSON geschriebe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01168" indent="-201168" defTabSz="804672">
              <a:spcBef>
                <a:spcPts val="800"/>
              </a:spcBef>
              <a:defRPr sz="2464"/>
            </a:pPr>
            <a:r>
              <a:t>OAS wird in YAML/JSON geschrieben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„YAML Ain’t Markup Language“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2001 spezifiziert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Zum Austausch/Speichern von beliebigen Datenstrukturen</a:t>
            </a:r>
          </a:p>
          <a:p>
            <a:pPr lvl="1" marL="603504" indent="-201168" defTabSz="804672">
              <a:spcBef>
                <a:spcPts val="800"/>
              </a:spcBef>
              <a:defRPr sz="2464"/>
            </a:pPr>
            <a:r>
              <a:t>Skalare</a:t>
            </a:r>
          </a:p>
          <a:p>
            <a:pPr lvl="1" marL="603504" indent="-201168" defTabSz="804672">
              <a:spcBef>
                <a:spcPts val="800"/>
              </a:spcBef>
              <a:defRPr sz="2464"/>
            </a:pPr>
            <a:r>
              <a:t>Listen (Arrays)</a:t>
            </a:r>
          </a:p>
          <a:p>
            <a:pPr lvl="1" marL="603504" indent="-201168" defTabSz="804672">
              <a:spcBef>
                <a:spcPts val="800"/>
              </a:spcBef>
              <a:defRPr sz="2464"/>
            </a:pPr>
            <a:r>
              <a:t>Objekte (Dictionaries/Maps)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Superset von JSON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Whitespace-sensitiv</a:t>
            </a:r>
          </a:p>
          <a:p>
            <a:pPr marL="201168" indent="-201168" defTabSz="804672">
              <a:spcBef>
                <a:spcPts val="800"/>
              </a:spcBef>
              <a:defRPr sz="2464"/>
            </a:pPr>
            <a:r>
              <a:t>Menschenlesbar(er als XML)</a:t>
            </a:r>
          </a:p>
        </p:txBody>
      </p:sp>
      <p:sp>
        <p:nvSpPr>
          <p:cNvPr id="298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Exkurs YAML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Exkurs YAML</a:t>
            </a:r>
          </a:p>
        </p:txBody>
      </p:sp>
      <p:sp>
        <p:nvSpPr>
          <p:cNvPr id="301" name="# Kommentar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solidFill>
                  <a:schemeClr val="accent6">
                    <a:lumOff val="-9568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# Kommentar</a:t>
            </a: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id</a:t>
            </a:r>
            <a:r>
              <a:t>: 731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customer</a:t>
            </a:r>
            <a:r>
              <a:t>: 17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items</a:t>
            </a:r>
            <a:r>
              <a:t>: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- </a:t>
            </a:r>
            <a:r>
              <a:rPr>
                <a:solidFill>
                  <a:srgbClr val="011480"/>
                </a:solidFill>
              </a:rPr>
              <a:t>quantity</a:t>
            </a:r>
            <a:r>
              <a:t>: 5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description</a:t>
            </a:r>
            <a:r>
              <a:t>: Oolong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price</a:t>
            </a:r>
            <a:r>
              <a:t>: 5.98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- </a:t>
            </a:r>
            <a:r>
              <a:rPr>
                <a:solidFill>
                  <a:srgbClr val="011480"/>
                </a:solidFill>
              </a:rPr>
              <a:t>quantity</a:t>
            </a:r>
            <a:r>
              <a:t>: 2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description</a:t>
            </a:r>
            <a:r>
              <a:t>: Assam</a:t>
            </a:r>
            <a:endParaRPr>
              <a:latin typeface="Times"/>
              <a:ea typeface="Times"/>
              <a:cs typeface="Times"/>
              <a:sym typeface="Times"/>
            </a:endParaRP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t>  </a:t>
            </a:r>
            <a:r>
              <a:rPr>
                <a:solidFill>
                  <a:srgbClr val="011480"/>
                </a:solidFill>
              </a:rPr>
              <a:t>price</a:t>
            </a:r>
            <a:r>
              <a:t>: 2.95</a:t>
            </a:r>
          </a:p>
          <a:p>
            <a:pPr marL="0" indent="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shippingAddress</a:t>
            </a:r>
            <a:r>
              <a:t>:</a:t>
            </a:r>
          </a:p>
          <a:p>
            <a:pPr lvl="1" marL="0" indent="22860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street</a:t>
            </a:r>
            <a:r>
              <a:t>: Friedrichswall 10</a:t>
            </a:r>
          </a:p>
          <a:p>
            <a:pPr lvl="1" marL="0" indent="22860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zip</a:t>
            </a:r>
            <a:r>
              <a:t>: 30159</a:t>
            </a:r>
          </a:p>
          <a:p>
            <a:pPr lvl="1" marL="0" indent="228600" defTabSz="457200">
              <a:lnSpc>
                <a:spcPts val="3800"/>
              </a:lnSpc>
              <a:spcBef>
                <a:spcPts val="0"/>
              </a:spcBef>
              <a:buSzTx/>
              <a:buFontTx/>
              <a:buNone/>
              <a:defRPr sz="20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11480"/>
                </a:solidFill>
              </a:rPr>
              <a:t>city</a:t>
            </a:r>
            <a:r>
              <a:t>: Hannover</a:t>
            </a:r>
          </a:p>
        </p:txBody>
      </p:sp>
      <p:sp>
        <p:nvSpPr>
          <p:cNvPr id="302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03" name="Rechteck"/>
          <p:cNvSpPr/>
          <p:nvPr/>
        </p:nvSpPr>
        <p:spPr>
          <a:xfrm>
            <a:off x="808335" y="2188170"/>
            <a:ext cx="2541687" cy="647006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04" name="Skalare Werte"/>
          <p:cNvSpPr txBox="1"/>
          <p:nvPr/>
        </p:nvSpPr>
        <p:spPr>
          <a:xfrm>
            <a:off x="4513505" y="1828342"/>
            <a:ext cx="1548295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Skalare Werte</a:t>
            </a:r>
          </a:p>
        </p:txBody>
      </p:sp>
      <p:sp>
        <p:nvSpPr>
          <p:cNvPr id="305" name="Linie"/>
          <p:cNvSpPr/>
          <p:nvPr/>
        </p:nvSpPr>
        <p:spPr>
          <a:xfrm flipH="1">
            <a:off x="3389659" y="2031851"/>
            <a:ext cx="1151187" cy="481608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Rechteck"/>
          <p:cNvSpPr/>
          <p:nvPr/>
        </p:nvSpPr>
        <p:spPr>
          <a:xfrm>
            <a:off x="808335" y="3086736"/>
            <a:ext cx="3392240" cy="1881147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07" name="Liste von Objekten"/>
          <p:cNvSpPr txBox="1"/>
          <p:nvPr/>
        </p:nvSpPr>
        <p:spPr>
          <a:xfrm>
            <a:off x="5440605" y="2854920"/>
            <a:ext cx="1997570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Liste von Objekten</a:t>
            </a:r>
          </a:p>
        </p:txBody>
      </p:sp>
      <p:sp>
        <p:nvSpPr>
          <p:cNvPr id="308" name="Linie"/>
          <p:cNvSpPr/>
          <p:nvPr/>
        </p:nvSpPr>
        <p:spPr>
          <a:xfrm flipH="1">
            <a:off x="4316759" y="3058429"/>
            <a:ext cx="1151187" cy="481609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09" name="Rechteck"/>
          <p:cNvSpPr/>
          <p:nvPr/>
        </p:nvSpPr>
        <p:spPr>
          <a:xfrm>
            <a:off x="808335" y="5219443"/>
            <a:ext cx="4325839" cy="1038970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10" name="Einzelnes Objekt"/>
          <p:cNvSpPr txBox="1"/>
          <p:nvPr/>
        </p:nvSpPr>
        <p:spPr>
          <a:xfrm>
            <a:off x="6342305" y="4724143"/>
            <a:ext cx="1819534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Einzelnes Objekt</a:t>
            </a:r>
          </a:p>
        </p:txBody>
      </p:sp>
      <p:sp>
        <p:nvSpPr>
          <p:cNvPr id="311" name="Linie"/>
          <p:cNvSpPr/>
          <p:nvPr/>
        </p:nvSpPr>
        <p:spPr>
          <a:xfrm flipH="1">
            <a:off x="5218459" y="4927652"/>
            <a:ext cx="1151187" cy="481609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OAS Specifica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</a:t>
            </a:r>
          </a:p>
        </p:txBody>
      </p:sp>
      <p:sp>
        <p:nvSpPr>
          <p:cNvPr id="314" name="openapi: 3.0.2…"/>
          <p:cNvSpPr txBox="1"/>
          <p:nvPr>
            <p:ph type="body" sz="half" idx="1"/>
          </p:nvPr>
        </p:nvSpPr>
        <p:spPr>
          <a:xfrm>
            <a:off x="838200" y="1825624"/>
            <a:ext cx="4768156" cy="4351339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rPr b="1">
                <a:solidFill>
                  <a:srgbClr val="011480"/>
                </a:solidFill>
              </a:rPr>
              <a:t>openapi</a:t>
            </a:r>
            <a:r>
              <a:t>: 3.0.2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info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rgbClr val="011480"/>
                </a:solidFill>
              </a:rPr>
              <a:t>title</a:t>
            </a:r>
            <a:r>
              <a:t>: Raumbuchungs-API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rgbClr val="011480"/>
                </a:solidFill>
              </a:rPr>
              <a:t>version</a:t>
            </a:r>
            <a:r>
              <a:t>: 0.1.0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API für das Buchen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servers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url</a:t>
            </a:r>
            <a:r>
              <a:t>: https://test.de/raumbuchungsapi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Testumgebung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url</a:t>
            </a:r>
            <a:r>
              <a:t>: https://dev.de/raumbuchungsapi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Entwicklungsumgebung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tags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Raumbuchungen</a:t>
            </a:r>
          </a:p>
        </p:txBody>
      </p:sp>
      <p:sp>
        <p:nvSpPr>
          <p:cNvPr id="315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16" name="security:…"/>
          <p:cNvSpPr txBox="1"/>
          <p:nvPr/>
        </p:nvSpPr>
        <p:spPr>
          <a:xfrm>
            <a:off x="6982420" y="1825624"/>
            <a:ext cx="4768156" cy="4351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defTabSz="457200">
              <a:defRPr b="1" i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>
                <a:solidFill>
                  <a:schemeClr val="accent1">
                    <a:satOff val="-3547"/>
                    <a:lumOff val="-10352"/>
                  </a:schemeClr>
                </a:solidFill>
              </a:rPr>
              <a:t>security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latin typeface="Menlo"/>
                <a:ea typeface="Menlo"/>
                <a:cs typeface="Menlo"/>
                <a:sym typeface="Menlo"/>
              </a:defRPr>
            </a:pPr>
            <a:r>
              <a:t>  - </a:t>
            </a:r>
            <a:r>
              <a:rPr b="1">
                <a:solidFill>
                  <a:schemeClr val="accent1">
                    <a:satOff val="-3547"/>
                    <a:lumOff val="-10352"/>
                  </a:schemeClr>
                </a:solidFill>
              </a:rPr>
              <a:t>BasicAuth</a:t>
            </a:r>
            <a:r>
              <a:t>: </a:t>
            </a:r>
            <a:r>
              <a:rPr>
                <a:solidFill>
                  <a:schemeClr val="accent3"/>
                </a:solidFill>
              </a:rPr>
              <a:t>[read, write]</a:t>
            </a:r>
            <a:endParaRPr>
              <a:solidFill>
                <a:schemeClr val="accent3"/>
              </a:solidFill>
            </a:endParaRPr>
          </a:p>
          <a:p>
            <a:pPr defTabSz="457200">
              <a:defRPr b="1" i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- </a:t>
            </a:r>
            <a:r>
              <a:rPr>
                <a:solidFill>
                  <a:schemeClr val="accent1">
                    <a:satOff val="-3547"/>
                    <a:lumOff val="-10352"/>
                  </a:schemeClr>
                </a:solidFill>
              </a:rPr>
              <a:t>bearerAuth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rPr b="0">
                <a:solidFill>
                  <a:schemeClr val="accent3"/>
                </a:solidFill>
              </a:rPr>
              <a:t>[]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sz="1500">
                <a:latin typeface="Menlo"/>
                <a:ea typeface="Menlo"/>
                <a:cs typeface="Menlo"/>
                <a:sym typeface="Menlo"/>
              </a:defRPr>
            </a:pPr>
          </a:p>
          <a:p>
            <a:pPr defTabSz="457200"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components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 [..]</a:t>
            </a: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</a:p>
          <a:p>
            <a:pPr defTabSz="457200"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paths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 [..]</a:t>
            </a:r>
          </a:p>
          <a:p>
            <a:pPr defTabSz="457200"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</a:p>
          <a:p>
            <a:pPr defTabSz="457200">
              <a:defRPr b="1" i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>
                <a:solidFill>
                  <a:schemeClr val="accent1">
                    <a:satOff val="-3547"/>
                    <a:lumOff val="-10352"/>
                  </a:schemeClr>
                </a:solidFill>
              </a:rPr>
              <a:t>externalDocs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57200">
              <a:defRPr i="1"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chemeClr val="accent1">
                    <a:satOff val="-3547"/>
                    <a:lumOff val="-10352"/>
                  </a:schemeClr>
                </a:solidFill>
              </a:rPr>
              <a:t>description</a:t>
            </a:r>
            <a:r>
              <a:t>: </a:t>
            </a:r>
            <a:r>
              <a:rPr>
                <a:solidFill>
                  <a:schemeClr val="accent3"/>
                </a:solidFill>
              </a:rPr>
              <a:t>zusätzliche Doku zur API</a:t>
            </a:r>
          </a:p>
          <a:p>
            <a:pPr defTabSz="457200">
              <a:defRPr i="1" sz="1500">
                <a:latin typeface="Menlo"/>
                <a:ea typeface="Menlo"/>
                <a:cs typeface="Menlo"/>
                <a:sym typeface="Menlo"/>
              </a:defRPr>
            </a:pPr>
            <a:r>
              <a:t>  </a:t>
            </a:r>
            <a:r>
              <a:rPr b="1">
                <a:solidFill>
                  <a:schemeClr val="accent1">
                    <a:satOff val="-3547"/>
                    <a:lumOff val="-10352"/>
                  </a:schemeClr>
                </a:solidFill>
              </a:rPr>
              <a:t>url</a:t>
            </a:r>
            <a:r>
              <a:t>: </a:t>
            </a:r>
            <a:r>
              <a:rPr>
                <a:solidFill>
                  <a:schemeClr val="accent3"/>
                </a:solidFill>
              </a:rPr>
              <a:t>https://my.doku.domain/fachliches</a:t>
            </a:r>
          </a:p>
        </p:txBody>
      </p:sp>
      <p:sp>
        <p:nvSpPr>
          <p:cNvPr id="317" name="Linie"/>
          <p:cNvSpPr/>
          <p:nvPr/>
        </p:nvSpPr>
        <p:spPr>
          <a:xfrm flipV="1">
            <a:off x="6096000" y="1723194"/>
            <a:ext cx="1" cy="4556200"/>
          </a:xfrm>
          <a:prstGeom prst="line">
            <a:avLst/>
          </a:prstGeom>
          <a:ln w="1270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OAS Specification - Compon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Components</a:t>
            </a:r>
          </a:p>
        </p:txBody>
      </p:sp>
      <p:sp>
        <p:nvSpPr>
          <p:cNvPr id="320" name="#openapi: 3.0.2…"/>
          <p:cNvSpPr txBox="1"/>
          <p:nvPr>
            <p:ph type="body" sz="half" idx="1"/>
          </p:nvPr>
        </p:nvSpPr>
        <p:spPr>
          <a:xfrm>
            <a:off x="838200" y="1825625"/>
            <a:ext cx="4768156" cy="4351338"/>
          </a:xfrm>
          <a:prstGeom prst="rect">
            <a:avLst/>
          </a:prstGeom>
        </p:spPr>
        <p:txBody>
          <a:bodyPr/>
          <a:lstStyle/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335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#openapi: 3.0.2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components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</a:t>
            </a:r>
            <a:r>
              <a:t>schemas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>
                <a:solidFill>
                  <a:srgbClr val="018001"/>
                </a:solidFill>
              </a:rPr>
              <a:t>    </a:t>
            </a:r>
            <a:r>
              <a:t>RoomWrite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object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... schreibende Zugriffe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required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- name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- capacity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properties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string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Raumbezeichnung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example</a:t>
            </a:r>
            <a:r>
              <a:t>: O0_00W50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integer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Anzahl Sitzplätze ...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example</a:t>
            </a:r>
            <a:r>
              <a:t>: 25</a:t>
            </a: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335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</a:p>
          <a:p>
            <a:pPr marL="0" indent="0" defTabSz="406908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335">
                <a:latin typeface="Menlo"/>
                <a:ea typeface="Menlo"/>
                <a:cs typeface="Menlo"/>
                <a:sym typeface="Menlo"/>
              </a:defRPr>
            </a:pPr>
          </a:p>
        </p:txBody>
      </p:sp>
      <p:sp>
        <p:nvSpPr>
          <p:cNvPr id="321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324" name="Gruppieren"/>
          <p:cNvGrpSpPr/>
          <p:nvPr/>
        </p:nvGrpSpPr>
        <p:grpSpPr>
          <a:xfrm>
            <a:off x="6348015" y="1825625"/>
            <a:ext cx="5402561" cy="4351338"/>
            <a:chOff x="0" y="0"/>
            <a:chExt cx="5402560" cy="4351337"/>
          </a:xfrm>
        </p:grpSpPr>
        <p:sp>
          <p:nvSpPr>
            <p:cNvPr id="322" name="#schemas:…"/>
            <p:cNvSpPr txBox="1"/>
            <p:nvPr/>
          </p:nvSpPr>
          <p:spPr>
            <a:xfrm>
              <a:off x="0" y="0"/>
              <a:ext cx="5402561" cy="43513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/>
            <a:p>
              <a:pPr defTabSz="457200">
                <a:defRPr i="1" sz="1500">
                  <a:solidFill>
                    <a:srgbClr val="8080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t>#schemas:</a:t>
              </a:r>
            </a:p>
            <a:p>
              <a:pPr defTabSz="457200">
                <a:defRPr b="1" sz="15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rPr b="0" i="1">
                  <a:solidFill>
                    <a:srgbClr val="808080"/>
                  </a:solidFill>
                </a:rPr>
                <a:t>  </a:t>
              </a:r>
              <a:r>
                <a:t>Room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</a:t>
              </a:r>
              <a:r>
                <a:rPr b="1">
                  <a:solidFill>
                    <a:srgbClr val="011480"/>
                  </a:solidFill>
                </a:rPr>
                <a:t>type</a:t>
              </a:r>
              <a:r>
                <a:t>: object</a:t>
              </a: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</a:t>
              </a:r>
              <a:r>
                <a:rPr b="1">
                  <a:solidFill>
                    <a:srgbClr val="011480"/>
                  </a:solidFill>
                </a:rPr>
                <a:t>description</a:t>
              </a:r>
              <a:r>
                <a:t>: ... lesende Zugriffe</a:t>
              </a:r>
            </a:p>
            <a:p>
              <a:pPr defTabSz="457200">
                <a:defRPr b="1" sz="15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rPr b="0">
                  <a:solidFill>
                    <a:srgbClr val="000000"/>
                  </a:solidFill>
                </a:rPr>
                <a:t>    </a:t>
              </a:r>
              <a:r>
                <a:t>required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  - room_id</a:t>
              </a:r>
            </a:p>
            <a:p>
              <a:pPr defTabSz="457200">
                <a:defRPr b="1" sz="15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rPr b="0">
                  <a:solidFill>
                    <a:srgbClr val="000000"/>
                  </a:solidFill>
                </a:rPr>
                <a:t>    </a:t>
              </a:r>
              <a:r>
                <a:t>allOf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  - </a:t>
              </a:r>
              <a:r>
                <a:rPr b="1">
                  <a:solidFill>
                    <a:srgbClr val="011480"/>
                  </a:solidFill>
                </a:rPr>
                <a:t>type</a:t>
              </a:r>
              <a:r>
                <a:t>: object</a:t>
              </a:r>
            </a:p>
            <a:p>
              <a:pPr defTabSz="457200">
                <a:defRPr b="1" sz="15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rPr b="0">
                  <a:solidFill>
                    <a:srgbClr val="000000"/>
                  </a:solidFill>
                </a:rPr>
                <a:t>        </a:t>
              </a:r>
              <a:r>
                <a:t>properties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      </a:t>
              </a:r>
              <a:r>
                <a:rPr b="1">
                  <a:solidFill>
                    <a:srgbClr val="011480"/>
                  </a:solidFill>
                </a:rPr>
                <a:t>room_id</a:t>
              </a:r>
              <a:r>
                <a:t>:</a:t>
              </a: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        </a:t>
              </a:r>
              <a:r>
                <a:rPr b="1">
                  <a:solidFill>
                    <a:srgbClr val="011480"/>
                  </a:solidFill>
                </a:rPr>
                <a:t>type</a:t>
              </a:r>
              <a:r>
                <a:t>: string</a:t>
              </a: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        </a:t>
              </a:r>
              <a:r>
                <a:rPr b="1">
                  <a:solidFill>
                    <a:srgbClr val="011480"/>
                  </a:solidFill>
                </a:rPr>
                <a:t>description</a:t>
              </a:r>
              <a:r>
                <a:t>: UUID des Raumes</a:t>
              </a:r>
            </a:p>
            <a:p>
              <a:pPr defTabSz="457200">
                <a:defRPr sz="1500">
                  <a:latin typeface="Menlo"/>
                  <a:ea typeface="Menlo"/>
                  <a:cs typeface="Menlo"/>
                  <a:sym typeface="Menlo"/>
                </a:defRPr>
              </a:pPr>
              <a:r>
                <a:t>            </a:t>
              </a:r>
              <a:r>
                <a:rPr b="1">
                  <a:solidFill>
                    <a:srgbClr val="011480"/>
                  </a:solidFill>
                </a:rPr>
                <a:t>example</a:t>
              </a:r>
              <a:r>
                <a:t>: 6f410920-ea6b-4fbe-...</a:t>
              </a:r>
            </a:p>
            <a:p>
              <a:pPr defTabSz="457200">
                <a:defRPr b="1" sz="1500">
                  <a:solidFill>
                    <a:srgbClr val="018001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rPr b="0">
                  <a:solidFill>
                    <a:srgbClr val="000000"/>
                  </a:solidFill>
                </a:rPr>
                <a:t>      - </a:t>
              </a:r>
              <a:r>
                <a:rPr>
                  <a:solidFill>
                    <a:srgbClr val="011480"/>
                  </a:solidFill>
                </a:rPr>
                <a:t>$ref</a:t>
              </a:r>
              <a:r>
                <a:rPr b="0">
                  <a:solidFill>
                    <a:srgbClr val="000000"/>
                  </a:solidFill>
                </a:rPr>
                <a:t>: </a:t>
              </a:r>
              <a:r>
                <a:t>'#/components/schemas/RoomWrite'</a:t>
              </a:r>
            </a:p>
            <a:p>
              <a:pPr defTabSz="457200">
                <a:defRPr b="1" sz="1500">
                  <a:solidFill>
                    <a:srgbClr val="018001"/>
                  </a:solidFill>
                  <a:latin typeface="Menlo"/>
                  <a:ea typeface="Menlo"/>
                  <a:cs typeface="Menlo"/>
                  <a:sym typeface="Menlo"/>
                </a:defRPr>
              </a:pPr>
            </a:p>
          </p:txBody>
        </p:sp>
        <p:sp>
          <p:nvSpPr>
            <p:cNvPr id="323" name="Rechteck"/>
            <p:cNvSpPr/>
            <p:nvPr/>
          </p:nvSpPr>
          <p:spPr>
            <a:xfrm>
              <a:off x="331737" y="1408410"/>
              <a:ext cx="5068046" cy="2045098"/>
            </a:xfrm>
            <a:prstGeom prst="rect">
              <a:avLst/>
            </a:prstGeom>
            <a:noFill/>
            <a:ln w="12700" cap="flat">
              <a:solidFill>
                <a:srgbClr val="BE17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</p:grpSp>
      <p:sp>
        <p:nvSpPr>
          <p:cNvPr id="325" name="Linie"/>
          <p:cNvSpPr/>
          <p:nvPr/>
        </p:nvSpPr>
        <p:spPr>
          <a:xfrm flipV="1">
            <a:off x="6096000" y="1723194"/>
            <a:ext cx="0" cy="4556200"/>
          </a:xfrm>
          <a:prstGeom prst="line">
            <a:avLst/>
          </a:prstGeom>
          <a:ln w="1270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24" grpI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OAS Specification - Compon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Components</a:t>
            </a:r>
          </a:p>
        </p:txBody>
      </p:sp>
      <p:sp>
        <p:nvSpPr>
          <p:cNvPr id="328" name="#components:…"/>
          <p:cNvSpPr txBox="1"/>
          <p:nvPr>
            <p:ph type="body" sz="half" idx="1"/>
          </p:nvPr>
        </p:nvSpPr>
        <p:spPr>
          <a:xfrm>
            <a:off x="838200" y="1825624"/>
            <a:ext cx="6848624" cy="4351339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#components: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parameters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RoomId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room_id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in</a:t>
            </a:r>
            <a:r>
              <a:t>: path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required</a:t>
            </a:r>
            <a:r>
              <a:rPr b="0">
                <a:solidFill>
                  <a:srgbClr val="000000"/>
                </a:solidFill>
              </a:rPr>
              <a:t>: true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UUID des Besprechungsraumes.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string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example</a:t>
            </a:r>
            <a:r>
              <a:t>: 5fcec5cd-a4f6-42f3-b9c0-...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</a:p>
        </p:txBody>
      </p:sp>
      <p:sp>
        <p:nvSpPr>
          <p:cNvPr id="3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30" name="Rechteck"/>
          <p:cNvSpPr/>
          <p:nvPr/>
        </p:nvSpPr>
        <p:spPr>
          <a:xfrm>
            <a:off x="918467" y="2113359"/>
            <a:ext cx="1914278" cy="251555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31" name="Rechteck"/>
          <p:cNvSpPr/>
          <p:nvPr/>
        </p:nvSpPr>
        <p:spPr>
          <a:xfrm>
            <a:off x="1412825" y="2566178"/>
            <a:ext cx="1914278" cy="687042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OAS Specification - Path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Paths</a:t>
            </a:r>
          </a:p>
        </p:txBody>
      </p:sp>
      <p:sp>
        <p:nvSpPr>
          <p:cNvPr id="334" name="#openapi: 3.0.2…"/>
          <p:cNvSpPr txBox="1"/>
          <p:nvPr>
            <p:ph type="body" sz="half" idx="1"/>
          </p:nvPr>
        </p:nvSpPr>
        <p:spPr>
          <a:xfrm>
            <a:off x="838200" y="1825625"/>
            <a:ext cx="4768156" cy="4351338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#openapi: 3.0.2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paths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</a:t>
            </a:r>
            <a:r>
              <a:t>/rooms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Ressource für Bespre...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get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summary</a:t>
            </a:r>
            <a:r>
              <a:t>: Liefert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Liefert alle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tags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- Besprechungsräume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operationId</a:t>
            </a:r>
            <a:r>
              <a:rPr b="0">
                <a:solidFill>
                  <a:srgbClr val="000000"/>
                </a:solidFill>
              </a:rPr>
              <a:t>: getRooms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parameters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-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capacity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Parameter um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in</a:t>
            </a:r>
            <a:r>
              <a:t>: query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integer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</a:t>
            </a:r>
          </a:p>
        </p:txBody>
      </p:sp>
      <p:sp>
        <p:nvSpPr>
          <p:cNvPr id="335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36" name="#get:…"/>
          <p:cNvSpPr txBox="1"/>
          <p:nvPr/>
        </p:nvSpPr>
        <p:spPr>
          <a:xfrm>
            <a:off x="6348015" y="1825625"/>
            <a:ext cx="5402561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defTabSz="448055">
              <a:defRPr i="1" sz="147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#get:</a:t>
            </a: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responses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'200'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Erfolgreicher Zugriff.</a:t>
            </a: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content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b="1" sz="147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</a:t>
            </a:r>
            <a:r>
              <a:t>application/json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type</a:t>
            </a:r>
            <a:r>
              <a:t>: array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items</a:t>
            </a:r>
            <a:r>
              <a:t>:</a:t>
            </a:r>
          </a:p>
          <a:p>
            <a:pPr defTabSz="448055">
              <a:defRPr b="1" sz="147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   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'#/components/schemas/Room'</a:t>
            </a:r>
          </a:p>
          <a:p>
            <a:pPr defTabSz="448055">
              <a:defRPr b="1" sz="147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>
                <a:solidFill>
                  <a:srgbClr val="011480"/>
                </a:solidFill>
              </a:rPr>
              <a:t>example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- </a:t>
            </a:r>
            <a:r>
              <a:rPr b="1">
                <a:solidFill>
                  <a:srgbClr val="011480"/>
                </a:solidFill>
              </a:rPr>
              <a:t>room_id</a:t>
            </a:r>
            <a:r>
              <a:t>: 6f410920-ea6b-4fb...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O0_00W50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 25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- </a:t>
            </a:r>
            <a:r>
              <a:rPr b="1">
                <a:solidFill>
                  <a:srgbClr val="011480"/>
                </a:solidFill>
              </a:rPr>
              <a:t>room_id</a:t>
            </a:r>
            <a:r>
              <a:t>: fb904c1b-bc00-4ce...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name</a:t>
            </a:r>
            <a:r>
              <a:t>: O0_00W60</a:t>
            </a:r>
          </a:p>
          <a:p>
            <a:pPr defTabSz="448055">
              <a:defRPr sz="1470">
                <a:latin typeface="Menlo"/>
                <a:ea typeface="Menlo"/>
                <a:cs typeface="Menlo"/>
                <a:sym typeface="Menlo"/>
              </a:defRPr>
            </a:pPr>
            <a:r>
              <a:t>                </a:t>
            </a:r>
            <a:r>
              <a:rPr b="1">
                <a:solidFill>
                  <a:srgbClr val="011480"/>
                </a:solidFill>
              </a:rPr>
              <a:t>capacity</a:t>
            </a:r>
            <a:r>
              <a:t>: 42</a:t>
            </a:r>
          </a:p>
        </p:txBody>
      </p:sp>
      <p:sp>
        <p:nvSpPr>
          <p:cNvPr id="337" name="Linie"/>
          <p:cNvSpPr/>
          <p:nvPr/>
        </p:nvSpPr>
        <p:spPr>
          <a:xfrm flipV="1">
            <a:off x="6096000" y="1723194"/>
            <a:ext cx="0" cy="4556200"/>
          </a:xfrm>
          <a:prstGeom prst="line">
            <a:avLst/>
          </a:prstGeom>
          <a:ln w="1270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36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OAS Specification - Path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Paths</a:t>
            </a:r>
          </a:p>
        </p:txBody>
      </p:sp>
      <p:sp>
        <p:nvSpPr>
          <p:cNvPr id="340" name="#responses:…"/>
          <p:cNvSpPr txBox="1"/>
          <p:nvPr>
            <p:ph type="body" sz="half" idx="1"/>
          </p:nvPr>
        </p:nvSpPr>
        <p:spPr>
          <a:xfrm>
            <a:off x="838200" y="1825624"/>
            <a:ext cx="5359748" cy="4351339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#responses: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default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Fehlerhafter Zugriff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content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application/json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'#/components/schemas/Error'</a:t>
            </a:r>
          </a:p>
        </p:txBody>
      </p:sp>
      <p:sp>
        <p:nvSpPr>
          <p:cNvPr id="341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OAS Specification - Path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Paths</a:t>
            </a:r>
          </a:p>
        </p:txBody>
      </p:sp>
      <p:sp>
        <p:nvSpPr>
          <p:cNvPr id="344" name="#/rooms:…"/>
          <p:cNvSpPr txBox="1"/>
          <p:nvPr>
            <p:ph type="body" sz="half" idx="1"/>
          </p:nvPr>
        </p:nvSpPr>
        <p:spPr>
          <a:xfrm>
            <a:off x="838200" y="1825624"/>
            <a:ext cx="7610773" cy="4351339"/>
          </a:xfrm>
          <a:prstGeom prst="rect">
            <a:avLst/>
          </a:prstGeom>
        </p:spPr>
        <p:txBody>
          <a:bodyPr/>
          <a:lstStyle/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44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#/rooms: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post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summary</a:t>
            </a:r>
            <a:r>
              <a:t>: Anlage eines Besprechungraumes.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Legt einen neuen Besprechungsraum ...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tags</a:t>
            </a:r>
            <a:r>
              <a:t>: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  - Besprechungsräume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operationId</a:t>
            </a:r>
            <a:r>
              <a:rPr b="0">
                <a:solidFill>
                  <a:srgbClr val="000000"/>
                </a:solidFill>
              </a:rPr>
              <a:t>: addRoom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requestBody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required</a:t>
            </a:r>
            <a:r>
              <a:rPr b="0">
                <a:solidFill>
                  <a:srgbClr val="000000"/>
                </a:solidFill>
              </a:rPr>
              <a:t>: true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</a:t>
            </a:r>
            <a:r>
              <a:t>content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</a:t>
            </a:r>
            <a:r>
              <a:t>application/json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 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'#/components/schemas/RoomWrite'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>
                <a:solidFill>
                  <a:srgbClr val="018001"/>
                </a:solidFill>
              </a:rPr>
              <a:t>    </a:t>
            </a:r>
            <a:r>
              <a:t>responses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b="1">
                <a:solidFill>
                  <a:srgbClr val="011480"/>
                </a:solidFill>
              </a:rPr>
              <a:t>'200'</a:t>
            </a:r>
            <a:r>
              <a:t>: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Neuer Besprechungsraum wurde ...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    </a:t>
            </a:r>
            <a:r>
              <a:rPr b="1">
                <a:solidFill>
                  <a:srgbClr val="011480"/>
                </a:solidFill>
              </a:rPr>
              <a:t>content</a:t>
            </a:r>
            <a:r>
              <a:t>: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</a:t>
            </a:r>
            <a:r>
              <a:t>application/json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40">
                <a:latin typeface="Menlo"/>
                <a:ea typeface="Menlo"/>
                <a:cs typeface="Menlo"/>
                <a:sym typeface="Menlo"/>
              </a:defRPr>
            </a:pPr>
            <a:r>
              <a:t>            </a:t>
            </a:r>
            <a:r>
              <a:rPr b="1">
                <a:solidFill>
                  <a:srgbClr val="011480"/>
                </a:solidFill>
              </a:rPr>
              <a:t>schema</a:t>
            </a:r>
            <a:r>
              <a:t>:</a:t>
            </a:r>
          </a:p>
          <a:p>
            <a:pPr marL="0" indent="0" defTabSz="438911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44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       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'#/components/schemas/Room'</a:t>
            </a:r>
          </a:p>
        </p:txBody>
      </p:sp>
      <p:sp>
        <p:nvSpPr>
          <p:cNvPr id="345" name="Foliennummer"/>
          <p:cNvSpPr txBox="1"/>
          <p:nvPr>
            <p:ph type="sldNum" sz="quarter" idx="2"/>
          </p:nvPr>
        </p:nvSpPr>
        <p:spPr>
          <a:xfrm>
            <a:off x="5959172" y="6482985"/>
            <a:ext cx="273656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6" name="Rechteck"/>
          <p:cNvSpPr/>
          <p:nvPr/>
        </p:nvSpPr>
        <p:spPr>
          <a:xfrm>
            <a:off x="1235372" y="3291879"/>
            <a:ext cx="5495629" cy="1221235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OAS Specification - Path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OAS Specification - Paths</a:t>
            </a:r>
          </a:p>
        </p:txBody>
      </p:sp>
      <p:sp>
        <p:nvSpPr>
          <p:cNvPr id="349" name="#paths:…"/>
          <p:cNvSpPr txBox="1"/>
          <p:nvPr>
            <p:ph type="body" sz="half" idx="1"/>
          </p:nvPr>
        </p:nvSpPr>
        <p:spPr>
          <a:xfrm>
            <a:off x="838200" y="1825625"/>
            <a:ext cx="7610773" cy="4351338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#paths: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 i="1">
                <a:solidFill>
                  <a:srgbClr val="808080"/>
                </a:solidFill>
              </a:rPr>
              <a:t>  </a:t>
            </a:r>
            <a:r>
              <a:t>/rooms/{room_id}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>
                <a:solidFill>
                  <a:srgbClr val="011480"/>
                </a:solidFill>
              </a:rPr>
              <a:t>description</a:t>
            </a:r>
            <a:r>
              <a:t>: Resource um auf einen einzelnen ...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14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</a:t>
            </a:r>
            <a:r>
              <a:t>parameters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b="0">
                <a:solidFill>
                  <a:srgbClr val="000000"/>
                </a:solidFill>
              </a:rPr>
              <a:t>      - </a:t>
            </a:r>
            <a:r>
              <a:rPr>
                <a:solidFill>
                  <a:srgbClr val="011480"/>
                </a:solidFill>
              </a:rPr>
              <a:t>$ref</a:t>
            </a:r>
            <a:r>
              <a:rPr b="0">
                <a:solidFill>
                  <a:srgbClr val="000000"/>
                </a:solidFill>
              </a:rPr>
              <a:t>: </a:t>
            </a:r>
            <a:r>
              <a:t>'#/components/parameters/RoomId'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b="1" sz="1500">
                <a:solidFill>
                  <a:srgbClr val="018001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>
                <a:solidFill>
                  <a:srgbClr val="011480"/>
                </a:solidFill>
              </a:rPr>
              <a:t>get</a:t>
            </a:r>
            <a:r>
              <a:rPr b="0">
                <a:solidFill>
                  <a:srgbClr val="000000"/>
                </a:solidFill>
              </a:rPr>
              <a:t>:</a:t>
            </a:r>
            <a:endParaRPr b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i="1">
                <a:solidFill>
                  <a:srgbClr val="808080"/>
                </a:solidFill>
              </a:rPr>
              <a:t># ...</a:t>
            </a:r>
            <a:endParaRPr i="1">
              <a:solidFill>
                <a:srgbClr val="80808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i="1" sz="1500">
                <a:solidFill>
                  <a:srgbClr val="80808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t>    </a:t>
            </a:r>
            <a:r>
              <a:rPr b="1" i="0">
                <a:solidFill>
                  <a:srgbClr val="011480"/>
                </a:solidFill>
              </a:rPr>
              <a:t>put</a:t>
            </a:r>
            <a:r>
              <a:rPr i="0">
                <a:solidFill>
                  <a:srgbClr val="000000"/>
                </a:solidFill>
              </a:rPr>
              <a:t>:</a:t>
            </a:r>
            <a:endParaRPr i="0">
              <a:solidFill>
                <a:srgbClr val="000000"/>
              </a:solidFill>
            </a:endParaRP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500">
                <a:latin typeface="Menlo"/>
                <a:ea typeface="Menlo"/>
                <a:cs typeface="Menlo"/>
                <a:sym typeface="Menlo"/>
              </a:defRPr>
            </a:pPr>
            <a:r>
              <a:t>      </a:t>
            </a:r>
            <a:r>
              <a:rPr i="1">
                <a:solidFill>
                  <a:srgbClr val="808080"/>
                </a:solidFill>
              </a:rPr>
              <a:t># ...</a:t>
            </a:r>
          </a:p>
        </p:txBody>
      </p:sp>
      <p:sp>
        <p:nvSpPr>
          <p:cNvPr id="350" name="Foliennummer"/>
          <p:cNvSpPr txBox="1"/>
          <p:nvPr>
            <p:ph type="sldNum" sz="quarter" idx="2"/>
          </p:nvPr>
        </p:nvSpPr>
        <p:spPr>
          <a:xfrm>
            <a:off x="5959172" y="6482985"/>
            <a:ext cx="273656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51" name="Rechteck"/>
          <p:cNvSpPr/>
          <p:nvPr/>
        </p:nvSpPr>
        <p:spPr>
          <a:xfrm>
            <a:off x="1235372" y="2608064"/>
            <a:ext cx="5495628" cy="461765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52" name="Rechteck"/>
          <p:cNvSpPr/>
          <p:nvPr/>
        </p:nvSpPr>
        <p:spPr>
          <a:xfrm>
            <a:off x="1910655" y="2073984"/>
            <a:ext cx="1190924" cy="251555"/>
          </a:xfrm>
          <a:prstGeom prst="rect">
            <a:avLst/>
          </a:prstGeom>
          <a:ln w="12700">
            <a:solidFill>
              <a:srgbClr val="BE17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Swagger-UI</a:t>
            </a:r>
          </a:p>
        </p:txBody>
      </p:sp>
      <p:sp>
        <p:nvSpPr>
          <p:cNvPr id="355" name="Textplatzhalt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wagger-UI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Swagger-UI</a:t>
            </a:r>
          </a:p>
        </p:txBody>
      </p:sp>
      <p:sp>
        <p:nvSpPr>
          <p:cNvPr id="358" name="Foliennummer"/>
          <p:cNvSpPr txBox="1"/>
          <p:nvPr>
            <p:ph type="sldNum" sz="quarter" idx="2"/>
          </p:nvPr>
        </p:nvSpPr>
        <p:spPr>
          <a:xfrm>
            <a:off x="5959172" y="6482985"/>
            <a:ext cx="273656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5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21093" y="1396998"/>
            <a:ext cx="9349814" cy="507258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0" name="Gruppieren"/>
          <p:cNvGrpSpPr/>
          <p:nvPr/>
        </p:nvGrpSpPr>
        <p:grpSpPr>
          <a:xfrm>
            <a:off x="188163" y="886936"/>
            <a:ext cx="11621173" cy="5775484"/>
            <a:chOff x="0" y="0"/>
            <a:chExt cx="11621172" cy="5775483"/>
          </a:xfrm>
        </p:grpSpPr>
        <p:sp>
          <p:nvSpPr>
            <p:cNvPr id="360" name="info:…"/>
            <p:cNvSpPr txBox="1"/>
            <p:nvPr/>
          </p:nvSpPr>
          <p:spPr>
            <a:xfrm>
              <a:off x="6484342" y="1356940"/>
              <a:ext cx="3794589" cy="866141"/>
            </a:xfrm>
            <a:prstGeom prst="rect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 defTabSz="457200">
                <a:defRPr b="1" sz="13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t>info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</a:t>
              </a:r>
              <a:r>
                <a:rPr b="1">
                  <a:solidFill>
                    <a:srgbClr val="011480"/>
                  </a:solidFill>
                </a:rPr>
                <a:t>title</a:t>
              </a:r>
              <a:r>
                <a:t>: Raumbuchungs-API</a:t>
              </a: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</a:t>
              </a:r>
              <a:r>
                <a:rPr b="1">
                  <a:solidFill>
                    <a:srgbClr val="011480"/>
                  </a:solidFill>
                </a:rPr>
                <a:t>version</a:t>
              </a:r>
              <a:r>
                <a:t>: 0.1.0</a:t>
              </a: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</a:t>
              </a:r>
              <a:r>
                <a:rPr b="1">
                  <a:solidFill>
                    <a:srgbClr val="011480"/>
                  </a:solidFill>
                </a:rPr>
                <a:t>description</a:t>
              </a:r>
              <a:r>
                <a:t>: API für das Buchen ...</a:t>
              </a:r>
            </a:p>
          </p:txBody>
        </p:sp>
        <p:sp>
          <p:nvSpPr>
            <p:cNvPr id="361" name="openapi: 3.0.2"/>
            <p:cNvSpPr txBox="1"/>
            <p:nvPr/>
          </p:nvSpPr>
          <p:spPr>
            <a:xfrm>
              <a:off x="4858742" y="0"/>
              <a:ext cx="1508421" cy="294640"/>
            </a:xfrm>
            <a:prstGeom prst="rect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rPr b="1">
                  <a:solidFill>
                    <a:srgbClr val="011480"/>
                  </a:solidFill>
                </a:rPr>
                <a:t>openapi</a:t>
              </a:r>
              <a:r>
                <a:t>: 3.0.2</a:t>
              </a:r>
            </a:p>
          </p:txBody>
        </p:sp>
        <p:sp>
          <p:nvSpPr>
            <p:cNvPr id="362" name="Linie"/>
            <p:cNvSpPr/>
            <p:nvPr/>
          </p:nvSpPr>
          <p:spPr>
            <a:xfrm flipH="1">
              <a:off x="5015632" y="308280"/>
              <a:ext cx="509784" cy="1231619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63" name="Linie"/>
            <p:cNvSpPr/>
            <p:nvPr/>
          </p:nvSpPr>
          <p:spPr>
            <a:xfrm flipH="1">
              <a:off x="4786359" y="1682436"/>
              <a:ext cx="1652473" cy="192167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64" name="servers:…"/>
            <p:cNvSpPr txBox="1"/>
            <p:nvPr/>
          </p:nvSpPr>
          <p:spPr>
            <a:xfrm>
              <a:off x="7428990" y="2708471"/>
              <a:ext cx="4192183" cy="675641"/>
            </a:xfrm>
            <a:prstGeom prst="rect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 defTabSz="457200">
                <a:defRPr b="1" sz="13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t>servers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- </a:t>
              </a:r>
              <a:r>
                <a:rPr b="1">
                  <a:solidFill>
                    <a:srgbClr val="011480"/>
                  </a:solidFill>
                </a:rPr>
                <a:t>url</a:t>
              </a:r>
              <a:r>
                <a:t>: https://test.de/raumbuchungsapi</a:t>
              </a: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  </a:t>
              </a:r>
              <a:r>
                <a:rPr b="1">
                  <a:solidFill>
                    <a:srgbClr val="011480"/>
                  </a:solidFill>
                </a:rPr>
                <a:t>description</a:t>
              </a:r>
              <a:r>
                <a:t>: Testumgebung</a:t>
              </a:r>
            </a:p>
          </p:txBody>
        </p:sp>
        <p:sp>
          <p:nvSpPr>
            <p:cNvPr id="365" name="Linie"/>
            <p:cNvSpPr/>
            <p:nvPr/>
          </p:nvSpPr>
          <p:spPr>
            <a:xfrm flipH="1">
              <a:off x="6838269" y="3170297"/>
              <a:ext cx="606523" cy="1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66" name="tags:…"/>
            <p:cNvSpPr txBox="1"/>
            <p:nvPr/>
          </p:nvSpPr>
          <p:spPr>
            <a:xfrm>
              <a:off x="97197" y="3588543"/>
              <a:ext cx="912029" cy="675641"/>
            </a:xfrm>
            <a:prstGeom prst="rect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 defTabSz="457200">
                <a:defRPr b="1" sz="13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t>tags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- </a:t>
              </a:r>
              <a:r>
                <a:rPr b="1">
                  <a:solidFill>
                    <a:srgbClr val="011480"/>
                  </a:solidFill>
                </a:rPr>
                <a:t>...</a:t>
              </a:r>
            </a:p>
            <a:p>
              <a:pPr defTabSz="457200">
                <a:defRPr sz="1300">
                  <a:latin typeface="Menlo"/>
                  <a:ea typeface="Menlo"/>
                  <a:cs typeface="Menlo"/>
                  <a:sym typeface="Menlo"/>
                </a:defRPr>
              </a:pPr>
              <a:r>
                <a:t>  - ...</a:t>
              </a:r>
            </a:p>
          </p:txBody>
        </p:sp>
        <p:sp>
          <p:nvSpPr>
            <p:cNvPr id="367" name="Linie"/>
            <p:cNvSpPr/>
            <p:nvPr/>
          </p:nvSpPr>
          <p:spPr>
            <a:xfrm>
              <a:off x="1010202" y="3820252"/>
              <a:ext cx="422168" cy="422168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68" name="components:…"/>
            <p:cNvSpPr txBox="1"/>
            <p:nvPr/>
          </p:nvSpPr>
          <p:spPr>
            <a:xfrm>
              <a:off x="0" y="5290343"/>
              <a:ext cx="1309624" cy="485141"/>
            </a:xfrm>
            <a:prstGeom prst="rect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 defTabSz="457200">
                <a:defRPr b="1" sz="13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t>components</a:t>
              </a:r>
              <a:r>
                <a:rPr b="0">
                  <a:solidFill>
                    <a:srgbClr val="000000"/>
                  </a:solidFill>
                </a:rPr>
                <a:t>:</a:t>
              </a:r>
              <a:endParaRPr b="0">
                <a:solidFill>
                  <a:srgbClr val="000000"/>
                </a:solidFill>
              </a:endParaRPr>
            </a:p>
            <a:p>
              <a:pPr defTabSz="457200">
                <a:defRPr b="1" sz="1300">
                  <a:solidFill>
                    <a:srgbClr val="011480"/>
                  </a:solidFill>
                  <a:latin typeface="Menlo"/>
                  <a:ea typeface="Menlo"/>
                  <a:cs typeface="Menlo"/>
                  <a:sym typeface="Menlo"/>
                </a:defRPr>
              </a:pPr>
              <a:r>
                <a:rPr b="0">
                  <a:solidFill>
                    <a:srgbClr val="000000"/>
                  </a:solidFill>
                </a:rPr>
                <a:t>  </a:t>
              </a:r>
              <a:r>
                <a:t>schemas</a:t>
              </a:r>
              <a:r>
                <a:rPr b="0">
                  <a:solidFill>
                    <a:srgbClr val="000000"/>
                  </a:solidFill>
                </a:rPr>
                <a:t>:</a:t>
              </a:r>
            </a:p>
          </p:txBody>
        </p:sp>
        <p:sp>
          <p:nvSpPr>
            <p:cNvPr id="369" name="Linie"/>
            <p:cNvSpPr/>
            <p:nvPr/>
          </p:nvSpPr>
          <p:spPr>
            <a:xfrm flipV="1">
              <a:off x="1306895" y="5230465"/>
              <a:ext cx="259765" cy="259765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70" grpId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wagger-UI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Swagger-UI</a:t>
            </a:r>
          </a:p>
        </p:txBody>
      </p:sp>
      <p:sp>
        <p:nvSpPr>
          <p:cNvPr id="373" name="Foliennummer"/>
          <p:cNvSpPr txBox="1"/>
          <p:nvPr>
            <p:ph type="sldNum" sz="quarter" idx="2"/>
          </p:nvPr>
        </p:nvSpPr>
        <p:spPr>
          <a:xfrm>
            <a:off x="5959172" y="6482985"/>
            <a:ext cx="273656" cy="26425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7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75400" y="1397248"/>
            <a:ext cx="8841200" cy="52829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el 3"/>
          <p:cNvSpPr txBox="1"/>
          <p:nvPr>
            <p:ph type="title"/>
          </p:nvPr>
        </p:nvSpPr>
        <p:spPr>
          <a:xfrm>
            <a:off x="831850" y="1709738"/>
            <a:ext cx="10515600" cy="2852738"/>
          </a:xfrm>
          <a:prstGeom prst="rect">
            <a:avLst/>
          </a:prstGeom>
        </p:spPr>
        <p:txBody>
          <a:bodyPr/>
          <a:lstStyle/>
          <a:p>
            <a:pPr/>
            <a:r>
              <a:t>Use Case</a:t>
            </a:r>
          </a:p>
        </p:txBody>
      </p:sp>
      <p:sp>
        <p:nvSpPr>
          <p:cNvPr id="377" name="Textplatzhalt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Use Cas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</a:t>
            </a:r>
          </a:p>
        </p:txBody>
      </p:sp>
      <p:sp>
        <p:nvSpPr>
          <p:cNvPr id="380" name="Raumbuchungs-API erweiter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Raumbuchungs-API erweitern</a:t>
            </a:r>
          </a:p>
          <a:p>
            <a:pPr/>
            <a:r>
              <a:t>Ressourcen für die eigentliche Buchung</a:t>
            </a:r>
          </a:p>
          <a:p>
            <a:pPr/>
            <a:r>
              <a:t>Buchungsobjekt</a:t>
            </a:r>
          </a:p>
          <a:p>
            <a:pPr lvl="1" marL="685800" indent="-228600"/>
            <a:r>
              <a:t>ID</a:t>
            </a:r>
          </a:p>
          <a:p>
            <a:pPr lvl="1" marL="685800" indent="-228600"/>
            <a:r>
              <a:t>Raum-ID</a:t>
            </a:r>
          </a:p>
          <a:p>
            <a:pPr lvl="1" marL="685800" indent="-228600"/>
            <a:r>
              <a:t>Start</a:t>
            </a:r>
          </a:p>
          <a:p>
            <a:pPr lvl="1" marL="685800" indent="-228600"/>
            <a:r>
              <a:t>Dauer</a:t>
            </a:r>
          </a:p>
          <a:p>
            <a:pPr lvl="1" marL="685800" indent="-228600"/>
            <a:r>
              <a:t>Email-Adresse des Reservieren (optional)</a:t>
            </a:r>
          </a:p>
        </p:txBody>
      </p:sp>
      <p:sp>
        <p:nvSpPr>
          <p:cNvPr id="381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Link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Links</a:t>
            </a:r>
          </a:p>
        </p:txBody>
      </p:sp>
      <p:sp>
        <p:nvSpPr>
          <p:cNvPr id="384" name="GitHub-Projekt: github.com/nordlb &gt; techtalks &gt; 01-api-desig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GitHub-Projekt: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github.com/nordlb</a:t>
            </a:r>
            <a:r>
              <a:t> &gt; techtalks &gt; 01-api-design </a:t>
            </a:r>
          </a:p>
          <a:p>
            <a:pPr/>
            <a:r>
              <a:t>OpenAPI</a:t>
            </a:r>
          </a:p>
          <a:p>
            <a:pPr lvl="1" marL="685800" indent="-228600"/>
            <a:r>
              <a:t>Online Editor: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editor.swagger.io</a:t>
            </a:r>
          </a:p>
          <a:p>
            <a:pPr lvl="1" marL="685800" indent="-228600"/>
            <a:r>
              <a:t>Specification: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swagger.io/specification/</a:t>
            </a:r>
            <a:r>
              <a:t> </a:t>
            </a:r>
          </a:p>
          <a:p>
            <a:pPr lvl="1" marL="685800" indent="-228600"/>
            <a:r>
              <a:t>Documentation: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swagger.io/docs/specification/about/</a:t>
            </a:r>
            <a:r>
              <a:t> </a:t>
            </a:r>
          </a:p>
          <a:p>
            <a:pPr/>
            <a:r>
              <a:t>REST</a:t>
            </a:r>
          </a:p>
          <a:p>
            <a:pPr lvl="1" marL="685800" indent="-228600"/>
            <a:r>
              <a:t>Dissertation Roy Fielding: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https://www.ics.uci.edu/~fielding/pubs/dissertation/fielding_dissertation.pdf</a:t>
            </a:r>
            <a:r>
              <a:t> </a:t>
            </a:r>
          </a:p>
          <a:p>
            <a:pPr lvl="1" marL="685800" indent="-228600"/>
            <a:r>
              <a:t>HTTP RCFs: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RFC7231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RFC7230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RFC6585</a:t>
            </a:r>
          </a:p>
        </p:txBody>
      </p:sp>
      <p:sp>
        <p:nvSpPr>
          <p:cNvPr id="3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
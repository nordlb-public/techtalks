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rial"/>
      </a:defRPr>
    </a:lvl1pPr>
    <a:lvl2pPr indent="228600" latinLnBrk="0">
      <a:defRPr sz="1200">
        <a:latin typeface="+mn-lt"/>
        <a:ea typeface="+mn-ea"/>
        <a:cs typeface="+mn-cs"/>
        <a:sym typeface="Arial"/>
      </a:defRPr>
    </a:lvl2pPr>
    <a:lvl3pPr indent="457200" latinLnBrk="0">
      <a:defRPr sz="1200">
        <a:latin typeface="+mn-lt"/>
        <a:ea typeface="+mn-ea"/>
        <a:cs typeface="+mn-cs"/>
        <a:sym typeface="Arial"/>
      </a:defRPr>
    </a:lvl3pPr>
    <a:lvl4pPr indent="685800" latinLnBrk="0">
      <a:defRPr sz="1200">
        <a:latin typeface="+mn-lt"/>
        <a:ea typeface="+mn-ea"/>
        <a:cs typeface="+mn-cs"/>
        <a:sym typeface="Arial"/>
      </a:defRPr>
    </a:lvl4pPr>
    <a:lvl5pPr indent="914400" latinLnBrk="0">
      <a:defRPr sz="1200">
        <a:latin typeface="+mn-lt"/>
        <a:ea typeface="+mn-ea"/>
        <a:cs typeface="+mn-cs"/>
        <a:sym typeface="Arial"/>
      </a:defRPr>
    </a:lvl5pPr>
    <a:lvl6pPr indent="1143000" latinLnBrk="0">
      <a:defRPr sz="1200">
        <a:latin typeface="+mn-lt"/>
        <a:ea typeface="+mn-ea"/>
        <a:cs typeface="+mn-cs"/>
        <a:sym typeface="Arial"/>
      </a:defRPr>
    </a:lvl6pPr>
    <a:lvl7pPr indent="1371600" latinLnBrk="0">
      <a:defRPr sz="1200">
        <a:latin typeface="+mn-lt"/>
        <a:ea typeface="+mn-ea"/>
        <a:cs typeface="+mn-cs"/>
        <a:sym typeface="Arial"/>
      </a:defRPr>
    </a:lvl7pPr>
    <a:lvl8pPr indent="1600200" latinLnBrk="0">
      <a:defRPr sz="1200">
        <a:latin typeface="+mn-lt"/>
        <a:ea typeface="+mn-ea"/>
        <a:cs typeface="+mn-cs"/>
        <a:sym typeface="Arial"/>
      </a:defRPr>
    </a:lvl8pPr>
    <a:lvl9pPr indent="1828800" latinLnBrk="0">
      <a:defRPr sz="1200">
        <a:latin typeface="+mn-lt"/>
        <a:ea typeface="+mn-ea"/>
        <a:cs typeface="+mn-cs"/>
        <a:sym typeface="Arial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11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3" name="Shape 11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171450" indent="-171450">
              <a:buSzPct val="100000"/>
              <a:buChar char="-"/>
            </a:pPr>
            <a:r>
              <a:t>mit Metapher anfangen, um das Ganze zu verbildlichen</a:t>
            </a:r>
          </a:p>
          <a:p>
            <a:pPr marL="171450" indent="-171450">
              <a:buSzPct val="100000"/>
              <a:buChar char="-"/>
            </a:pPr>
            <a:r>
              <a:t>man stellt sich vor, man müsste direkt beim Koch sein Essen bestellen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12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4" name="Shape 12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171450" indent="-171450">
              <a:buSzPct val="100000"/>
              <a:buChar char="-"/>
            </a:pPr>
            <a:r>
              <a:t>deswegen gibt es Kellner, die fungieren als Schnittstelle zwischen Kunden und Küche</a:t>
            </a:r>
          </a:p>
          <a:p>
            <a:pPr marL="171450" indent="-171450">
              <a:buSzPct val="100000"/>
              <a:buChar char="-"/>
            </a:pPr>
            <a:r>
              <a:t>man weiß aber gar nicht, was es zu essen gibt, man müsste also probieren „gibt es hier schnitzel?“ und würde nur „ja“ oder „nein“ kriegen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13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7" name="Shape 13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171450" indent="-171450">
              <a:buSzPct val="100000"/>
              <a:buChar char="-"/>
            </a:lvl1pPr>
          </a:lstStyle>
          <a:p>
            <a:pPr/>
            <a:r>
              <a:t>deswegen gibt es Speisekarten, quasi eine Beschreibung von dem, was die Küche im Angebot hat  - also das, was ich beim Kellner bestellen kann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e 15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0" name="Shape 16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171450" indent="-171450">
              <a:buSzPct val="100000"/>
              <a:buChar char="-"/>
            </a:lvl1pPr>
          </a:lstStyle>
          <a:p>
            <a:pPr/>
            <a:r>
              <a:t>der Workflow ist dann der folgende: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17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3" name="Shape 17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171450" indent="-171450">
              <a:buSzPct val="100000"/>
              <a:buChar char="-"/>
            </a:pPr>
            <a:r>
              <a:t>man merkt schnell, der Kunde ist eine Art Frontend oder vielleicht auch einfach eine andere Anwendung</a:t>
            </a:r>
          </a:p>
          <a:p>
            <a:pPr marL="171450" indent="-171450">
              <a:buSzPct val="100000"/>
              <a:buChar char="-"/>
            </a:pPr>
            <a:r>
              <a:t>die Küche ist das Backend einer Anwendung</a:t>
            </a:r>
          </a:p>
          <a:p>
            <a:pPr marL="171450" indent="-171450">
              <a:buSzPct val="100000"/>
              <a:buChar char="-"/>
            </a:pPr>
            <a:r>
              <a:t>und der Kellner ist die Schnittstelle zwischen den beiden, die API</a:t>
            </a:r>
          </a:p>
          <a:p>
            <a:pPr marL="171450" indent="-171450">
              <a:buSzPct val="100000"/>
              <a:buChar char="-"/>
            </a:pPr>
            <a:r>
              <a:t>die Speisekarte ist dann also die Schnittstellenbeschreibung, aber dazu wird Carl später noch mehr sagen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19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96" name="Shape 19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171450" indent="-171450">
              <a:buSzPct val="100000"/>
              <a:buChar char="-"/>
            </a:lvl1pPr>
          </a:lstStyle>
          <a:p>
            <a:pPr/>
            <a:r>
              <a:t>und auch hier ist der Workflow relativ ähnlich, statt Schnitzel mit Bratkartoffeln kommen dann aber Daten zurück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hape 20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01" name="Shape 20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171450" indent="-171450">
              <a:buSzPct val="100000"/>
              <a:buChar char="-"/>
            </a:pPr>
            <a:r>
              <a:t>nun ist das Konzept der Schnittstelle bzw. API nix Neues und wird Ihnen als Entwickler ja bestimmt bekannt sein</a:t>
            </a:r>
          </a:p>
          <a:p>
            <a:pPr marL="171450" indent="-171450">
              <a:buSzPct val="100000"/>
              <a:buChar char="-"/>
            </a:pPr>
            <a:r>
              <a:t>vielleicht haben Sie mit SOAP und XML gearbeitet</a:t>
            </a:r>
          </a:p>
          <a:p>
            <a:pPr marL="171450" indent="-171450">
              <a:buSzPct val="100000"/>
              <a:buChar char="-"/>
            </a:pPr>
            <a:r>
              <a:t>die neuere Technologie und die, die wir heute vorstellen, hat aber ein paar Unterschiede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Shape 23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31" name="Shape 23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171450" indent="-171450">
              <a:buSzPct val="100000"/>
              <a:buChar char="-"/>
            </a:lvl1pPr>
          </a:lstStyle>
          <a:p>
            <a:pPr/>
            <a:r>
              <a:t>viele Frontends sind in Javascript geschrieben, deswegen ist JSON praktisch, aber keine Pflicht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23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37" name="Shape 23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171450" indent="-171450">
              <a:buSzPct val="100000"/>
              <a:buChar char="-"/>
            </a:pPr>
            <a:r>
              <a:t>REST ist eng mit HTTP verbunden und macht sich deren Verben zu Nutze</a:t>
            </a:r>
          </a:p>
          <a:p>
            <a:pPr marL="171450" indent="-171450">
              <a:buSzPct val="100000"/>
              <a:buChar char="-"/>
            </a:pPr>
            <a:r>
              <a:t>HTTP Verben stärken Standardisierung (removeOffice / deleteOffice)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hape 24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43" name="Shape 24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171450" indent="-171450">
              <a:buSzPct val="100000"/>
              <a:buChar char="-"/>
            </a:pPr>
            <a:r>
              <a:t>REST ist eng mit HTTP verbunden und macht sich deren Verben zu Nutze</a:t>
            </a:r>
          </a:p>
          <a:p>
            <a:pPr marL="171450" indent="-171450">
              <a:buSzPct val="100000"/>
              <a:buChar char="-"/>
            </a:pPr>
            <a:r>
              <a:t>HTTP Verben stärken Standardisierung (removeOffice / deleteOffice)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24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48" name="Shape 24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171450" indent="-171450">
              <a:buSzPct val="100000"/>
              <a:buChar char="-"/>
            </a:pPr>
            <a:r>
              <a:t>Ressource wird immer im Plural beschrieben</a:t>
            </a:r>
          </a:p>
          <a:p>
            <a:pPr marL="171450" indent="-171450">
              <a:buSzPct val="100000"/>
              <a:buChar char="-"/>
            </a:pPr>
            <a:r>
              <a:t>hat im Standard nur die aufgelisteten Endpunkte</a:t>
            </a:r>
          </a:p>
          <a:p>
            <a:pPr marL="171450" indent="-171450">
              <a:buSzPct val="100000"/>
              <a:buChar char="-"/>
            </a:pPr>
            <a:r>
              <a:t>Endpunkte = URI (Unique Resource Identifier)</a:t>
            </a:r>
          </a:p>
          <a:p>
            <a:pPr marL="171450" indent="-171450">
              <a:buSzPct val="100000"/>
              <a:buChar char="-"/>
            </a:pPr>
            <a:r>
              <a:t>es darf keine koexistierenden Endpunkte geben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25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3" name="Shape 25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171450" indent="-171450">
              <a:buSzPct val="100000"/>
              <a:buChar char="-"/>
            </a:lvl1pPr>
          </a:lstStyle>
          <a:p>
            <a:pPr/>
            <a:r>
              <a:t>das HTTP Protokoll ist auch in den Antworten integriert und macht es dem Kunden sehr leicht zu erfahren, ob seine Anfrage erfolgreich war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1" name="Textebene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xt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pPr/>
            <a:r>
              <a:t>Titeltext</a:t>
            </a:r>
          </a:p>
        </p:txBody>
      </p:sp>
      <p:sp>
        <p:nvSpPr>
          <p:cNvPr id="30" name="Textebene 1…"/>
          <p:cNvSpPr txBox="1"/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9" name="Textebene 1…"/>
          <p:cNvSpPr txBox="1"/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xt"/>
          <p:cNvSpPr txBox="1"/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8" name="Textebene 1…"/>
          <p:cNvSpPr txBox="1"/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b="1" sz="2400"/>
            </a:lvl1pPr>
            <a:lvl2pPr marL="0" indent="457200">
              <a:buSzTx/>
              <a:buFontTx/>
              <a:buNone/>
              <a:defRPr b="1" sz="2400"/>
            </a:lvl2pPr>
            <a:lvl3pPr marL="0" indent="914400">
              <a:buSzTx/>
              <a:buFontTx/>
              <a:buNone/>
              <a:defRPr b="1" sz="2400"/>
            </a:lvl3pPr>
            <a:lvl4pPr marL="0" indent="1371600">
              <a:buSzTx/>
              <a:buFontTx/>
              <a:buNone/>
              <a:defRPr b="1" sz="2400"/>
            </a:lvl4pPr>
            <a:lvl5pPr marL="0" indent="1828800">
              <a:buSzTx/>
              <a:buFontTx/>
              <a:buNone/>
              <a:defRPr b="1"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9" name="Textplatzhalter 4"/>
          <p:cNvSpPr/>
          <p:nvPr>
            <p:ph type="body" sz="quarter" idx="13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b="1" sz="2400"/>
            </a:pPr>
          </a:p>
        </p:txBody>
      </p:sp>
      <p:sp>
        <p:nvSpPr>
          <p:cNvPr id="5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Titeltext</a:t>
            </a:r>
          </a:p>
        </p:txBody>
      </p:sp>
      <p:sp>
        <p:nvSpPr>
          <p:cNvPr id="73" name="Textebene 1…"/>
          <p:cNvSpPr txBox="1"/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4" name="Textplatzhalter 3"/>
          <p:cNvSpPr/>
          <p:nvPr>
            <p:ph type="body" sz="quarter" idx="13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7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Titeltext</a:t>
            </a:r>
          </a:p>
        </p:txBody>
      </p:sp>
      <p:sp>
        <p:nvSpPr>
          <p:cNvPr id="83" name="Bildplatzhalter 2"/>
          <p:cNvSpPr/>
          <p:nvPr>
            <p:ph type="pic" sz="half" idx="13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bene 1…"/>
          <p:cNvSpPr txBox="1"/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11080144" y="6406785"/>
            <a:ext cx="273657" cy="26425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>
            <a:noFill/>
          </a:ln>
          <a:solidFill>
            <a:srgbClr val="000000"/>
          </a:solidFill>
          <a:uFillTx/>
          <a:latin typeface="Arial Narrow"/>
          <a:ea typeface="Arial Narrow"/>
          <a:cs typeface="Arial Narrow"/>
          <a:sym typeface="Arial Narrow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>
            <a:noFill/>
          </a:ln>
          <a:solidFill>
            <a:srgbClr val="000000"/>
          </a:solidFill>
          <a:uFillTx/>
          <a:latin typeface="Arial Narrow"/>
          <a:ea typeface="Arial Narrow"/>
          <a:cs typeface="Arial Narrow"/>
          <a:sym typeface="Arial Narrow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>
            <a:noFill/>
          </a:ln>
          <a:solidFill>
            <a:srgbClr val="000000"/>
          </a:solidFill>
          <a:uFillTx/>
          <a:latin typeface="Arial Narrow"/>
          <a:ea typeface="Arial Narrow"/>
          <a:cs typeface="Arial Narrow"/>
          <a:sym typeface="Arial Narrow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>
            <a:noFill/>
          </a:ln>
          <a:solidFill>
            <a:srgbClr val="000000"/>
          </a:solidFill>
          <a:uFillTx/>
          <a:latin typeface="Arial Narrow"/>
          <a:ea typeface="Arial Narrow"/>
          <a:cs typeface="Arial Narrow"/>
          <a:sym typeface="Arial Narrow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>
            <a:noFill/>
          </a:ln>
          <a:solidFill>
            <a:srgbClr val="000000"/>
          </a:solidFill>
          <a:uFillTx/>
          <a:latin typeface="Arial Narrow"/>
          <a:ea typeface="Arial Narrow"/>
          <a:cs typeface="Arial Narrow"/>
          <a:sym typeface="Arial Narrow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>
            <a:noFill/>
          </a:ln>
          <a:solidFill>
            <a:srgbClr val="000000"/>
          </a:solidFill>
          <a:uFillTx/>
          <a:latin typeface="Arial Narrow"/>
          <a:ea typeface="Arial Narrow"/>
          <a:cs typeface="Arial Narrow"/>
          <a:sym typeface="Arial Narrow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>
            <a:noFill/>
          </a:ln>
          <a:solidFill>
            <a:srgbClr val="000000"/>
          </a:solidFill>
          <a:uFillTx/>
          <a:latin typeface="Arial Narrow"/>
          <a:ea typeface="Arial Narrow"/>
          <a:cs typeface="Arial Narrow"/>
          <a:sym typeface="Arial Narrow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>
            <a:noFill/>
          </a:ln>
          <a:solidFill>
            <a:srgbClr val="000000"/>
          </a:solidFill>
          <a:uFillTx/>
          <a:latin typeface="Arial Narrow"/>
          <a:ea typeface="Arial Narrow"/>
          <a:cs typeface="Arial Narrow"/>
          <a:sym typeface="Arial Narrow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>
            <a:noFill/>
          </a:ln>
          <a:solidFill>
            <a:srgbClr val="000000"/>
          </a:solidFill>
          <a:uFillTx/>
          <a:latin typeface="Arial Narrow"/>
          <a:ea typeface="Arial Narrow"/>
          <a:cs typeface="Arial Narrow"/>
          <a:sym typeface="Arial Narrow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hyperlink" Target="https://nordicapis.com/top-specification-formats-for-rest-apis/" TargetMode="External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chLab 12.09.2019…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ctr"/>
            <a:r>
              <a:t>TechLab 12.09.2019</a:t>
            </a:r>
          </a:p>
          <a:p>
            <a:pPr algn="ctr"/>
            <a:r>
              <a:t>API-Design mit OpenAPI</a:t>
            </a:r>
          </a:p>
        </p:txBody>
      </p:sp>
      <p:sp>
        <p:nvSpPr>
          <p:cNvPr id="95" name="Manuel Ottlik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  <a:p>
            <a:pPr algn="ctr"/>
            <a:r>
              <a:t>Manuel Ottlik</a:t>
            </a:r>
          </a:p>
          <a:p>
            <a:pPr algn="ctr"/>
            <a:r>
              <a:t>Carl Volhard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Agenda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Agenda</a:t>
            </a:r>
          </a:p>
        </p:txBody>
      </p:sp>
      <p:sp>
        <p:nvSpPr>
          <p:cNvPr id="98" name="Vorstellungsrund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Vorstellungsrunde</a:t>
            </a:r>
          </a:p>
          <a:p>
            <a:pPr/>
            <a:r>
              <a:t>Was ist eine API?</a:t>
            </a:r>
          </a:p>
          <a:p>
            <a:pPr/>
            <a:r>
              <a:t>Abgrenzung REST vs. SOAP</a:t>
            </a:r>
          </a:p>
          <a:p>
            <a:pPr/>
            <a:r>
              <a:t>Rest-Paradigma</a:t>
            </a:r>
          </a:p>
          <a:p>
            <a:pPr/>
            <a:r>
              <a:t>Einführung OpenAPI</a:t>
            </a:r>
          </a:p>
          <a:p>
            <a:pPr/>
            <a:r>
              <a:t>Use Case vorstellen</a:t>
            </a:r>
          </a:p>
          <a:p>
            <a:pPr/>
            <a:r>
              <a:t>Hands-on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Vorstellungsrund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Vorstellungsrunde</a:t>
            </a:r>
          </a:p>
        </p:txBody>
      </p:sp>
      <p:sp>
        <p:nvSpPr>
          <p:cNvPr id="101" name="Text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itel 3"/>
          <p:cNvSpPr txBox="1"/>
          <p:nvPr>
            <p:ph type="title"/>
          </p:nvPr>
        </p:nvSpPr>
        <p:spPr>
          <a:xfrm>
            <a:off x="831850" y="1709738"/>
            <a:ext cx="10515600" cy="2852738"/>
          </a:xfrm>
          <a:prstGeom prst="rect">
            <a:avLst/>
          </a:prstGeom>
        </p:spPr>
        <p:txBody>
          <a:bodyPr/>
          <a:lstStyle/>
          <a:p>
            <a:pPr/>
            <a:r>
              <a:t>Was ist eine API?</a:t>
            </a:r>
          </a:p>
        </p:txBody>
      </p:sp>
      <p:sp>
        <p:nvSpPr>
          <p:cNvPr id="104" name="Textplatzhalter 4"/>
          <p:cNvSpPr txBox="1"/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itel 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Herzlich Willkommen im RESTaurant!</a:t>
            </a:r>
          </a:p>
        </p:txBody>
      </p:sp>
      <p:pic>
        <p:nvPicPr>
          <p:cNvPr id="107" name="Inhaltsplatzhalter 7" descr="Inhaltsplatzhalter 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517213" y="3927014"/>
            <a:ext cx="1836587" cy="22444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08" name="Grafik 11" descr="Grafik 1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38200" y="4590494"/>
            <a:ext cx="2725142" cy="1586469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Textfeld 14"/>
          <p:cNvSpPr txBox="1"/>
          <p:nvPr/>
        </p:nvSpPr>
        <p:spPr>
          <a:xfrm>
            <a:off x="1624522" y="4590494"/>
            <a:ext cx="115907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der Kunde</a:t>
            </a:r>
          </a:p>
        </p:txBody>
      </p:sp>
      <p:sp>
        <p:nvSpPr>
          <p:cNvPr id="110" name="Textfeld 16"/>
          <p:cNvSpPr txBox="1"/>
          <p:nvPr/>
        </p:nvSpPr>
        <p:spPr>
          <a:xfrm>
            <a:off x="9830692" y="3463549"/>
            <a:ext cx="1120898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Küche</a:t>
            </a:r>
          </a:p>
        </p:txBody>
      </p:sp>
      <p:sp>
        <p:nvSpPr>
          <p:cNvPr id="111" name="Textfeld 46"/>
          <p:cNvSpPr txBox="1"/>
          <p:nvPr/>
        </p:nvSpPr>
        <p:spPr>
          <a:xfrm>
            <a:off x="10047675" y="6501458"/>
            <a:ext cx="1754564" cy="177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700"/>
            </a:lvl1pPr>
          </a:lstStyle>
          <a:p>
            <a:pPr/>
            <a:r>
              <a:t>Bilder von https://publicdomainvectors.org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itel 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Herzlich Willkommen im RESTaurant!</a:t>
            </a:r>
          </a:p>
        </p:txBody>
      </p:sp>
      <p:pic>
        <p:nvPicPr>
          <p:cNvPr id="116" name="Inhaltsplatzhalter 7" descr="Inhaltsplatzhalter 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517213" y="3927014"/>
            <a:ext cx="1836587" cy="22444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Grafik 11" descr="Grafik 1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38200" y="4590494"/>
            <a:ext cx="2725142" cy="1586469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Grafik 13" descr="Grafik 1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432754" y="3463549"/>
            <a:ext cx="1592638" cy="2707895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extfeld 14"/>
          <p:cNvSpPr txBox="1"/>
          <p:nvPr/>
        </p:nvSpPr>
        <p:spPr>
          <a:xfrm>
            <a:off x="1624522" y="4590494"/>
            <a:ext cx="115907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der Kunde</a:t>
            </a:r>
          </a:p>
        </p:txBody>
      </p:sp>
      <p:sp>
        <p:nvSpPr>
          <p:cNvPr id="120" name="Textfeld 15"/>
          <p:cNvSpPr txBox="1"/>
          <p:nvPr/>
        </p:nvSpPr>
        <p:spPr>
          <a:xfrm>
            <a:off x="6349884" y="3463549"/>
            <a:ext cx="1209637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der Kellner</a:t>
            </a:r>
          </a:p>
        </p:txBody>
      </p:sp>
      <p:sp>
        <p:nvSpPr>
          <p:cNvPr id="121" name="Textfeld 16"/>
          <p:cNvSpPr txBox="1"/>
          <p:nvPr/>
        </p:nvSpPr>
        <p:spPr>
          <a:xfrm>
            <a:off x="9830692" y="3463549"/>
            <a:ext cx="1120898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Küche</a:t>
            </a:r>
          </a:p>
        </p:txBody>
      </p:sp>
      <p:sp>
        <p:nvSpPr>
          <p:cNvPr id="122" name="Textfeld 46"/>
          <p:cNvSpPr txBox="1"/>
          <p:nvPr/>
        </p:nvSpPr>
        <p:spPr>
          <a:xfrm>
            <a:off x="10047675" y="6501458"/>
            <a:ext cx="1754564" cy="177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700"/>
            </a:lvl1pPr>
          </a:lstStyle>
          <a:p>
            <a:pPr/>
            <a:r>
              <a:t>Bilder von https://publicdomainvectors.org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itel 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Herzlich Willkommen im RESTaurant!</a:t>
            </a:r>
          </a:p>
        </p:txBody>
      </p:sp>
      <p:pic>
        <p:nvPicPr>
          <p:cNvPr id="127" name="Inhaltsplatzhalter 7" descr="Inhaltsplatzhalter 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517213" y="3927014"/>
            <a:ext cx="1836587" cy="22444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8" name="Grafik 11" descr="Grafik 1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38200" y="4590494"/>
            <a:ext cx="2725142" cy="158646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9" name="Grafik 13" descr="Grafik 1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432754" y="3463549"/>
            <a:ext cx="1592638" cy="2707895"/>
          </a:xfrm>
          <a:prstGeom prst="rect">
            <a:avLst/>
          </a:prstGeom>
          <a:ln w="12700">
            <a:miter lim="400000"/>
          </a:ln>
        </p:spPr>
      </p:pic>
      <p:sp>
        <p:nvSpPr>
          <p:cNvPr id="130" name="Textfeld 14"/>
          <p:cNvSpPr txBox="1"/>
          <p:nvPr/>
        </p:nvSpPr>
        <p:spPr>
          <a:xfrm>
            <a:off x="1624522" y="4590494"/>
            <a:ext cx="115907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der Kunde</a:t>
            </a:r>
          </a:p>
        </p:txBody>
      </p:sp>
      <p:sp>
        <p:nvSpPr>
          <p:cNvPr id="131" name="Textfeld 15"/>
          <p:cNvSpPr txBox="1"/>
          <p:nvPr/>
        </p:nvSpPr>
        <p:spPr>
          <a:xfrm>
            <a:off x="6349884" y="3463549"/>
            <a:ext cx="1209637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der Kellner</a:t>
            </a:r>
          </a:p>
        </p:txBody>
      </p:sp>
      <p:sp>
        <p:nvSpPr>
          <p:cNvPr id="132" name="Textfeld 16"/>
          <p:cNvSpPr txBox="1"/>
          <p:nvPr/>
        </p:nvSpPr>
        <p:spPr>
          <a:xfrm>
            <a:off x="9830692" y="3463549"/>
            <a:ext cx="1120898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Küche</a:t>
            </a:r>
          </a:p>
        </p:txBody>
      </p:sp>
      <p:sp>
        <p:nvSpPr>
          <p:cNvPr id="133" name="Textfeld 46"/>
          <p:cNvSpPr txBox="1"/>
          <p:nvPr/>
        </p:nvSpPr>
        <p:spPr>
          <a:xfrm>
            <a:off x="10047675" y="6501458"/>
            <a:ext cx="1754564" cy="177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700"/>
            </a:lvl1pPr>
          </a:lstStyle>
          <a:p>
            <a:pPr/>
            <a:r>
              <a:t>Bilder von https://publicdomainvectors.org</a:t>
            </a:r>
          </a:p>
        </p:txBody>
      </p:sp>
      <p:pic>
        <p:nvPicPr>
          <p:cNvPr id="134" name="Grafik 9" descr="Grafik 9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473316" y="1923328"/>
            <a:ext cx="1290763" cy="1771046"/>
          </a:xfrm>
          <a:prstGeom prst="rect">
            <a:avLst/>
          </a:prstGeom>
          <a:ln w="12700">
            <a:miter lim="400000"/>
          </a:ln>
        </p:spPr>
      </p:pic>
      <p:sp>
        <p:nvSpPr>
          <p:cNvPr id="135" name="Textfeld 10"/>
          <p:cNvSpPr txBox="1"/>
          <p:nvPr/>
        </p:nvSpPr>
        <p:spPr>
          <a:xfrm>
            <a:off x="3764077" y="2624184"/>
            <a:ext cx="1679896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Speisekarte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itel 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Herzlich Willkommen im RESTaurant!</a:t>
            </a:r>
          </a:p>
        </p:txBody>
      </p:sp>
      <p:pic>
        <p:nvPicPr>
          <p:cNvPr id="140" name="Inhaltsplatzhalter 7" descr="Inhaltsplatzhalter 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517213" y="3927014"/>
            <a:ext cx="1836587" cy="22444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41" name="Grafik 9" descr="Grafik 9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473316" y="1923328"/>
            <a:ext cx="1290763" cy="1771046"/>
          </a:xfrm>
          <a:prstGeom prst="rect">
            <a:avLst/>
          </a:prstGeom>
          <a:ln w="12700">
            <a:miter lim="400000"/>
          </a:ln>
        </p:spPr>
      </p:pic>
      <p:pic>
        <p:nvPicPr>
          <p:cNvPr id="142" name="Grafik 11" descr="Grafik 11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838200" y="4590494"/>
            <a:ext cx="2725142" cy="1586469"/>
          </a:xfrm>
          <a:prstGeom prst="rect">
            <a:avLst/>
          </a:prstGeom>
          <a:ln w="12700">
            <a:miter lim="400000"/>
          </a:ln>
        </p:spPr>
      </p:pic>
      <p:pic>
        <p:nvPicPr>
          <p:cNvPr id="143" name="Grafik 13" descr="Grafik 13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5432754" y="3463549"/>
            <a:ext cx="1592638" cy="2707895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Textfeld 14"/>
          <p:cNvSpPr txBox="1"/>
          <p:nvPr/>
        </p:nvSpPr>
        <p:spPr>
          <a:xfrm>
            <a:off x="1624522" y="4590494"/>
            <a:ext cx="115907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der Kunde</a:t>
            </a:r>
          </a:p>
        </p:txBody>
      </p:sp>
      <p:sp>
        <p:nvSpPr>
          <p:cNvPr id="145" name="Textfeld 15"/>
          <p:cNvSpPr txBox="1"/>
          <p:nvPr/>
        </p:nvSpPr>
        <p:spPr>
          <a:xfrm>
            <a:off x="6349884" y="3463549"/>
            <a:ext cx="1209637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der Kellner</a:t>
            </a:r>
          </a:p>
        </p:txBody>
      </p:sp>
      <p:sp>
        <p:nvSpPr>
          <p:cNvPr id="146" name="Textfeld 16"/>
          <p:cNvSpPr txBox="1"/>
          <p:nvPr/>
        </p:nvSpPr>
        <p:spPr>
          <a:xfrm>
            <a:off x="9830692" y="3463549"/>
            <a:ext cx="1120898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Küche</a:t>
            </a:r>
          </a:p>
        </p:txBody>
      </p:sp>
      <p:sp>
        <p:nvSpPr>
          <p:cNvPr id="147" name="Textfeld 17"/>
          <p:cNvSpPr txBox="1"/>
          <p:nvPr/>
        </p:nvSpPr>
        <p:spPr>
          <a:xfrm>
            <a:off x="3764077" y="2624184"/>
            <a:ext cx="1679896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Speisekarte</a:t>
            </a:r>
          </a:p>
        </p:txBody>
      </p:sp>
      <p:sp>
        <p:nvSpPr>
          <p:cNvPr id="148" name="Gerade Verbindung mit Pfeil 19"/>
          <p:cNvSpPr/>
          <p:nvPr/>
        </p:nvSpPr>
        <p:spPr>
          <a:xfrm flipV="1">
            <a:off x="2200769" y="3758267"/>
            <a:ext cx="424985" cy="832228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49" name="Gerade Verbindung mit Pfeil 20"/>
          <p:cNvSpPr/>
          <p:nvPr/>
        </p:nvSpPr>
        <p:spPr>
          <a:xfrm>
            <a:off x="3959604" y="3463549"/>
            <a:ext cx="1224645" cy="463465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50" name="Gerade Verbindung mit Pfeil 23"/>
          <p:cNvSpPr/>
          <p:nvPr/>
        </p:nvSpPr>
        <p:spPr>
          <a:xfrm>
            <a:off x="7433160" y="4448164"/>
            <a:ext cx="1989764" cy="142332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51" name="Gerade Verbindung mit Pfeil 29"/>
          <p:cNvSpPr/>
          <p:nvPr/>
        </p:nvSpPr>
        <p:spPr>
          <a:xfrm flipH="1">
            <a:off x="3919452" y="5637402"/>
            <a:ext cx="1788064" cy="1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52" name="Gerade Verbindung mit Pfeil 32"/>
          <p:cNvSpPr/>
          <p:nvPr/>
        </p:nvSpPr>
        <p:spPr>
          <a:xfrm flipH="1">
            <a:off x="7139030" y="5613632"/>
            <a:ext cx="2183044" cy="1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53" name="Textfeld 34"/>
          <p:cNvSpPr txBox="1"/>
          <p:nvPr/>
        </p:nvSpPr>
        <p:spPr>
          <a:xfrm>
            <a:off x="1453061" y="3825457"/>
            <a:ext cx="904676" cy="4920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400">
                <a:solidFill>
                  <a:srgbClr val="262626"/>
                </a:solidFill>
              </a:defRPr>
            </a:pPr>
            <a:r>
              <a:t>wählt aus</a:t>
            </a:r>
          </a:p>
          <a:p>
            <a:pPr>
              <a:defRPr sz="1400">
                <a:solidFill>
                  <a:srgbClr val="262626"/>
                </a:solidFill>
              </a:defRPr>
            </a:pPr>
            <a:r>
              <a:t>Angebot</a:t>
            </a:r>
          </a:p>
        </p:txBody>
      </p:sp>
      <p:sp>
        <p:nvSpPr>
          <p:cNvPr id="154" name="Textfeld 35"/>
          <p:cNvSpPr txBox="1"/>
          <p:nvPr/>
        </p:nvSpPr>
        <p:spPr>
          <a:xfrm>
            <a:off x="3760484" y="3796222"/>
            <a:ext cx="1397727" cy="4920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400">
                <a:solidFill>
                  <a:srgbClr val="262626"/>
                </a:solidFill>
              </a:defRPr>
            </a:lvl1pPr>
          </a:lstStyle>
          <a:p>
            <a:pPr/>
            <a:r>
              <a:t>nimmt die Bestellung auf</a:t>
            </a:r>
          </a:p>
        </p:txBody>
      </p:sp>
      <p:sp>
        <p:nvSpPr>
          <p:cNvPr id="155" name="Textfeld 36"/>
          <p:cNvSpPr txBox="1"/>
          <p:nvPr/>
        </p:nvSpPr>
        <p:spPr>
          <a:xfrm>
            <a:off x="7650032" y="3912770"/>
            <a:ext cx="1476874" cy="4920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400">
                <a:solidFill>
                  <a:srgbClr val="262626"/>
                </a:solidFill>
              </a:defRPr>
            </a:lvl1pPr>
          </a:lstStyle>
          <a:p>
            <a:pPr/>
            <a:r>
              <a:t>übersetzt die Bestellung</a:t>
            </a:r>
          </a:p>
        </p:txBody>
      </p:sp>
      <p:sp>
        <p:nvSpPr>
          <p:cNvPr id="156" name="Textfeld 37"/>
          <p:cNvSpPr txBox="1"/>
          <p:nvPr/>
        </p:nvSpPr>
        <p:spPr>
          <a:xfrm>
            <a:off x="7545209" y="5637402"/>
            <a:ext cx="1476875" cy="492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400">
                <a:solidFill>
                  <a:srgbClr val="262626"/>
                </a:solidFill>
              </a:defRPr>
            </a:lvl1pPr>
          </a:lstStyle>
          <a:p>
            <a:pPr/>
            <a:r>
              <a:t>fertigt das Gericht an</a:t>
            </a:r>
          </a:p>
        </p:txBody>
      </p:sp>
      <p:sp>
        <p:nvSpPr>
          <p:cNvPr id="157" name="Textfeld 38"/>
          <p:cNvSpPr txBox="1"/>
          <p:nvPr/>
        </p:nvSpPr>
        <p:spPr>
          <a:xfrm>
            <a:off x="3955882" y="5648223"/>
            <a:ext cx="1476874" cy="492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262626"/>
                </a:solidFill>
              </a:defRPr>
            </a:pPr>
            <a:r>
              <a:t>liefert das</a:t>
            </a:r>
          </a:p>
          <a:p>
            <a:pPr algn="ctr">
              <a:defRPr sz="1400">
                <a:solidFill>
                  <a:srgbClr val="262626"/>
                </a:solidFill>
              </a:defRPr>
            </a:pPr>
            <a:r>
              <a:t>Gericht aus</a:t>
            </a:r>
          </a:p>
        </p:txBody>
      </p:sp>
      <p:sp>
        <p:nvSpPr>
          <p:cNvPr id="158" name="Textfeld 21"/>
          <p:cNvSpPr txBox="1"/>
          <p:nvPr/>
        </p:nvSpPr>
        <p:spPr>
          <a:xfrm>
            <a:off x="10047675" y="6501458"/>
            <a:ext cx="1754564" cy="177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700"/>
            </a:lvl1pPr>
          </a:lstStyle>
          <a:p>
            <a:pPr/>
            <a:r>
              <a:t>Bilder von https://publicdomainvectors.org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itel 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Herzlich Willkommen im RESTaurant!</a:t>
            </a:r>
          </a:p>
        </p:txBody>
      </p:sp>
      <p:pic>
        <p:nvPicPr>
          <p:cNvPr id="163" name="Inhaltsplatzhalter 7" descr="Inhaltsplatzhalter 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517213" y="3927014"/>
            <a:ext cx="1836587" cy="22444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64" name="Grafik 11" descr="Grafik 1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38200" y="4590494"/>
            <a:ext cx="2725142" cy="1586469"/>
          </a:xfrm>
          <a:prstGeom prst="rect">
            <a:avLst/>
          </a:prstGeom>
          <a:ln w="12700">
            <a:miter lim="400000"/>
          </a:ln>
        </p:spPr>
      </p:pic>
      <p:pic>
        <p:nvPicPr>
          <p:cNvPr id="165" name="Grafik 13" descr="Grafik 1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432754" y="3463549"/>
            <a:ext cx="1592638" cy="2707895"/>
          </a:xfrm>
          <a:prstGeom prst="rect">
            <a:avLst/>
          </a:prstGeom>
          <a:ln w="12700">
            <a:miter lim="400000"/>
          </a:ln>
        </p:spPr>
      </p:pic>
      <p:sp>
        <p:nvSpPr>
          <p:cNvPr id="166" name="Textfeld 14"/>
          <p:cNvSpPr txBox="1"/>
          <p:nvPr/>
        </p:nvSpPr>
        <p:spPr>
          <a:xfrm>
            <a:off x="1624521" y="4590494"/>
            <a:ext cx="1451185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das Frontend</a:t>
            </a:r>
          </a:p>
        </p:txBody>
      </p:sp>
      <p:sp>
        <p:nvSpPr>
          <p:cNvPr id="167" name="Textfeld 15"/>
          <p:cNvSpPr txBox="1"/>
          <p:nvPr/>
        </p:nvSpPr>
        <p:spPr>
          <a:xfrm>
            <a:off x="6349884" y="3463549"/>
            <a:ext cx="1705234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Schnittstelle</a:t>
            </a:r>
          </a:p>
        </p:txBody>
      </p:sp>
      <p:sp>
        <p:nvSpPr>
          <p:cNvPr id="168" name="Textfeld 16"/>
          <p:cNvSpPr txBox="1"/>
          <p:nvPr/>
        </p:nvSpPr>
        <p:spPr>
          <a:xfrm>
            <a:off x="9830693" y="3463549"/>
            <a:ext cx="1425846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das Backend</a:t>
            </a:r>
          </a:p>
        </p:txBody>
      </p:sp>
      <p:sp>
        <p:nvSpPr>
          <p:cNvPr id="169" name="Textfeld 46"/>
          <p:cNvSpPr txBox="1"/>
          <p:nvPr/>
        </p:nvSpPr>
        <p:spPr>
          <a:xfrm>
            <a:off x="10047675" y="6501458"/>
            <a:ext cx="1754564" cy="177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700"/>
            </a:lvl1pPr>
          </a:lstStyle>
          <a:p>
            <a:pPr/>
            <a:r>
              <a:t>Bilder von https://publicdomainvectors.org</a:t>
            </a:r>
          </a:p>
        </p:txBody>
      </p:sp>
      <p:pic>
        <p:nvPicPr>
          <p:cNvPr id="170" name="Grafik 9" descr="Grafik 9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473316" y="1923328"/>
            <a:ext cx="1290763" cy="1771046"/>
          </a:xfrm>
          <a:prstGeom prst="rect">
            <a:avLst/>
          </a:prstGeom>
          <a:ln w="12700">
            <a:miter lim="400000"/>
          </a:ln>
        </p:spPr>
      </p:pic>
      <p:sp>
        <p:nvSpPr>
          <p:cNvPr id="171" name="Textfeld 10"/>
          <p:cNvSpPr txBox="1"/>
          <p:nvPr/>
        </p:nvSpPr>
        <p:spPr>
          <a:xfrm>
            <a:off x="3764077" y="2624184"/>
            <a:ext cx="3204975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Schnittstellenbeschreibung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itel 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Herzlich Willkommen im RESTaurant!</a:t>
            </a:r>
          </a:p>
        </p:txBody>
      </p:sp>
      <p:pic>
        <p:nvPicPr>
          <p:cNvPr id="176" name="Inhaltsplatzhalter 7" descr="Inhaltsplatzhalter 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517213" y="3927014"/>
            <a:ext cx="1836587" cy="22444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77" name="Grafik 9" descr="Grafik 9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473316" y="1923328"/>
            <a:ext cx="1290763" cy="1771046"/>
          </a:xfrm>
          <a:prstGeom prst="rect">
            <a:avLst/>
          </a:prstGeom>
          <a:ln w="12700">
            <a:miter lim="400000"/>
          </a:ln>
        </p:spPr>
      </p:pic>
      <p:pic>
        <p:nvPicPr>
          <p:cNvPr id="178" name="Grafik 11" descr="Grafik 11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838200" y="4590494"/>
            <a:ext cx="2725142" cy="1586469"/>
          </a:xfrm>
          <a:prstGeom prst="rect">
            <a:avLst/>
          </a:prstGeom>
          <a:ln w="12700">
            <a:miter lim="400000"/>
          </a:ln>
        </p:spPr>
      </p:pic>
      <p:pic>
        <p:nvPicPr>
          <p:cNvPr id="179" name="Grafik 13" descr="Grafik 13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5432754" y="3463549"/>
            <a:ext cx="1592638" cy="2707895"/>
          </a:xfrm>
          <a:prstGeom prst="rect">
            <a:avLst/>
          </a:prstGeom>
          <a:ln w="12700">
            <a:miter lim="400000"/>
          </a:ln>
        </p:spPr>
      </p:pic>
      <p:sp>
        <p:nvSpPr>
          <p:cNvPr id="180" name="Gerade Verbindung mit Pfeil 19"/>
          <p:cNvSpPr/>
          <p:nvPr/>
        </p:nvSpPr>
        <p:spPr>
          <a:xfrm flipV="1">
            <a:off x="2200769" y="3758267"/>
            <a:ext cx="424985" cy="832228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81" name="Gerade Verbindung mit Pfeil 20"/>
          <p:cNvSpPr/>
          <p:nvPr/>
        </p:nvSpPr>
        <p:spPr>
          <a:xfrm>
            <a:off x="3959604" y="3463549"/>
            <a:ext cx="1224645" cy="463465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82" name="Gerade Verbindung mit Pfeil 23"/>
          <p:cNvSpPr/>
          <p:nvPr/>
        </p:nvSpPr>
        <p:spPr>
          <a:xfrm>
            <a:off x="7433160" y="4448164"/>
            <a:ext cx="1989764" cy="142332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83" name="Gerade Verbindung mit Pfeil 29"/>
          <p:cNvSpPr/>
          <p:nvPr/>
        </p:nvSpPr>
        <p:spPr>
          <a:xfrm flipH="1">
            <a:off x="3919452" y="5637402"/>
            <a:ext cx="1788064" cy="1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84" name="Gerade Verbindung mit Pfeil 32"/>
          <p:cNvSpPr/>
          <p:nvPr/>
        </p:nvSpPr>
        <p:spPr>
          <a:xfrm flipH="1">
            <a:off x="7139030" y="5613632"/>
            <a:ext cx="2183044" cy="1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85" name="Textfeld 34"/>
          <p:cNvSpPr txBox="1"/>
          <p:nvPr/>
        </p:nvSpPr>
        <p:spPr>
          <a:xfrm>
            <a:off x="1201776" y="3713217"/>
            <a:ext cx="1102443" cy="695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algn="ctr">
              <a:defRPr sz="1400">
                <a:solidFill>
                  <a:srgbClr val="262626"/>
                </a:solidFill>
              </a:defRPr>
            </a:pPr>
            <a:r>
              <a:t>wählt aus</a:t>
            </a:r>
          </a:p>
          <a:p>
            <a:pPr algn="ctr">
              <a:defRPr sz="1400">
                <a:solidFill>
                  <a:srgbClr val="262626"/>
                </a:solidFill>
              </a:defRPr>
            </a:pPr>
            <a:r>
              <a:t>verfügbaren</a:t>
            </a:r>
          </a:p>
          <a:p>
            <a:pPr algn="ctr">
              <a:defRPr sz="1400">
                <a:solidFill>
                  <a:srgbClr val="262626"/>
                </a:solidFill>
              </a:defRPr>
            </a:pPr>
            <a:r>
              <a:t>Endpunkten</a:t>
            </a:r>
          </a:p>
        </p:txBody>
      </p:sp>
      <p:sp>
        <p:nvSpPr>
          <p:cNvPr id="186" name="Textfeld 35"/>
          <p:cNvSpPr txBox="1"/>
          <p:nvPr/>
        </p:nvSpPr>
        <p:spPr>
          <a:xfrm>
            <a:off x="3760484" y="3796222"/>
            <a:ext cx="1397727" cy="4920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400">
                <a:solidFill>
                  <a:srgbClr val="262626"/>
                </a:solidFill>
              </a:defRPr>
            </a:lvl1pPr>
          </a:lstStyle>
          <a:p>
            <a:pPr/>
            <a:r>
              <a:t>sendet die Anfrage ab</a:t>
            </a:r>
          </a:p>
        </p:txBody>
      </p:sp>
      <p:sp>
        <p:nvSpPr>
          <p:cNvPr id="187" name="Textfeld 36"/>
          <p:cNvSpPr txBox="1"/>
          <p:nvPr/>
        </p:nvSpPr>
        <p:spPr>
          <a:xfrm>
            <a:off x="7650032" y="3912770"/>
            <a:ext cx="1476874" cy="4920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262626"/>
                </a:solidFill>
              </a:defRPr>
            </a:pPr>
            <a:r>
              <a:t>leitet die</a:t>
            </a:r>
          </a:p>
          <a:p>
            <a:pPr algn="ctr">
              <a:defRPr sz="1400">
                <a:solidFill>
                  <a:srgbClr val="262626"/>
                </a:solidFill>
              </a:defRPr>
            </a:pPr>
            <a:r>
              <a:t>Anfrage weiter</a:t>
            </a:r>
          </a:p>
        </p:txBody>
      </p:sp>
      <p:sp>
        <p:nvSpPr>
          <p:cNvPr id="188" name="Textfeld 37"/>
          <p:cNvSpPr txBox="1"/>
          <p:nvPr/>
        </p:nvSpPr>
        <p:spPr>
          <a:xfrm>
            <a:off x="7545209" y="5637402"/>
            <a:ext cx="1476875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400">
                <a:solidFill>
                  <a:srgbClr val="262626"/>
                </a:solidFill>
              </a:defRPr>
            </a:lvl1pPr>
          </a:lstStyle>
          <a:p>
            <a:pPr/>
            <a:r>
              <a:t>gibt Antwort</a:t>
            </a:r>
          </a:p>
        </p:txBody>
      </p:sp>
      <p:sp>
        <p:nvSpPr>
          <p:cNvPr id="189" name="Textfeld 38"/>
          <p:cNvSpPr txBox="1"/>
          <p:nvPr/>
        </p:nvSpPr>
        <p:spPr>
          <a:xfrm>
            <a:off x="3955882" y="5648223"/>
            <a:ext cx="1476874" cy="492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400">
                <a:solidFill>
                  <a:srgbClr val="262626"/>
                </a:solidFill>
              </a:defRPr>
            </a:lvl1pPr>
          </a:lstStyle>
          <a:p>
            <a:pPr/>
            <a:r>
              <a:t>liefert die Antwort aus</a:t>
            </a:r>
          </a:p>
        </p:txBody>
      </p:sp>
      <p:sp>
        <p:nvSpPr>
          <p:cNvPr id="190" name="Textfeld 21"/>
          <p:cNvSpPr txBox="1"/>
          <p:nvPr/>
        </p:nvSpPr>
        <p:spPr>
          <a:xfrm>
            <a:off x="10047675" y="6501458"/>
            <a:ext cx="1754564" cy="177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700"/>
            </a:lvl1pPr>
          </a:lstStyle>
          <a:p>
            <a:pPr/>
            <a:r>
              <a:t>Bilder von https://publicdomainvectors.org</a:t>
            </a:r>
          </a:p>
        </p:txBody>
      </p:sp>
      <p:sp>
        <p:nvSpPr>
          <p:cNvPr id="191" name="Textfeld 22"/>
          <p:cNvSpPr txBox="1"/>
          <p:nvPr/>
        </p:nvSpPr>
        <p:spPr>
          <a:xfrm>
            <a:off x="1624521" y="4590494"/>
            <a:ext cx="1451185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das Frontend</a:t>
            </a:r>
          </a:p>
        </p:txBody>
      </p:sp>
      <p:sp>
        <p:nvSpPr>
          <p:cNvPr id="192" name="Textfeld 24"/>
          <p:cNvSpPr txBox="1"/>
          <p:nvPr/>
        </p:nvSpPr>
        <p:spPr>
          <a:xfrm>
            <a:off x="6349884" y="3463549"/>
            <a:ext cx="1705234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Schnittstelle</a:t>
            </a:r>
          </a:p>
        </p:txBody>
      </p:sp>
      <p:sp>
        <p:nvSpPr>
          <p:cNvPr id="193" name="Textfeld 25"/>
          <p:cNvSpPr txBox="1"/>
          <p:nvPr/>
        </p:nvSpPr>
        <p:spPr>
          <a:xfrm>
            <a:off x="9830693" y="3463549"/>
            <a:ext cx="1425846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das Backend</a:t>
            </a:r>
          </a:p>
        </p:txBody>
      </p:sp>
      <p:sp>
        <p:nvSpPr>
          <p:cNvPr id="194" name="Textfeld 26"/>
          <p:cNvSpPr txBox="1"/>
          <p:nvPr/>
        </p:nvSpPr>
        <p:spPr>
          <a:xfrm>
            <a:off x="3764077" y="2624184"/>
            <a:ext cx="3204975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Schnittstellenbeschreibung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Titel 3"/>
          <p:cNvSpPr txBox="1"/>
          <p:nvPr>
            <p:ph type="title"/>
          </p:nvPr>
        </p:nvSpPr>
        <p:spPr>
          <a:xfrm>
            <a:off x="831850" y="1709738"/>
            <a:ext cx="10515600" cy="2852738"/>
          </a:xfrm>
          <a:prstGeom prst="rect">
            <a:avLst/>
          </a:prstGeom>
        </p:spPr>
        <p:txBody>
          <a:bodyPr/>
          <a:lstStyle/>
          <a:p>
            <a:pPr/>
            <a:r>
              <a:t>SOAP &amp; XML vs. REST &amp; JSON</a:t>
            </a:r>
          </a:p>
        </p:txBody>
      </p:sp>
      <p:sp>
        <p:nvSpPr>
          <p:cNvPr id="199" name="Textplatzhalter 4"/>
          <p:cNvSpPr txBox="1"/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Titel 1"/>
          <p:cNvSpPr txBox="1"/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pPr/>
            <a:r>
              <a:t>Strukturierung</a:t>
            </a:r>
          </a:p>
        </p:txBody>
      </p:sp>
      <p:sp>
        <p:nvSpPr>
          <p:cNvPr id="204" name="Textplatzhalter 2"/>
          <p:cNvSpPr txBox="1"/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/>
            <a:r>
              <a:t>SOAP</a:t>
            </a:r>
          </a:p>
        </p:txBody>
      </p:sp>
      <p:pic>
        <p:nvPicPr>
          <p:cNvPr id="205" name="Inhaltsplatzhalter 9" descr="Inhaltsplatzhalter 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165968" y="3013682"/>
            <a:ext cx="2505426" cy="2667373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Textplatzhalter 4"/>
          <p:cNvSpPr/>
          <p:nvPr>
            <p:ph type="body" idx="13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 marL="0" indent="0" algn="ctr">
              <a:buSzTx/>
              <a:buFontTx/>
              <a:buNone/>
              <a:defRPr b="1" sz="2400"/>
            </a:lvl1pPr>
          </a:lstStyle>
          <a:p>
            <a:pPr/>
            <a:r>
              <a:t>REST</a:t>
            </a:r>
          </a:p>
        </p:txBody>
      </p:sp>
      <p:pic>
        <p:nvPicPr>
          <p:cNvPr id="207" name="Inhaltsplatzhalter 7" descr="Inhaltsplatzhalter 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239581" y="2989866"/>
            <a:ext cx="3048426" cy="2715005"/>
          </a:xfrm>
          <a:prstGeom prst="rect">
            <a:avLst/>
          </a:prstGeom>
          <a:ln w="12700">
            <a:miter lim="400000"/>
          </a:ln>
        </p:spPr>
      </p:pic>
      <p:sp>
        <p:nvSpPr>
          <p:cNvPr id="208" name="Textfeld 10"/>
          <p:cNvSpPr txBox="1"/>
          <p:nvPr/>
        </p:nvSpPr>
        <p:spPr>
          <a:xfrm>
            <a:off x="2541709" y="5520204"/>
            <a:ext cx="1717848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aktionsorientiert</a:t>
            </a:r>
          </a:p>
        </p:txBody>
      </p:sp>
      <p:sp>
        <p:nvSpPr>
          <p:cNvPr id="209" name="Textfeld 11"/>
          <p:cNvSpPr txBox="1"/>
          <p:nvPr/>
        </p:nvSpPr>
        <p:spPr>
          <a:xfrm>
            <a:off x="7711517" y="5496388"/>
            <a:ext cx="212437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ressourcenorientiert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itel 1"/>
          <p:cNvSpPr txBox="1"/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pPr/>
            <a:r>
              <a:t>Basis</a:t>
            </a:r>
          </a:p>
        </p:txBody>
      </p:sp>
      <p:sp>
        <p:nvSpPr>
          <p:cNvPr id="212" name="Textplatzhalter 2"/>
          <p:cNvSpPr txBox="1"/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/>
            <a:r>
              <a:t>SOAP</a:t>
            </a:r>
          </a:p>
        </p:txBody>
      </p:sp>
      <p:sp>
        <p:nvSpPr>
          <p:cNvPr id="213" name="Textplatzhalter 4"/>
          <p:cNvSpPr/>
          <p:nvPr>
            <p:ph type="body" idx="13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 marL="0" indent="0" algn="ctr">
              <a:buSzTx/>
              <a:buFontTx/>
              <a:buNone/>
              <a:defRPr b="1" sz="2400"/>
            </a:lvl1pPr>
          </a:lstStyle>
          <a:p>
            <a:pPr/>
            <a:r>
              <a:t>REST</a:t>
            </a:r>
          </a:p>
        </p:txBody>
      </p:sp>
      <p:sp>
        <p:nvSpPr>
          <p:cNvPr id="214" name="Textfeld 10"/>
          <p:cNvSpPr txBox="1"/>
          <p:nvPr/>
        </p:nvSpPr>
        <p:spPr>
          <a:xfrm>
            <a:off x="2207701" y="5574962"/>
            <a:ext cx="2594407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Remote Procedure Calls</a:t>
            </a:r>
          </a:p>
        </p:txBody>
      </p:sp>
      <p:sp>
        <p:nvSpPr>
          <p:cNvPr id="215" name="Textfeld 11"/>
          <p:cNvSpPr txBox="1"/>
          <p:nvPr/>
        </p:nvSpPr>
        <p:spPr>
          <a:xfrm>
            <a:off x="7385050" y="5574962"/>
            <a:ext cx="2886520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Hypertext Transfer Protocol</a:t>
            </a:r>
          </a:p>
        </p:txBody>
      </p:sp>
      <p:pic>
        <p:nvPicPr>
          <p:cNvPr id="216" name="Inhaltsplatzhalter 8" descr="Inhaltsplatzhalter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454524" y="3080010"/>
            <a:ext cx="3925159" cy="2247154"/>
          </a:xfrm>
          <a:prstGeom prst="rect">
            <a:avLst/>
          </a:prstGeom>
          <a:ln w="12700">
            <a:miter lim="400000"/>
          </a:ln>
        </p:spPr>
      </p:pic>
      <p:pic>
        <p:nvPicPr>
          <p:cNvPr id="217" name="Inhaltsplatzhalter 15" descr="Inhaltsplatzhalter 1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792986" y="3181306"/>
            <a:ext cx="3944490" cy="204456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Beliebtheit</a:t>
            </a:r>
          </a:p>
        </p:txBody>
      </p:sp>
      <p:pic>
        <p:nvPicPr>
          <p:cNvPr id="220" name="Inhaltsplatzhalter 10" descr="Inhaltsplatzhalter 1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870736" y="1825625"/>
            <a:ext cx="8450529" cy="435133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Informationsdichte</a:t>
            </a:r>
          </a:p>
        </p:txBody>
      </p:sp>
      <p:pic>
        <p:nvPicPr>
          <p:cNvPr id="223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076575" y="1843881"/>
            <a:ext cx="6038850" cy="43148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itel 3"/>
          <p:cNvSpPr txBox="1"/>
          <p:nvPr>
            <p:ph type="title"/>
          </p:nvPr>
        </p:nvSpPr>
        <p:spPr>
          <a:xfrm>
            <a:off x="831850" y="1709738"/>
            <a:ext cx="10515600" cy="2852738"/>
          </a:xfrm>
          <a:prstGeom prst="rect">
            <a:avLst/>
          </a:prstGeom>
        </p:spPr>
        <p:txBody>
          <a:bodyPr/>
          <a:lstStyle/>
          <a:p>
            <a:pPr/>
            <a:r>
              <a:t>Was ist das REST-Paradigma?</a:t>
            </a:r>
          </a:p>
        </p:txBody>
      </p:sp>
      <p:sp>
        <p:nvSpPr>
          <p:cNvPr id="226" name="Textplatzhalter 4"/>
          <p:cNvSpPr txBox="1"/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 defTabSz="877823">
              <a:defRPr sz="8448"/>
            </a:pPr>
            <a:r>
              <a:t>RE</a:t>
            </a:r>
            <a:r>
              <a:rPr sz="4224"/>
              <a:t>presentational </a:t>
            </a:r>
            <a:r>
              <a:t>S</a:t>
            </a:r>
            <a:r>
              <a:rPr sz="4224"/>
              <a:t>tate </a:t>
            </a:r>
            <a:r>
              <a:t>T</a:t>
            </a:r>
            <a:r>
              <a:rPr sz="4224"/>
              <a:t>ransfer</a:t>
            </a:r>
          </a:p>
        </p:txBody>
      </p:sp>
      <p:sp>
        <p:nvSpPr>
          <p:cNvPr id="229" name="Inhaltsplatzhalter 2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anchor="ctr"/>
          <a:lstStyle/>
          <a:p>
            <a:pPr>
              <a:lnSpc>
                <a:spcPct val="150000"/>
              </a:lnSpc>
              <a:defRPr sz="2400"/>
            </a:pPr>
            <a:r>
              <a:t>ursprünglich behandelt in der Dissertation von Roy Fielding</a:t>
            </a:r>
          </a:p>
          <a:p>
            <a:pPr>
              <a:lnSpc>
                <a:spcPct val="150000"/>
              </a:lnSpc>
              <a:defRPr sz="2400"/>
            </a:pPr>
            <a:r>
              <a:t>kein Regelwerk, sondern Sammlung von Best Practices</a:t>
            </a:r>
          </a:p>
          <a:p>
            <a:pPr>
              <a:lnSpc>
                <a:spcPct val="150000"/>
              </a:lnSpc>
              <a:defRPr sz="2400"/>
            </a:pPr>
            <a:r>
              <a:t>zustandslos</a:t>
            </a:r>
          </a:p>
          <a:p>
            <a:pPr>
              <a:lnSpc>
                <a:spcPct val="150000"/>
              </a:lnSpc>
              <a:defRPr sz="2400"/>
            </a:pPr>
            <a:r>
              <a:t>übergibt Abbild eines Zustandes (State Transfer)</a:t>
            </a:r>
          </a:p>
          <a:p>
            <a:pPr>
              <a:lnSpc>
                <a:spcPct val="150000"/>
              </a:lnSpc>
              <a:defRPr sz="2400"/>
            </a:pPr>
            <a:r>
              <a:t>kann mehrere Repräsentationen einer Ressource anbieten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Ressourcenorientierung</a:t>
            </a:r>
          </a:p>
        </p:txBody>
      </p:sp>
      <p:sp>
        <p:nvSpPr>
          <p:cNvPr id="234" name="Textfeld 3"/>
          <p:cNvSpPr txBox="1"/>
          <p:nvPr/>
        </p:nvSpPr>
        <p:spPr>
          <a:xfrm>
            <a:off x="2666428" y="2138089"/>
            <a:ext cx="1567420" cy="3469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GET</a:t>
            </a:r>
          </a:p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POST</a:t>
            </a:r>
          </a:p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PUT</a:t>
            </a:r>
          </a:p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PATCH</a:t>
            </a:r>
          </a:p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DELETE</a:t>
            </a:r>
          </a:p>
        </p:txBody>
      </p:sp>
      <p:sp>
        <p:nvSpPr>
          <p:cNvPr id="235" name="Textfeld 5"/>
          <p:cNvSpPr txBox="1"/>
          <p:nvPr/>
        </p:nvSpPr>
        <p:spPr>
          <a:xfrm>
            <a:off x="4837841" y="3637410"/>
            <a:ext cx="40671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b="1" sz="4000">
                <a:latin typeface="Courier"/>
                <a:ea typeface="Courier"/>
                <a:cs typeface="Courier"/>
                <a:sym typeface="Courier"/>
              </a:defRPr>
            </a:pPr>
            <a:r>
              <a:t>/offices/</a:t>
            </a:r>
            <a:r>
              <a:rPr>
                <a:solidFill>
                  <a:srgbClr val="808080"/>
                </a:solidFill>
              </a:rPr>
              <a:t>{id}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Verschachtelung</a:t>
            </a:r>
          </a:p>
        </p:txBody>
      </p:sp>
      <p:sp>
        <p:nvSpPr>
          <p:cNvPr id="240" name="Textfeld 3"/>
          <p:cNvSpPr txBox="1"/>
          <p:nvPr/>
        </p:nvSpPr>
        <p:spPr>
          <a:xfrm>
            <a:off x="2666428" y="2138089"/>
            <a:ext cx="1567420" cy="3469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GET</a:t>
            </a:r>
          </a:p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POST</a:t>
            </a:r>
          </a:p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PUT</a:t>
            </a:r>
          </a:p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PATCH</a:t>
            </a:r>
          </a:p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DELETE</a:t>
            </a:r>
          </a:p>
        </p:txBody>
      </p:sp>
      <p:sp>
        <p:nvSpPr>
          <p:cNvPr id="241" name="Textfeld 4"/>
          <p:cNvSpPr txBox="1"/>
          <p:nvPr/>
        </p:nvSpPr>
        <p:spPr>
          <a:xfrm>
            <a:off x="4837841" y="3637410"/>
            <a:ext cx="7420532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b="1" sz="4000">
                <a:latin typeface="Courier"/>
                <a:ea typeface="Courier"/>
                <a:cs typeface="Courier"/>
                <a:sym typeface="Courier"/>
              </a:defRPr>
            </a:pPr>
            <a:r>
              <a:t>/offices/{id}/desks/</a:t>
            </a:r>
            <a:r>
              <a:rPr>
                <a:solidFill>
                  <a:srgbClr val="808080"/>
                </a:solidFill>
              </a:rPr>
              <a:t>{id}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Operationen auf eine Ressource</a:t>
            </a:r>
          </a:p>
        </p:txBody>
      </p:sp>
      <p:graphicFrame>
        <p:nvGraphicFramePr>
          <p:cNvPr id="246" name="Inhaltsplatzhalter 3"/>
          <p:cNvGraphicFramePr/>
          <p:nvPr/>
        </p:nvGraphicFramePr>
        <p:xfrm>
          <a:off x="838200" y="1690688"/>
          <a:ext cx="10515600" cy="480218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4220191"/>
                <a:gridCol w="1978513"/>
                <a:gridCol w="4316895"/>
              </a:tblGrid>
              <a:tr h="33436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500"/>
                        </a:spcBef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Aktion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500"/>
                        </a:spcBef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HTTP-Methode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500"/>
                        </a:spcBef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URI</a:t>
                      </a:r>
                    </a:p>
                  </a:txBody>
                  <a:tcPr marL="0" marR="0" marT="0" marB="0" anchor="ctr" anchorCtr="0" horzOverflow="overflow"/>
                </a:tc>
              </a:tr>
              <a:tr h="3343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alle Büros auslesen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GET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/offices</a:t>
                      </a:r>
                    </a:p>
                  </a:txBody>
                  <a:tcPr marL="0" marR="0" marT="0" marB="0" anchor="ctr" anchorCtr="0" horzOverflow="overflow"/>
                </a:tc>
              </a:tr>
              <a:tr h="3343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neues Büro anlegen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POST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/offices</a:t>
                      </a:r>
                    </a:p>
                  </a:txBody>
                  <a:tcPr marL="0" marR="0" marT="0" marB="0" anchor="ctr" anchorCtr="0" horzOverflow="overflow"/>
                </a:tc>
              </a:tr>
              <a:tr h="3343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Büro mit der ID {x} auslesen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GET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/offices/{id}</a:t>
                      </a:r>
                    </a:p>
                  </a:txBody>
                  <a:tcPr marL="0" marR="0" marT="0" marB="0" anchor="ctr" anchorCtr="0" horzOverflow="overflow"/>
                </a:tc>
              </a:tr>
              <a:tr h="3343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Büro mit der ID {x} komplett aktualisieren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PUT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/offices/{id}</a:t>
                      </a:r>
                    </a:p>
                  </a:txBody>
                  <a:tcPr marL="0" marR="0" marT="0" marB="0" anchor="ctr" anchorCtr="0" horzOverflow="overflow"/>
                </a:tc>
              </a:tr>
              <a:tr h="3343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Büro mit der ID {x} teilweise aktualisieren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PATCH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/offices/{id}</a:t>
                      </a:r>
                    </a:p>
                  </a:txBody>
                  <a:tcPr marL="0" marR="0" marT="0" marB="0" anchor="ctr" anchorCtr="0" horzOverflow="overflow"/>
                </a:tc>
              </a:tr>
              <a:tr h="3343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Büro mit der ID {x} löschen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DELETE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/offices/{id}</a:t>
                      </a:r>
                    </a:p>
                  </a:txBody>
                  <a:tcPr marL="0" marR="0" marT="0" marB="0" anchor="ctr" anchorCtr="0" horzOverflow="overflow"/>
                </a:tc>
              </a:tr>
              <a:tr h="7090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alle Schreibtische, die in dem Büro mit der ID {x} stehen, auslesen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GET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/offices/{id}/desks/</a:t>
                      </a:r>
                    </a:p>
                  </a:txBody>
                  <a:tcPr marL="0" marR="0" marT="0" marB="0" anchor="ctr" anchorCtr="0" horzOverflow="overflow"/>
                </a:tc>
              </a:tr>
              <a:tr h="7090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einen neuen Schreibtisch anlegen, der in dem Büro mit der ID {x} steht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POST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/offices/{id}/desks/</a:t>
                      </a:r>
                    </a:p>
                  </a:txBody>
                  <a:tcPr marL="0" marR="0" marT="0" marB="0" anchor="ctr" anchorCtr="0" horzOverflow="overflow"/>
                </a:tc>
              </a:tr>
              <a:tr h="7090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Schreibtisch mit der ID {y} auslesen, der in dem Büro mit der ID {x} steht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GET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/offices/{id}/desks/{id}</a:t>
                      </a:r>
                    </a:p>
                  </a:txBody>
                  <a:tcPr marL="0" marR="0" marT="0" marB="0" anchor="ctr" anchorCtr="0" horzOverflow="overflow"/>
                </a:tc>
              </a:tr>
              <a:tr h="334363">
                <a:tc grid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…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Antworten mit HTTP-Statuscodes</a:t>
            </a:r>
          </a:p>
        </p:txBody>
      </p:sp>
      <p:sp>
        <p:nvSpPr>
          <p:cNvPr id="251" name="Inhaltsplatzhalter 2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anchor="ctr"/>
          <a:lstStyle/>
          <a:p>
            <a:pPr marL="0" indent="0">
              <a:lnSpc>
                <a:spcPct val="150000"/>
              </a:lnSpc>
              <a:buSzTx/>
              <a:buNone/>
              <a:defRPr sz="4000">
                <a:latin typeface="Courier"/>
                <a:ea typeface="Courier"/>
                <a:cs typeface="Courier"/>
                <a:sym typeface="Courier"/>
              </a:defRPr>
            </a:pPr>
            <a:r>
              <a:t>GET		 </a:t>
            </a:r>
            <a:r>
              <a:rPr b="1"/>
              <a:t>/offices</a:t>
            </a:r>
            <a:r>
              <a:t>		 </a:t>
            </a:r>
            <a:r>
              <a:rPr>
                <a:solidFill>
                  <a:schemeClr val="accent6"/>
                </a:solidFill>
              </a:rPr>
              <a:t>200 OK</a:t>
            </a:r>
            <a:endParaRPr>
              <a:solidFill>
                <a:schemeClr val="accent6"/>
              </a:solidFill>
            </a:endParaRPr>
          </a:p>
          <a:p>
            <a:pPr marL="0" indent="0">
              <a:lnSpc>
                <a:spcPct val="150000"/>
              </a:lnSpc>
              <a:buSzTx/>
              <a:buNone/>
              <a:defRPr sz="4000">
                <a:latin typeface="Courier"/>
                <a:ea typeface="Courier"/>
                <a:cs typeface="Courier"/>
                <a:sym typeface="Courier"/>
              </a:defRPr>
            </a:pPr>
            <a:r>
              <a:t>POST	 </a:t>
            </a:r>
            <a:r>
              <a:rPr b="1"/>
              <a:t>/offices</a:t>
            </a:r>
            <a:r>
              <a:t>		 </a:t>
            </a:r>
            <a:r>
              <a:rPr>
                <a:solidFill>
                  <a:schemeClr val="accent6"/>
                </a:solidFill>
              </a:rPr>
              <a:t>201 Created</a:t>
            </a:r>
            <a:endParaRPr>
              <a:solidFill>
                <a:schemeClr val="accent6"/>
              </a:solidFill>
            </a:endParaRPr>
          </a:p>
          <a:p>
            <a:pPr marL="0" indent="0">
              <a:lnSpc>
                <a:spcPct val="150000"/>
              </a:lnSpc>
              <a:buSzTx/>
              <a:buNone/>
              <a:defRPr sz="4000">
                <a:latin typeface="Courier"/>
                <a:ea typeface="Courier"/>
                <a:cs typeface="Courier"/>
                <a:sym typeface="Courier"/>
              </a:defRPr>
            </a:pPr>
            <a:r>
              <a:t>DELETE	 </a:t>
            </a:r>
            <a:r>
              <a:rPr b="1"/>
              <a:t>/offices/1</a:t>
            </a:r>
            <a:r>
              <a:t>	 </a:t>
            </a:r>
            <a:r>
              <a:rPr>
                <a:solidFill>
                  <a:schemeClr val="accent6"/>
                </a:solidFill>
              </a:rPr>
              <a:t>202 No Content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Antworten mit HTTP-Statuscodes</a:t>
            </a:r>
          </a:p>
        </p:txBody>
      </p:sp>
      <p:sp>
        <p:nvSpPr>
          <p:cNvPr id="256" name="Inhaltsplatzhalter 2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anchor="ctr"/>
          <a:lstStyle/>
          <a:p>
            <a:pPr marL="0" indent="0">
              <a:lnSpc>
                <a:spcPct val="120000"/>
              </a:lnSpc>
              <a:buSzTx/>
              <a:buNone/>
              <a:defRPr sz="3100">
                <a:latin typeface="Courier"/>
                <a:ea typeface="Courier"/>
                <a:cs typeface="Courier"/>
                <a:sym typeface="Courier"/>
              </a:defRPr>
            </a:pPr>
            <a:r>
              <a:t>GET		</a:t>
            </a:r>
            <a:r>
              <a:rPr b="1"/>
              <a:t>/offices</a:t>
            </a:r>
            <a:r>
              <a:t>		  </a:t>
            </a:r>
            <a:r>
              <a:rPr>
                <a:solidFill>
                  <a:srgbClr val="FF0000"/>
                </a:solidFill>
              </a:rPr>
              <a:t>400 Bad Request</a:t>
            </a:r>
            <a:endParaRPr sz="2100"/>
          </a:p>
          <a:p>
            <a:pPr marL="0" indent="0">
              <a:lnSpc>
                <a:spcPct val="120000"/>
              </a:lnSpc>
              <a:buSzTx/>
              <a:buNone/>
              <a:defRPr sz="3100">
                <a:latin typeface="Courier"/>
                <a:ea typeface="Courier"/>
                <a:cs typeface="Courier"/>
                <a:sym typeface="Courier"/>
              </a:defRPr>
            </a:pPr>
            <a:r>
              <a:t>GET		</a:t>
            </a:r>
            <a:r>
              <a:rPr b="1"/>
              <a:t>/offices</a:t>
            </a:r>
            <a:r>
              <a:t>		  </a:t>
            </a:r>
            <a:r>
              <a:rPr>
                <a:solidFill>
                  <a:srgbClr val="FF0000"/>
                </a:solidFill>
              </a:rPr>
              <a:t>401 Unauthorized</a:t>
            </a:r>
            <a:endParaRPr sz="4000">
              <a:solidFill>
                <a:srgbClr val="FF0000"/>
              </a:solidFill>
            </a:endParaRPr>
          </a:p>
          <a:p>
            <a:pPr marL="0" indent="0">
              <a:lnSpc>
                <a:spcPct val="120000"/>
              </a:lnSpc>
              <a:buSzTx/>
              <a:buNone/>
              <a:defRPr sz="3100">
                <a:latin typeface="Courier"/>
                <a:ea typeface="Courier"/>
                <a:cs typeface="Courier"/>
                <a:sym typeface="Courier"/>
              </a:defRPr>
            </a:pPr>
            <a:r>
              <a:t>GET		</a:t>
            </a:r>
            <a:r>
              <a:rPr b="1"/>
              <a:t>/offices/2</a:t>
            </a:r>
            <a:r>
              <a:t>	</a:t>
            </a:r>
            <a:r>
              <a:rPr>
                <a:solidFill>
                  <a:srgbClr val="FF0000"/>
                </a:solidFill>
              </a:rPr>
              <a:t>  403 Forbidden</a:t>
            </a:r>
            <a:endParaRPr sz="4000">
              <a:solidFill>
                <a:srgbClr val="FF0000"/>
              </a:solidFill>
            </a:endParaRPr>
          </a:p>
          <a:p>
            <a:pPr marL="0" indent="0">
              <a:lnSpc>
                <a:spcPct val="120000"/>
              </a:lnSpc>
              <a:buSzTx/>
              <a:buNone/>
              <a:defRPr sz="3100">
                <a:latin typeface="Courier"/>
                <a:ea typeface="Courier"/>
                <a:cs typeface="Courier"/>
                <a:sym typeface="Courier"/>
              </a:defRPr>
            </a:pPr>
            <a:r>
              <a:t>GET		</a:t>
            </a:r>
            <a:r>
              <a:rPr b="1"/>
              <a:t>/offices/7</a:t>
            </a:r>
            <a:r>
              <a:t>	  </a:t>
            </a:r>
            <a:r>
              <a:rPr>
                <a:solidFill>
                  <a:srgbClr val="FF0000"/>
                </a:solidFill>
              </a:rPr>
              <a:t>404 Not Found</a:t>
            </a:r>
            <a:endParaRPr sz="4000">
              <a:solidFill>
                <a:srgbClr val="FF0000"/>
              </a:solidFill>
            </a:endParaRPr>
          </a:p>
          <a:p>
            <a:pPr marL="0" indent="0">
              <a:lnSpc>
                <a:spcPct val="120000"/>
              </a:lnSpc>
              <a:buSzTx/>
              <a:buNone/>
              <a:defRPr sz="3100">
                <a:latin typeface="Courier"/>
                <a:ea typeface="Courier"/>
                <a:cs typeface="Courier"/>
                <a:sym typeface="Courier"/>
              </a:defRPr>
            </a:pPr>
            <a:r>
              <a:t>POST		</a:t>
            </a:r>
            <a:r>
              <a:rPr b="1"/>
              <a:t>/offices</a:t>
            </a:r>
            <a:r>
              <a:t>		  </a:t>
            </a:r>
            <a:r>
              <a:rPr>
                <a:solidFill>
                  <a:srgbClr val="FF0000"/>
                </a:solidFill>
              </a:rPr>
              <a:t>422 Unprocessable Entity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Antworten mit HTTP-Statuscodes</a:t>
            </a:r>
          </a:p>
        </p:txBody>
      </p:sp>
      <p:sp>
        <p:nvSpPr>
          <p:cNvPr id="259" name="Inhaltsplatzhalter 2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anchor="ctr"/>
          <a:lstStyle/>
          <a:p>
            <a:pPr marL="0" indent="0" algn="ctr">
              <a:lnSpc>
                <a:spcPct val="150000"/>
              </a:lnSpc>
              <a:buSzTx/>
              <a:buNone/>
              <a:defRPr sz="4000">
                <a:solidFill>
                  <a:schemeClr val="accent1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3xx Umleitungen</a:t>
            </a:r>
          </a:p>
          <a:p>
            <a:pPr marL="0" indent="0" algn="ctr">
              <a:lnSpc>
                <a:spcPct val="150000"/>
              </a:lnSpc>
              <a:buSzTx/>
              <a:buNone/>
              <a:defRPr sz="4000">
                <a:solidFill>
                  <a:srgbClr val="C000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5xx Server-Fehler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Anpassung der Antwort</a:t>
            </a:r>
          </a:p>
        </p:txBody>
      </p:sp>
      <p:sp>
        <p:nvSpPr>
          <p:cNvPr id="262" name="Inhaltsplatzhalter 2"/>
          <p:cNvSpPr txBox="1"/>
          <p:nvPr>
            <p:ph type="body" idx="1"/>
          </p:nvPr>
        </p:nvSpPr>
        <p:spPr>
          <a:xfrm>
            <a:off x="838199" y="1825625"/>
            <a:ext cx="10515601" cy="4351338"/>
          </a:xfrm>
          <a:prstGeom prst="rect">
            <a:avLst/>
          </a:prstGeom>
        </p:spPr>
        <p:txBody>
          <a:bodyPr anchor="ctr"/>
          <a:lstStyle/>
          <a:p>
            <a:pPr marL="0" indent="0" defTabSz="886968">
              <a:spcBef>
                <a:spcPts val="900"/>
              </a:spcBef>
              <a:buSzTx/>
              <a:buNone/>
              <a:defRPr b="1" sz="2716">
                <a:latin typeface="Courier"/>
                <a:ea typeface="Courier"/>
                <a:cs typeface="Courier"/>
                <a:sym typeface="Courier"/>
              </a:defRPr>
            </a:pPr>
            <a:r>
              <a:t>Content-Type: 	</a:t>
            </a:r>
            <a:r>
              <a:rPr b="0"/>
              <a:t>   application/json</a:t>
            </a:r>
          </a:p>
          <a:p>
            <a:pPr marL="0" indent="0" defTabSz="886968">
              <a:spcBef>
                <a:spcPts val="900"/>
              </a:spcBef>
              <a:buSzTx/>
              <a:buNone/>
              <a:defRPr b="1" sz="2716">
                <a:latin typeface="Courier"/>
                <a:ea typeface="Courier"/>
                <a:cs typeface="Courier"/>
                <a:sym typeface="Courier"/>
              </a:defRPr>
            </a:pPr>
            <a:r>
              <a:t>Accept: </a:t>
            </a:r>
            <a:r>
              <a:rPr b="0"/>
              <a:t>		   application/json</a:t>
            </a:r>
          </a:p>
          <a:p>
            <a:pPr marL="0" indent="0" defTabSz="886968">
              <a:spcBef>
                <a:spcPts val="900"/>
              </a:spcBef>
              <a:buSzTx/>
              <a:buNone/>
              <a:defRPr b="1" sz="2716">
                <a:latin typeface="Courier"/>
                <a:ea typeface="Courier"/>
                <a:cs typeface="Courier"/>
                <a:sym typeface="Courier"/>
              </a:defRPr>
            </a:pPr>
            <a:r>
              <a:t>Accept: </a:t>
            </a:r>
            <a:r>
              <a:rPr b="0"/>
              <a:t>		   application/xml</a:t>
            </a:r>
          </a:p>
          <a:p>
            <a:pPr marL="0" indent="0" defTabSz="886968">
              <a:spcBef>
                <a:spcPts val="900"/>
              </a:spcBef>
              <a:buSzTx/>
              <a:buNone/>
              <a:defRPr b="1" sz="2716">
                <a:latin typeface="Courier"/>
                <a:ea typeface="Courier"/>
                <a:cs typeface="Courier"/>
                <a:sym typeface="Courier"/>
              </a:defRPr>
            </a:pPr>
            <a:r>
              <a:t>Accept: </a:t>
            </a:r>
            <a:r>
              <a:rPr b="0"/>
              <a:t>		   application/ical</a:t>
            </a:r>
          </a:p>
          <a:p>
            <a:pPr marL="0" indent="0" defTabSz="886968">
              <a:spcBef>
                <a:spcPts val="900"/>
              </a:spcBef>
              <a:buSzTx/>
              <a:buNone/>
              <a:defRPr b="1" sz="2716">
                <a:latin typeface="Courier"/>
                <a:ea typeface="Courier"/>
                <a:cs typeface="Courier"/>
                <a:sym typeface="Courier"/>
              </a:defRPr>
            </a:pPr>
            <a:r>
              <a:t>Accept: </a:t>
            </a:r>
            <a:r>
              <a:rPr b="0"/>
              <a:t>	 	   application/csv</a:t>
            </a:r>
          </a:p>
          <a:p>
            <a:pPr marL="0" indent="0" defTabSz="886968">
              <a:spcBef>
                <a:spcPts val="900"/>
              </a:spcBef>
              <a:buSzTx/>
              <a:buNone/>
              <a:defRPr b="1" sz="2716">
                <a:latin typeface="Courier"/>
                <a:ea typeface="Courier"/>
                <a:cs typeface="Courier"/>
                <a:sym typeface="Courier"/>
              </a:defRPr>
            </a:pPr>
            <a:r>
              <a:t>Accept-version:  </a:t>
            </a:r>
            <a:r>
              <a:rPr b="0"/>
              <a:t>v10</a:t>
            </a:r>
            <a:endParaRPr b="0"/>
          </a:p>
          <a:p>
            <a:pPr marL="0" indent="0" defTabSz="886968">
              <a:spcBef>
                <a:spcPts val="900"/>
              </a:spcBef>
              <a:buSzTx/>
              <a:buNone/>
              <a:defRPr b="1" sz="2716">
                <a:latin typeface="Courier"/>
                <a:ea typeface="Courier"/>
                <a:cs typeface="Courier"/>
                <a:sym typeface="Courier"/>
              </a:defRPr>
            </a:pPr>
            <a:r>
              <a:t>Authorization:	</a:t>
            </a:r>
            <a:r>
              <a:rPr b="0"/>
              <a:t>   Bearer: apsofijawßef9ijavsdvoinam49</a:t>
            </a:r>
            <a:endParaRPr b="0"/>
          </a:p>
          <a:p>
            <a:pPr marL="0" indent="0" defTabSz="886968">
              <a:spcBef>
                <a:spcPts val="900"/>
              </a:spcBef>
              <a:buSzTx/>
              <a:buNone/>
              <a:defRPr b="1" sz="2716">
                <a:latin typeface="Courier"/>
                <a:ea typeface="Courier"/>
                <a:cs typeface="Courier"/>
                <a:sym typeface="Courier"/>
              </a:defRPr>
            </a:pPr>
            <a:r>
              <a:t>Cache-Control:   </a:t>
            </a:r>
            <a:r>
              <a:rPr b="0"/>
              <a:t>max-age=300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Titel 3"/>
          <p:cNvSpPr txBox="1"/>
          <p:nvPr>
            <p:ph type="title"/>
          </p:nvPr>
        </p:nvSpPr>
        <p:spPr>
          <a:xfrm>
            <a:off x="831850" y="1709738"/>
            <a:ext cx="10515600" cy="2852738"/>
          </a:xfrm>
          <a:prstGeom prst="rect">
            <a:avLst/>
          </a:prstGeom>
        </p:spPr>
        <p:txBody>
          <a:bodyPr/>
          <a:lstStyle/>
          <a:p>
            <a:pPr/>
            <a:r>
              <a:t>OpenAPI</a:t>
            </a:r>
          </a:p>
        </p:txBody>
      </p:sp>
      <p:sp>
        <p:nvSpPr>
          <p:cNvPr id="265" name="Textplatzhalt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API-Beschreibungen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API-Beschreibungen</a:t>
            </a:r>
          </a:p>
        </p:txBody>
      </p:sp>
      <p:sp>
        <p:nvSpPr>
          <p:cNvPr id="268" name="Formale Beschreibung der API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Formale Beschreibung der API </a:t>
            </a:r>
          </a:p>
          <a:p>
            <a:pPr/>
            <a:r>
              <a:t>WSDL für APIs</a:t>
            </a:r>
          </a:p>
          <a:p>
            <a:pPr lvl="1" marL="685800" indent="-228600"/>
            <a:r>
              <a:t>Nur Beschreibung, keine Implementierung</a:t>
            </a:r>
          </a:p>
          <a:p>
            <a:pPr/>
            <a:r>
              <a:t>Beschreibungsformate</a:t>
            </a:r>
          </a:p>
          <a:p>
            <a:pPr lvl="1" marL="685800" indent="-228600"/>
            <a:r>
              <a:t>API Blueprint</a:t>
            </a:r>
          </a:p>
          <a:p>
            <a:pPr lvl="1" marL="685800" indent="-228600"/>
            <a:r>
              <a:t>RAML</a:t>
            </a:r>
          </a:p>
          <a:p>
            <a:pPr lvl="1" marL="685800" indent="-228600"/>
            <a:r>
              <a:t>OpenAPI</a:t>
            </a:r>
          </a:p>
        </p:txBody>
      </p:sp>
      <p:pic>
        <p:nvPicPr>
          <p:cNvPr id="269" name="Grafik 9" descr="Grafik 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086216" y="4118277"/>
            <a:ext cx="1290763" cy="1771046"/>
          </a:xfrm>
          <a:prstGeom prst="rect">
            <a:avLst/>
          </a:prstGeom>
          <a:ln w="12700">
            <a:miter lim="400000"/>
          </a:ln>
        </p:spPr>
      </p:pic>
      <p:sp>
        <p:nvSpPr>
          <p:cNvPr id="270" name="https://nordicapis.com/top-specification-formats-for-rest-apis/">
            <a:hlinkClick r:id="rId3" invalidUrl="" action="" tgtFrame="" tooltip="" history="1" highlightClick="0" endSnd="0"/>
          </p:cNvPr>
          <p:cNvSpPr txBox="1"/>
          <p:nvPr/>
        </p:nvSpPr>
        <p:spPr>
          <a:xfrm>
            <a:off x="868605" y="6085769"/>
            <a:ext cx="5558593" cy="3133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600" u="sng">
                <a:solidFill>
                  <a:schemeClr val="accent1">
                    <a:satOff val="-3547"/>
                    <a:lumOff val="-10352"/>
                  </a:schemeClr>
                </a:solidFill>
              </a:defRPr>
            </a:lvl1pPr>
          </a:lstStyle>
          <a:p>
            <a:pPr/>
            <a:r>
              <a:t>https://nordicapis.com/top-specification-formats-for-rest-apis/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OpenAPI Entstehung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OpenAPI Entstehung</a:t>
            </a:r>
          </a:p>
        </p:txBody>
      </p:sp>
      <p:sp>
        <p:nvSpPr>
          <p:cNvPr id="273" name="Version 1.0.0 2011 (Swagger)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Version 1.0.0 2011 (Swagger)</a:t>
            </a:r>
          </a:p>
          <a:p>
            <a:pPr/>
            <a:r>
              <a:t>Apache 2.0 Open-Source-Lizenz</a:t>
            </a:r>
          </a:p>
          <a:p>
            <a:pPr/>
            <a:r>
              <a:t>Seit 2014 populäre als RAML und API Blueprint</a:t>
            </a:r>
          </a:p>
          <a:p>
            <a:pPr/>
            <a:r>
              <a:t>2015 von SmartBear an die Linux Foundation</a:t>
            </a:r>
          </a:p>
          <a:p>
            <a:pPr/>
            <a:r>
              <a:t>2016 in OpenAPI-Specification (OAS)</a:t>
            </a:r>
          </a:p>
          <a:p>
            <a:pPr/>
            <a:r>
              <a:t>2017 Version 3.0.0</a:t>
            </a:r>
          </a:p>
          <a:p>
            <a:pPr/>
            <a:r>
              <a:t>Aktuell Version 3.0.2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Exkurs YAML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Exkurs YAML</a:t>
            </a:r>
          </a:p>
        </p:txBody>
      </p:sp>
      <p:sp>
        <p:nvSpPr>
          <p:cNvPr id="276" name="OAS wird in YAML/JSON geschrieben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201168" indent="-201168" defTabSz="804672">
              <a:spcBef>
                <a:spcPts val="800"/>
              </a:spcBef>
              <a:defRPr sz="2464"/>
            </a:pPr>
            <a:r>
              <a:t>OAS wird in YAML/JSON geschrieben</a:t>
            </a:r>
          </a:p>
          <a:p>
            <a:pPr marL="201168" indent="-201168" defTabSz="804672">
              <a:spcBef>
                <a:spcPts val="800"/>
              </a:spcBef>
              <a:defRPr sz="2464"/>
            </a:pPr>
            <a:r>
              <a:t>„YAML Ain’t Markup Language“</a:t>
            </a:r>
          </a:p>
          <a:p>
            <a:pPr marL="201168" indent="-201168" defTabSz="804672">
              <a:spcBef>
                <a:spcPts val="800"/>
              </a:spcBef>
              <a:defRPr sz="2464"/>
            </a:pPr>
            <a:r>
              <a:t>2001 spezifiziert</a:t>
            </a:r>
          </a:p>
          <a:p>
            <a:pPr marL="201168" indent="-201168" defTabSz="804672">
              <a:spcBef>
                <a:spcPts val="800"/>
              </a:spcBef>
              <a:defRPr sz="2464"/>
            </a:pPr>
            <a:r>
              <a:t>Zum Austausch/Speichern von beliebigen Datenstrukturen</a:t>
            </a:r>
          </a:p>
          <a:p>
            <a:pPr lvl="1" marL="603504" indent="-201168" defTabSz="804672">
              <a:spcBef>
                <a:spcPts val="800"/>
              </a:spcBef>
              <a:defRPr sz="2464"/>
            </a:pPr>
            <a:r>
              <a:t>Skalare</a:t>
            </a:r>
          </a:p>
          <a:p>
            <a:pPr lvl="1" marL="603504" indent="-201168" defTabSz="804672">
              <a:spcBef>
                <a:spcPts val="800"/>
              </a:spcBef>
              <a:defRPr sz="2464"/>
            </a:pPr>
            <a:r>
              <a:t>Listen (Arrays)</a:t>
            </a:r>
          </a:p>
          <a:p>
            <a:pPr lvl="1" marL="603504" indent="-201168" defTabSz="804672">
              <a:spcBef>
                <a:spcPts val="800"/>
              </a:spcBef>
              <a:defRPr sz="2464"/>
            </a:pPr>
            <a:r>
              <a:t>Objekte (Dictionaries/Maps)</a:t>
            </a:r>
          </a:p>
          <a:p>
            <a:pPr marL="201168" indent="-201168" defTabSz="804672">
              <a:spcBef>
                <a:spcPts val="800"/>
              </a:spcBef>
              <a:defRPr sz="2464"/>
            </a:pPr>
            <a:r>
              <a:t>Superset von JSON</a:t>
            </a:r>
          </a:p>
          <a:p>
            <a:pPr marL="201168" indent="-201168" defTabSz="804672">
              <a:spcBef>
                <a:spcPts val="800"/>
              </a:spcBef>
              <a:defRPr sz="2464"/>
            </a:pPr>
            <a:r>
              <a:t>Whitespace-sensitiv</a:t>
            </a:r>
          </a:p>
          <a:p>
            <a:pPr marL="201168" indent="-201168" defTabSz="804672">
              <a:spcBef>
                <a:spcPts val="800"/>
              </a:spcBef>
              <a:defRPr sz="2464"/>
            </a:pPr>
            <a:r>
              <a:t>Menschenlesbar(er als XML)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Exkurs YAML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Exkurs YAML</a:t>
            </a:r>
          </a:p>
        </p:txBody>
      </p:sp>
      <p:sp>
        <p:nvSpPr>
          <p:cNvPr id="279" name="# Kommentar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solidFill>
                  <a:schemeClr val="accent6">
                    <a:lumOff val="-9568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# Kommentar</a:t>
            </a: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11480"/>
                </a:solidFill>
              </a:rPr>
              <a:t>id</a:t>
            </a:r>
            <a:r>
              <a:t>: 731</a:t>
            </a:r>
            <a:endParaRPr>
              <a:latin typeface="Times"/>
              <a:ea typeface="Times"/>
              <a:cs typeface="Times"/>
              <a:sym typeface="Times"/>
            </a:endParaRP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11480"/>
                </a:solidFill>
              </a:rPr>
              <a:t>customer</a:t>
            </a:r>
            <a:r>
              <a:t>: 17</a:t>
            </a:r>
            <a:endParaRPr>
              <a:latin typeface="Times"/>
              <a:ea typeface="Times"/>
              <a:cs typeface="Times"/>
              <a:sym typeface="Times"/>
            </a:endParaRP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11480"/>
                </a:solidFill>
              </a:rPr>
              <a:t>items</a:t>
            </a:r>
            <a:r>
              <a:t>:</a:t>
            </a:r>
            <a:endParaRPr>
              <a:latin typeface="Times"/>
              <a:ea typeface="Times"/>
              <a:cs typeface="Times"/>
              <a:sym typeface="Times"/>
            </a:endParaRP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t>- </a:t>
            </a:r>
            <a:r>
              <a:rPr>
                <a:solidFill>
                  <a:srgbClr val="011480"/>
                </a:solidFill>
              </a:rPr>
              <a:t>quantity</a:t>
            </a:r>
            <a:r>
              <a:t>: 5</a:t>
            </a:r>
            <a:endParaRPr>
              <a:latin typeface="Times"/>
              <a:ea typeface="Times"/>
              <a:cs typeface="Times"/>
              <a:sym typeface="Times"/>
            </a:endParaRP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t>  </a:t>
            </a:r>
            <a:r>
              <a:rPr>
                <a:solidFill>
                  <a:srgbClr val="011480"/>
                </a:solidFill>
              </a:rPr>
              <a:t>description</a:t>
            </a:r>
            <a:r>
              <a:t>: Oolong</a:t>
            </a:r>
            <a:endParaRPr>
              <a:latin typeface="Times"/>
              <a:ea typeface="Times"/>
              <a:cs typeface="Times"/>
              <a:sym typeface="Times"/>
            </a:endParaRP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t>  </a:t>
            </a:r>
            <a:r>
              <a:rPr>
                <a:solidFill>
                  <a:srgbClr val="011480"/>
                </a:solidFill>
              </a:rPr>
              <a:t>price</a:t>
            </a:r>
            <a:r>
              <a:t>: 5.98</a:t>
            </a:r>
            <a:endParaRPr>
              <a:latin typeface="Times"/>
              <a:ea typeface="Times"/>
              <a:cs typeface="Times"/>
              <a:sym typeface="Times"/>
            </a:endParaRP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t>- </a:t>
            </a:r>
            <a:r>
              <a:rPr>
                <a:solidFill>
                  <a:srgbClr val="011480"/>
                </a:solidFill>
              </a:rPr>
              <a:t>quantity</a:t>
            </a:r>
            <a:r>
              <a:t>: 2</a:t>
            </a:r>
            <a:endParaRPr>
              <a:latin typeface="Times"/>
              <a:ea typeface="Times"/>
              <a:cs typeface="Times"/>
              <a:sym typeface="Times"/>
            </a:endParaRP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t>  </a:t>
            </a:r>
            <a:r>
              <a:rPr>
                <a:solidFill>
                  <a:srgbClr val="011480"/>
                </a:solidFill>
              </a:rPr>
              <a:t>description</a:t>
            </a:r>
            <a:r>
              <a:t>: Assam</a:t>
            </a:r>
            <a:endParaRPr>
              <a:latin typeface="Times"/>
              <a:ea typeface="Times"/>
              <a:cs typeface="Times"/>
              <a:sym typeface="Times"/>
            </a:endParaRP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t>  </a:t>
            </a:r>
            <a:r>
              <a:rPr>
                <a:solidFill>
                  <a:srgbClr val="011480"/>
                </a:solidFill>
              </a:rPr>
              <a:t>price</a:t>
            </a:r>
            <a:r>
              <a:t>: 2.95</a:t>
            </a: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11480"/>
                </a:solidFill>
              </a:rPr>
              <a:t>shippingAddress</a:t>
            </a:r>
            <a:r>
              <a:t>:</a:t>
            </a:r>
          </a:p>
          <a:p>
            <a:pPr lvl="1" marL="0" indent="22860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11480"/>
                </a:solidFill>
              </a:rPr>
              <a:t>street</a:t>
            </a:r>
            <a:r>
              <a:t>: Friedrichswall 10</a:t>
            </a:r>
          </a:p>
          <a:p>
            <a:pPr lvl="1" marL="0" indent="22860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11480"/>
                </a:solidFill>
              </a:rPr>
              <a:t>zip</a:t>
            </a:r>
            <a:r>
              <a:t>: 30159</a:t>
            </a:r>
          </a:p>
          <a:p>
            <a:pPr lvl="1" marL="0" indent="22860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11480"/>
                </a:solidFill>
              </a:rPr>
              <a:t>city</a:t>
            </a:r>
            <a:r>
              <a:t>: Hannover</a:t>
            </a:r>
          </a:p>
        </p:txBody>
      </p:sp>
      <p:sp>
        <p:nvSpPr>
          <p:cNvPr id="280" name="Rechteck"/>
          <p:cNvSpPr/>
          <p:nvPr/>
        </p:nvSpPr>
        <p:spPr>
          <a:xfrm>
            <a:off x="808335" y="2188170"/>
            <a:ext cx="2541687" cy="647006"/>
          </a:xfrm>
          <a:prstGeom prst="rect">
            <a:avLst/>
          </a:prstGeom>
          <a:ln w="12700">
            <a:solidFill>
              <a:srgbClr val="BE1700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81" name="Skalare Werte"/>
          <p:cNvSpPr txBox="1"/>
          <p:nvPr/>
        </p:nvSpPr>
        <p:spPr>
          <a:xfrm>
            <a:off x="4513505" y="1828342"/>
            <a:ext cx="1548295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Skalare Werte</a:t>
            </a:r>
          </a:p>
        </p:txBody>
      </p:sp>
      <p:sp>
        <p:nvSpPr>
          <p:cNvPr id="282" name="Linie"/>
          <p:cNvSpPr/>
          <p:nvPr/>
        </p:nvSpPr>
        <p:spPr>
          <a:xfrm flipH="1">
            <a:off x="3389659" y="2031851"/>
            <a:ext cx="1151187" cy="481608"/>
          </a:xfrm>
          <a:prstGeom prst="line">
            <a:avLst/>
          </a:prstGeom>
          <a:ln w="12700">
            <a:solidFill>
              <a:schemeClr val="accent1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283" name="Rechteck"/>
          <p:cNvSpPr/>
          <p:nvPr/>
        </p:nvSpPr>
        <p:spPr>
          <a:xfrm>
            <a:off x="808335" y="3086736"/>
            <a:ext cx="3392240" cy="1881147"/>
          </a:xfrm>
          <a:prstGeom prst="rect">
            <a:avLst/>
          </a:prstGeom>
          <a:ln w="12700">
            <a:solidFill>
              <a:srgbClr val="BE1700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84" name="Liste von Objekten"/>
          <p:cNvSpPr txBox="1"/>
          <p:nvPr/>
        </p:nvSpPr>
        <p:spPr>
          <a:xfrm>
            <a:off x="5440605" y="2854920"/>
            <a:ext cx="1997570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Liste von Objekten</a:t>
            </a:r>
          </a:p>
        </p:txBody>
      </p:sp>
      <p:sp>
        <p:nvSpPr>
          <p:cNvPr id="285" name="Linie"/>
          <p:cNvSpPr/>
          <p:nvPr/>
        </p:nvSpPr>
        <p:spPr>
          <a:xfrm flipH="1">
            <a:off x="4316759" y="3058429"/>
            <a:ext cx="1151187" cy="481609"/>
          </a:xfrm>
          <a:prstGeom prst="line">
            <a:avLst/>
          </a:prstGeom>
          <a:ln w="12700">
            <a:solidFill>
              <a:schemeClr val="accent1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286" name="Rechteck"/>
          <p:cNvSpPr/>
          <p:nvPr/>
        </p:nvSpPr>
        <p:spPr>
          <a:xfrm>
            <a:off x="808335" y="5219443"/>
            <a:ext cx="4325839" cy="1038970"/>
          </a:xfrm>
          <a:prstGeom prst="rect">
            <a:avLst/>
          </a:prstGeom>
          <a:ln w="12700">
            <a:solidFill>
              <a:srgbClr val="BE1700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87" name="Einzelnes Objekt"/>
          <p:cNvSpPr txBox="1"/>
          <p:nvPr/>
        </p:nvSpPr>
        <p:spPr>
          <a:xfrm>
            <a:off x="6342305" y="4724143"/>
            <a:ext cx="1819534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Einzelnes Objekt</a:t>
            </a:r>
          </a:p>
        </p:txBody>
      </p:sp>
      <p:sp>
        <p:nvSpPr>
          <p:cNvPr id="288" name="Linie"/>
          <p:cNvSpPr/>
          <p:nvPr/>
        </p:nvSpPr>
        <p:spPr>
          <a:xfrm flipH="1">
            <a:off x="5218459" y="4927652"/>
            <a:ext cx="1151187" cy="481609"/>
          </a:xfrm>
          <a:prstGeom prst="line">
            <a:avLst/>
          </a:prstGeom>
          <a:ln w="12700">
            <a:solidFill>
              <a:schemeClr val="accent1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OAS Specification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OAS Specification</a:t>
            </a:r>
          </a:p>
        </p:txBody>
      </p:sp>
      <p:sp>
        <p:nvSpPr>
          <p:cNvPr id="291" name="openapi: 3.0.2…"/>
          <p:cNvSpPr txBox="1"/>
          <p:nvPr>
            <p:ph type="body" sz="half" idx="1"/>
          </p:nvPr>
        </p:nvSpPr>
        <p:spPr>
          <a:xfrm>
            <a:off x="838200" y="1825624"/>
            <a:ext cx="4768156" cy="4351339"/>
          </a:xfrm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rPr b="1">
                <a:solidFill>
                  <a:srgbClr val="011480"/>
                </a:solidFill>
              </a:rPr>
              <a:t>openapi</a:t>
            </a:r>
            <a:r>
              <a:t>: 3.0.2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info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</a:t>
            </a:r>
            <a:r>
              <a:rPr b="1">
                <a:solidFill>
                  <a:srgbClr val="011480"/>
                </a:solidFill>
              </a:rPr>
              <a:t>title</a:t>
            </a:r>
            <a:r>
              <a:t>: Raumbuchungs-API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</a:t>
            </a:r>
            <a:r>
              <a:rPr b="1">
                <a:solidFill>
                  <a:srgbClr val="011480"/>
                </a:solidFill>
              </a:rPr>
              <a:t>version</a:t>
            </a:r>
            <a:r>
              <a:t>: 0.1.0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API für das Buchen ...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servers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- </a:t>
            </a:r>
            <a:r>
              <a:rPr b="1">
                <a:solidFill>
                  <a:srgbClr val="011480"/>
                </a:solidFill>
              </a:rPr>
              <a:t>url</a:t>
            </a:r>
            <a:r>
              <a:t>: https://test.de/raumbuchungsapi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Testumgebung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- </a:t>
            </a:r>
            <a:r>
              <a:rPr b="1">
                <a:solidFill>
                  <a:srgbClr val="011480"/>
                </a:solidFill>
              </a:rPr>
              <a:t>url</a:t>
            </a:r>
            <a:r>
              <a:t>: https://dev.de/raumbuchungsapi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Entwicklungsumgebung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tags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- </a:t>
            </a:r>
            <a:r>
              <a:rPr b="1">
                <a:solidFill>
                  <a:srgbClr val="011480"/>
                </a:solidFill>
              </a:rPr>
              <a:t>name</a:t>
            </a:r>
            <a:r>
              <a:t>: Besprechungsräume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- </a:t>
            </a:r>
            <a:r>
              <a:rPr b="1">
                <a:solidFill>
                  <a:srgbClr val="011480"/>
                </a:solidFill>
              </a:rPr>
              <a:t>name</a:t>
            </a:r>
            <a:r>
              <a:t>: Raumbuchungen</a:t>
            </a:r>
          </a:p>
        </p:txBody>
      </p:sp>
      <p:sp>
        <p:nvSpPr>
          <p:cNvPr id="292" name="security:…"/>
          <p:cNvSpPr txBox="1"/>
          <p:nvPr/>
        </p:nvSpPr>
        <p:spPr>
          <a:xfrm>
            <a:off x="6982420" y="1825624"/>
            <a:ext cx="4768156" cy="4351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defTabSz="457200">
              <a:defRPr b="1" i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>
                <a:solidFill>
                  <a:schemeClr val="accent1">
                    <a:satOff val="-3547"/>
                    <a:lumOff val="-10352"/>
                  </a:schemeClr>
                </a:solidFill>
              </a:rPr>
              <a:t>security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57200">
              <a:defRPr i="1" sz="1500">
                <a:latin typeface="Menlo"/>
                <a:ea typeface="Menlo"/>
                <a:cs typeface="Menlo"/>
                <a:sym typeface="Menlo"/>
              </a:defRPr>
            </a:pPr>
            <a:r>
              <a:t>  - </a:t>
            </a:r>
            <a:r>
              <a:rPr b="1">
                <a:solidFill>
                  <a:schemeClr val="accent1">
                    <a:satOff val="-3547"/>
                    <a:lumOff val="-10352"/>
                  </a:schemeClr>
                </a:solidFill>
              </a:rPr>
              <a:t>BasicAuth</a:t>
            </a:r>
            <a:r>
              <a:t>: </a:t>
            </a:r>
            <a:r>
              <a:rPr>
                <a:solidFill>
                  <a:schemeClr val="accent3"/>
                </a:solidFill>
              </a:rPr>
              <a:t>[read, write]</a:t>
            </a:r>
            <a:endParaRPr>
              <a:solidFill>
                <a:schemeClr val="accent3"/>
              </a:solidFill>
            </a:endParaRPr>
          </a:p>
          <a:p>
            <a:pPr defTabSz="457200">
              <a:defRPr b="1" i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- </a:t>
            </a:r>
            <a:r>
              <a:rPr>
                <a:solidFill>
                  <a:schemeClr val="accent1">
                    <a:satOff val="-3547"/>
                    <a:lumOff val="-10352"/>
                  </a:schemeClr>
                </a:solidFill>
              </a:rPr>
              <a:t>bearerAuth</a:t>
            </a:r>
            <a:r>
              <a:rPr b="0">
                <a:solidFill>
                  <a:srgbClr val="000000"/>
                </a:solidFill>
              </a:rPr>
              <a:t>: </a:t>
            </a:r>
            <a:r>
              <a:rPr b="0">
                <a:solidFill>
                  <a:schemeClr val="accent3"/>
                </a:solidFill>
              </a:rPr>
              <a:t>[]</a:t>
            </a:r>
            <a:endParaRPr b="0">
              <a:solidFill>
                <a:srgbClr val="000000"/>
              </a:solidFill>
            </a:endParaRPr>
          </a:p>
          <a:p>
            <a:pPr defTabSz="457200">
              <a:defRPr sz="1500">
                <a:latin typeface="Menlo"/>
                <a:ea typeface="Menlo"/>
                <a:cs typeface="Menlo"/>
                <a:sym typeface="Menlo"/>
              </a:defRPr>
            </a:pPr>
          </a:p>
          <a:p>
            <a:pPr defTabSz="457200"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paths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57200">
              <a:defRPr i="1" sz="1500">
                <a:solidFill>
                  <a:srgbClr val="8080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# [..]</a:t>
            </a:r>
          </a:p>
          <a:p>
            <a:pPr defTabSz="457200">
              <a:defRPr i="1" sz="1500">
                <a:solidFill>
                  <a:srgbClr val="808080"/>
                </a:solidFill>
                <a:latin typeface="Menlo"/>
                <a:ea typeface="Menlo"/>
                <a:cs typeface="Menlo"/>
                <a:sym typeface="Menlo"/>
              </a:defRPr>
            </a:pPr>
          </a:p>
          <a:p>
            <a:pPr defTabSz="457200"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components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57200">
              <a:defRPr i="1" sz="1500">
                <a:solidFill>
                  <a:srgbClr val="8080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# [..]</a:t>
            </a:r>
          </a:p>
          <a:p>
            <a:pPr defTabSz="457200">
              <a:defRPr i="1" sz="1500">
                <a:solidFill>
                  <a:srgbClr val="808080"/>
                </a:solidFill>
                <a:latin typeface="Menlo"/>
                <a:ea typeface="Menlo"/>
                <a:cs typeface="Menlo"/>
                <a:sym typeface="Menlo"/>
              </a:defRPr>
            </a:pPr>
          </a:p>
          <a:p>
            <a:pPr defTabSz="457200">
              <a:defRPr b="1" i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>
                <a:solidFill>
                  <a:schemeClr val="accent1">
                    <a:satOff val="-3547"/>
                    <a:lumOff val="-10352"/>
                  </a:schemeClr>
                </a:solidFill>
              </a:rPr>
              <a:t>externalDocs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57200">
              <a:defRPr i="1" sz="1500">
                <a:latin typeface="Menlo"/>
                <a:ea typeface="Menlo"/>
                <a:cs typeface="Menlo"/>
                <a:sym typeface="Menlo"/>
              </a:defRPr>
            </a:pPr>
            <a:r>
              <a:t>  </a:t>
            </a:r>
            <a:r>
              <a:rPr b="1">
                <a:solidFill>
                  <a:schemeClr val="accent1">
                    <a:satOff val="-3547"/>
                    <a:lumOff val="-10352"/>
                  </a:schemeClr>
                </a:solidFill>
              </a:rPr>
              <a:t>description</a:t>
            </a:r>
            <a:r>
              <a:t>: </a:t>
            </a:r>
            <a:r>
              <a:rPr>
                <a:solidFill>
                  <a:schemeClr val="accent3"/>
                </a:solidFill>
              </a:rPr>
              <a:t>zusätzliche Doku zur API</a:t>
            </a:r>
          </a:p>
          <a:p>
            <a:pPr defTabSz="457200">
              <a:defRPr i="1" sz="1500">
                <a:latin typeface="Menlo"/>
                <a:ea typeface="Menlo"/>
                <a:cs typeface="Menlo"/>
                <a:sym typeface="Menlo"/>
              </a:defRPr>
            </a:pPr>
            <a:r>
              <a:t>  </a:t>
            </a:r>
            <a:r>
              <a:rPr b="1">
                <a:solidFill>
                  <a:schemeClr val="accent1">
                    <a:satOff val="-3547"/>
                    <a:lumOff val="-10352"/>
                  </a:schemeClr>
                </a:solidFill>
              </a:rPr>
              <a:t>url</a:t>
            </a:r>
            <a:r>
              <a:t>: </a:t>
            </a:r>
            <a:r>
              <a:rPr>
                <a:solidFill>
                  <a:schemeClr val="accent3"/>
                </a:solidFill>
              </a:rPr>
              <a:t>https://my.doku.domain/fachliches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OAS Specification - Component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OAS Specification - Components</a:t>
            </a:r>
          </a:p>
        </p:txBody>
      </p:sp>
      <p:sp>
        <p:nvSpPr>
          <p:cNvPr id="295" name="paths:…"/>
          <p:cNvSpPr txBox="1"/>
          <p:nvPr>
            <p:ph type="body" sz="half" idx="1"/>
          </p:nvPr>
        </p:nvSpPr>
        <p:spPr>
          <a:xfrm>
            <a:off x="838200" y="1825625"/>
            <a:ext cx="4768156" cy="4351338"/>
          </a:xfrm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paths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</a:t>
            </a:r>
            <a:r>
              <a:t>/rooms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Ressource für Bespre...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</a:t>
            </a:r>
            <a:r>
              <a:rPr b="1">
                <a:solidFill>
                  <a:srgbClr val="011480"/>
                </a:solidFill>
              </a:rPr>
              <a:t>get</a:t>
            </a:r>
            <a:r>
              <a:t>: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b="1">
                <a:solidFill>
                  <a:srgbClr val="011480"/>
                </a:solidFill>
              </a:rPr>
              <a:t>summary</a:t>
            </a:r>
            <a:r>
              <a:t>: Liefert Besprechungsräume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Liefert alle ...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b="1">
                <a:solidFill>
                  <a:srgbClr val="011480"/>
                </a:solidFill>
              </a:rPr>
              <a:t>tags</a:t>
            </a:r>
            <a:r>
              <a:t>: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- Besprechungsräume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</a:t>
            </a:r>
            <a:r>
              <a:t>operationId</a:t>
            </a:r>
            <a:r>
              <a:rPr b="0">
                <a:solidFill>
                  <a:srgbClr val="000000"/>
                </a:solidFill>
              </a:rPr>
              <a:t>: getRooms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</a:t>
            </a:r>
            <a:r>
              <a:t>parameters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- </a:t>
            </a:r>
            <a:r>
              <a:rPr b="1">
                <a:solidFill>
                  <a:srgbClr val="011480"/>
                </a:solidFill>
              </a:rPr>
              <a:t>name</a:t>
            </a:r>
            <a:r>
              <a:t>: capacity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Parameter um ...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  </a:t>
            </a:r>
            <a:r>
              <a:rPr b="1">
                <a:solidFill>
                  <a:srgbClr val="011480"/>
                </a:solidFill>
              </a:rPr>
              <a:t>in</a:t>
            </a:r>
            <a:r>
              <a:t>: query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  </a:t>
            </a:r>
            <a:r>
              <a:rPr b="1">
                <a:solidFill>
                  <a:srgbClr val="011480"/>
                </a:solidFill>
              </a:rPr>
              <a:t>schema</a:t>
            </a:r>
            <a:r>
              <a:t>: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    </a:t>
            </a:r>
            <a:r>
              <a:rPr b="1">
                <a:solidFill>
                  <a:srgbClr val="011480"/>
                </a:solidFill>
              </a:rPr>
              <a:t>type</a:t>
            </a:r>
            <a:r>
              <a:t>: integer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</a:t>
            </a:r>
          </a:p>
        </p:txBody>
      </p:sp>
      <p:sp>
        <p:nvSpPr>
          <p:cNvPr id="296" name="#get:…"/>
          <p:cNvSpPr txBox="1"/>
          <p:nvPr/>
        </p:nvSpPr>
        <p:spPr>
          <a:xfrm>
            <a:off x="6348015" y="1825625"/>
            <a:ext cx="5402561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defTabSz="448055">
              <a:defRPr i="1" sz="1470">
                <a:solidFill>
                  <a:srgbClr val="8080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#get:</a:t>
            </a:r>
          </a:p>
          <a:p>
            <a:pPr defTabSz="448055">
              <a:defRPr b="1" sz="147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 i="1">
                <a:solidFill>
                  <a:srgbClr val="808080"/>
                </a:solidFill>
              </a:rPr>
              <a:t>  </a:t>
            </a:r>
            <a:r>
              <a:t>responses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48055">
              <a:defRPr b="1" sz="147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</a:t>
            </a:r>
            <a:r>
              <a:t>'200'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Erfolgreicher Zugriff.</a:t>
            </a:r>
          </a:p>
          <a:p>
            <a:pPr defTabSz="448055">
              <a:defRPr b="1" sz="147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</a:t>
            </a:r>
            <a:r>
              <a:t>content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48055">
              <a:defRPr b="1" sz="147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  </a:t>
            </a:r>
            <a:r>
              <a:t>application/json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</a:t>
            </a:r>
            <a:r>
              <a:rPr b="1">
                <a:solidFill>
                  <a:srgbClr val="011480"/>
                </a:solidFill>
              </a:rPr>
              <a:t>schema</a:t>
            </a:r>
            <a:r>
              <a:t>: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</a:t>
            </a:r>
            <a:r>
              <a:rPr b="1">
                <a:solidFill>
                  <a:srgbClr val="011480"/>
                </a:solidFill>
              </a:rPr>
              <a:t>type</a:t>
            </a:r>
            <a:r>
              <a:t>: array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</a:t>
            </a:r>
            <a:r>
              <a:rPr b="1">
                <a:solidFill>
                  <a:srgbClr val="011480"/>
                </a:solidFill>
              </a:rPr>
              <a:t>items</a:t>
            </a:r>
            <a:r>
              <a:t>:</a:t>
            </a:r>
          </a:p>
          <a:p>
            <a:pPr defTabSz="448055">
              <a:defRPr b="1" sz="1470">
                <a:solidFill>
                  <a:srgbClr val="018001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        </a:t>
            </a:r>
            <a:r>
              <a:rPr>
                <a:solidFill>
                  <a:srgbClr val="011480"/>
                </a:solidFill>
              </a:rPr>
              <a:t>$ref</a:t>
            </a:r>
            <a:r>
              <a:rPr b="0">
                <a:solidFill>
                  <a:srgbClr val="000000"/>
                </a:solidFill>
              </a:rPr>
              <a:t>: </a:t>
            </a:r>
            <a:r>
              <a:t>'#/components/schemas/Room'</a:t>
            </a:r>
          </a:p>
          <a:p>
            <a:pPr defTabSz="448055">
              <a:defRPr b="1" sz="1470">
                <a:solidFill>
                  <a:srgbClr val="018001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            </a:t>
            </a:r>
            <a:r>
              <a:rPr>
                <a:solidFill>
                  <a:srgbClr val="011480"/>
                </a:solidFill>
              </a:rPr>
              <a:t>example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  - </a:t>
            </a:r>
            <a:r>
              <a:rPr b="1">
                <a:solidFill>
                  <a:srgbClr val="011480"/>
                </a:solidFill>
              </a:rPr>
              <a:t>room_id</a:t>
            </a:r>
            <a:r>
              <a:t>: 6f410920-ea6b-4fbe-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    </a:t>
            </a:r>
            <a:r>
              <a:rPr b="1">
                <a:solidFill>
                  <a:srgbClr val="011480"/>
                </a:solidFill>
              </a:rPr>
              <a:t>name</a:t>
            </a:r>
            <a:r>
              <a:t>: O0_00W50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    </a:t>
            </a:r>
            <a:r>
              <a:rPr b="1">
                <a:solidFill>
                  <a:srgbClr val="011480"/>
                </a:solidFill>
              </a:rPr>
              <a:t>capacity</a:t>
            </a:r>
            <a:r>
              <a:t>: 25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  - </a:t>
            </a:r>
            <a:r>
              <a:rPr b="1">
                <a:solidFill>
                  <a:srgbClr val="011480"/>
                </a:solidFill>
              </a:rPr>
              <a:t>room_id</a:t>
            </a:r>
            <a:r>
              <a:t>: fb904c1b-bc00-4ce9-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    </a:t>
            </a:r>
            <a:r>
              <a:rPr b="1">
                <a:solidFill>
                  <a:srgbClr val="011480"/>
                </a:solidFill>
              </a:rPr>
              <a:t>name</a:t>
            </a:r>
            <a:r>
              <a:t>: O0_00W60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    </a:t>
            </a:r>
            <a:r>
              <a:rPr b="1">
                <a:solidFill>
                  <a:srgbClr val="011480"/>
                </a:solidFill>
              </a:rPr>
              <a:t>capacity</a:t>
            </a:r>
            <a:r>
              <a:t>: 42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OAS Specification - Path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OAS Specification - Paths</a:t>
            </a:r>
          </a:p>
        </p:txBody>
      </p:sp>
      <p:sp>
        <p:nvSpPr>
          <p:cNvPr id="299" name="paths:…"/>
          <p:cNvSpPr txBox="1"/>
          <p:nvPr>
            <p:ph type="body" sz="half" idx="1"/>
          </p:nvPr>
        </p:nvSpPr>
        <p:spPr>
          <a:xfrm>
            <a:off x="838200" y="1825625"/>
            <a:ext cx="4768156" cy="4351338"/>
          </a:xfrm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paths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</a:t>
            </a:r>
            <a:r>
              <a:t>/rooms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Ressource für Bespre...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</a:t>
            </a:r>
            <a:r>
              <a:rPr b="1">
                <a:solidFill>
                  <a:srgbClr val="011480"/>
                </a:solidFill>
              </a:rPr>
              <a:t>get</a:t>
            </a:r>
            <a:r>
              <a:t>: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b="1">
                <a:solidFill>
                  <a:srgbClr val="011480"/>
                </a:solidFill>
              </a:rPr>
              <a:t>summary</a:t>
            </a:r>
            <a:r>
              <a:t>: Liefert Besprechungsräume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Liefert alle ...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b="1">
                <a:solidFill>
                  <a:srgbClr val="011480"/>
                </a:solidFill>
              </a:rPr>
              <a:t>tags</a:t>
            </a:r>
            <a:r>
              <a:t>: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- Besprechungsräume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</a:t>
            </a:r>
            <a:r>
              <a:t>operationId</a:t>
            </a:r>
            <a:r>
              <a:rPr b="0">
                <a:solidFill>
                  <a:srgbClr val="000000"/>
                </a:solidFill>
              </a:rPr>
              <a:t>: getRooms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</a:t>
            </a:r>
            <a:r>
              <a:t>parameters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- </a:t>
            </a:r>
            <a:r>
              <a:rPr b="1">
                <a:solidFill>
                  <a:srgbClr val="011480"/>
                </a:solidFill>
              </a:rPr>
              <a:t>name</a:t>
            </a:r>
            <a:r>
              <a:t>: capacity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Parameter um ...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  </a:t>
            </a:r>
            <a:r>
              <a:rPr b="1">
                <a:solidFill>
                  <a:srgbClr val="011480"/>
                </a:solidFill>
              </a:rPr>
              <a:t>in</a:t>
            </a:r>
            <a:r>
              <a:t>: query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  </a:t>
            </a:r>
            <a:r>
              <a:rPr b="1">
                <a:solidFill>
                  <a:srgbClr val="011480"/>
                </a:solidFill>
              </a:rPr>
              <a:t>schema</a:t>
            </a:r>
            <a:r>
              <a:t>: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    </a:t>
            </a:r>
            <a:r>
              <a:rPr b="1">
                <a:solidFill>
                  <a:srgbClr val="011480"/>
                </a:solidFill>
              </a:rPr>
              <a:t>type</a:t>
            </a:r>
            <a:r>
              <a:t>: integer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</a:t>
            </a:r>
          </a:p>
        </p:txBody>
      </p:sp>
      <p:sp>
        <p:nvSpPr>
          <p:cNvPr id="300" name="#get:…"/>
          <p:cNvSpPr txBox="1"/>
          <p:nvPr/>
        </p:nvSpPr>
        <p:spPr>
          <a:xfrm>
            <a:off x="6348015" y="1825625"/>
            <a:ext cx="5402561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defTabSz="448055">
              <a:defRPr i="1" sz="1470">
                <a:solidFill>
                  <a:srgbClr val="8080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#get:</a:t>
            </a:r>
          </a:p>
          <a:p>
            <a:pPr defTabSz="448055">
              <a:defRPr b="1" sz="147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 i="1">
                <a:solidFill>
                  <a:srgbClr val="808080"/>
                </a:solidFill>
              </a:rPr>
              <a:t>  </a:t>
            </a:r>
            <a:r>
              <a:t>responses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48055">
              <a:defRPr b="1" sz="147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</a:t>
            </a:r>
            <a:r>
              <a:t>'200'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Erfolgreicher Zugriff.</a:t>
            </a:r>
          </a:p>
          <a:p>
            <a:pPr defTabSz="448055">
              <a:defRPr b="1" sz="147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</a:t>
            </a:r>
            <a:r>
              <a:t>content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48055">
              <a:defRPr b="1" sz="147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  </a:t>
            </a:r>
            <a:r>
              <a:t>application/json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</a:t>
            </a:r>
            <a:r>
              <a:rPr b="1">
                <a:solidFill>
                  <a:srgbClr val="011480"/>
                </a:solidFill>
              </a:rPr>
              <a:t>schema</a:t>
            </a:r>
            <a:r>
              <a:t>: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</a:t>
            </a:r>
            <a:r>
              <a:rPr b="1">
                <a:solidFill>
                  <a:srgbClr val="011480"/>
                </a:solidFill>
              </a:rPr>
              <a:t>type</a:t>
            </a:r>
            <a:r>
              <a:t>: array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</a:t>
            </a:r>
            <a:r>
              <a:rPr b="1">
                <a:solidFill>
                  <a:srgbClr val="011480"/>
                </a:solidFill>
              </a:rPr>
              <a:t>items</a:t>
            </a:r>
            <a:r>
              <a:t>:</a:t>
            </a:r>
          </a:p>
          <a:p>
            <a:pPr defTabSz="448055">
              <a:defRPr b="1" sz="1470">
                <a:solidFill>
                  <a:srgbClr val="018001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        </a:t>
            </a:r>
            <a:r>
              <a:rPr>
                <a:solidFill>
                  <a:srgbClr val="011480"/>
                </a:solidFill>
              </a:rPr>
              <a:t>$ref</a:t>
            </a:r>
            <a:r>
              <a:rPr b="0">
                <a:solidFill>
                  <a:srgbClr val="000000"/>
                </a:solidFill>
              </a:rPr>
              <a:t>: </a:t>
            </a:r>
            <a:r>
              <a:t>'#/components/schemas/Room'</a:t>
            </a:r>
          </a:p>
          <a:p>
            <a:pPr defTabSz="448055">
              <a:defRPr b="1" sz="1470">
                <a:solidFill>
                  <a:srgbClr val="018001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            </a:t>
            </a:r>
            <a:r>
              <a:rPr>
                <a:solidFill>
                  <a:srgbClr val="011480"/>
                </a:solidFill>
              </a:rPr>
              <a:t>example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  - </a:t>
            </a:r>
            <a:r>
              <a:rPr b="1">
                <a:solidFill>
                  <a:srgbClr val="011480"/>
                </a:solidFill>
              </a:rPr>
              <a:t>room_id</a:t>
            </a:r>
            <a:r>
              <a:t>: 6f410920-ea6b-4fbe-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    </a:t>
            </a:r>
            <a:r>
              <a:rPr b="1">
                <a:solidFill>
                  <a:srgbClr val="011480"/>
                </a:solidFill>
              </a:rPr>
              <a:t>name</a:t>
            </a:r>
            <a:r>
              <a:t>: O0_00W50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    </a:t>
            </a:r>
            <a:r>
              <a:rPr b="1">
                <a:solidFill>
                  <a:srgbClr val="011480"/>
                </a:solidFill>
              </a:rPr>
              <a:t>capacity</a:t>
            </a:r>
            <a:r>
              <a:t>: 25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  - </a:t>
            </a:r>
            <a:r>
              <a:rPr b="1">
                <a:solidFill>
                  <a:srgbClr val="011480"/>
                </a:solidFill>
              </a:rPr>
              <a:t>room_id</a:t>
            </a:r>
            <a:r>
              <a:t>: fb904c1b-bc00-4ce9-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    </a:t>
            </a:r>
            <a:r>
              <a:rPr b="1">
                <a:solidFill>
                  <a:srgbClr val="011480"/>
                </a:solidFill>
              </a:rPr>
              <a:t>name</a:t>
            </a:r>
            <a:r>
              <a:t>: O0_00W60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    </a:t>
            </a:r>
            <a:r>
              <a:rPr b="1">
                <a:solidFill>
                  <a:srgbClr val="011480"/>
                </a:solidFill>
              </a:rPr>
              <a:t>capacity</a:t>
            </a:r>
            <a:r>
              <a:t>: 42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
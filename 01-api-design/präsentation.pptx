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Arial"/>
      </a:defRPr>
    </a:lvl1pPr>
    <a:lvl2pPr indent="228600" latinLnBrk="0">
      <a:defRPr sz="1200">
        <a:latin typeface="+mn-lt"/>
        <a:ea typeface="+mn-ea"/>
        <a:cs typeface="+mn-cs"/>
        <a:sym typeface="Arial"/>
      </a:defRPr>
    </a:lvl2pPr>
    <a:lvl3pPr indent="457200" latinLnBrk="0">
      <a:defRPr sz="1200">
        <a:latin typeface="+mn-lt"/>
        <a:ea typeface="+mn-ea"/>
        <a:cs typeface="+mn-cs"/>
        <a:sym typeface="Arial"/>
      </a:defRPr>
    </a:lvl3pPr>
    <a:lvl4pPr indent="685800" latinLnBrk="0">
      <a:defRPr sz="1200">
        <a:latin typeface="+mn-lt"/>
        <a:ea typeface="+mn-ea"/>
        <a:cs typeface="+mn-cs"/>
        <a:sym typeface="Arial"/>
      </a:defRPr>
    </a:lvl4pPr>
    <a:lvl5pPr indent="914400" latinLnBrk="0">
      <a:defRPr sz="1200">
        <a:latin typeface="+mn-lt"/>
        <a:ea typeface="+mn-ea"/>
        <a:cs typeface="+mn-cs"/>
        <a:sym typeface="Arial"/>
      </a:defRPr>
    </a:lvl5pPr>
    <a:lvl6pPr indent="1143000" latinLnBrk="0">
      <a:defRPr sz="1200">
        <a:latin typeface="+mn-lt"/>
        <a:ea typeface="+mn-ea"/>
        <a:cs typeface="+mn-cs"/>
        <a:sym typeface="Arial"/>
      </a:defRPr>
    </a:lvl6pPr>
    <a:lvl7pPr indent="1371600" latinLnBrk="0">
      <a:defRPr sz="1200">
        <a:latin typeface="+mn-lt"/>
        <a:ea typeface="+mn-ea"/>
        <a:cs typeface="+mn-cs"/>
        <a:sym typeface="Arial"/>
      </a:defRPr>
    </a:lvl7pPr>
    <a:lvl8pPr indent="1600200" latinLnBrk="0">
      <a:defRPr sz="1200">
        <a:latin typeface="+mn-lt"/>
        <a:ea typeface="+mn-ea"/>
        <a:cs typeface="+mn-cs"/>
        <a:sym typeface="Arial"/>
      </a:defRPr>
    </a:lvl8pPr>
    <a:lvl9pPr indent="1828800" latinLnBrk="0">
      <a:defRPr sz="1200">
        <a:latin typeface="+mn-lt"/>
        <a:ea typeface="+mn-ea"/>
        <a:cs typeface="+mn-cs"/>
        <a:sym typeface="Arial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5" name="Shape 11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171450" indent="-171450">
              <a:buSzPct val="100000"/>
              <a:buChar char="-"/>
            </a:pPr>
            <a:r>
              <a:t>mit Metapher anfangen, um das Ganze zu verbildlichen</a:t>
            </a:r>
          </a:p>
          <a:p>
            <a:pPr marL="171450" indent="-171450">
              <a:buSzPct val="100000"/>
              <a:buChar char="-"/>
            </a:pPr>
            <a:r>
              <a:t>man stellt sich vor, man müsste direkt beim Koch sein Essen bestellen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7" name="Shape 12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171450" indent="-171450">
              <a:buSzPct val="100000"/>
              <a:buChar char="-"/>
            </a:pPr>
            <a:r>
              <a:t>deswegen gibt es Kellner, die fungieren als Schnittstelle zwischen Kunden und Küche</a:t>
            </a:r>
          </a:p>
          <a:p>
            <a:pPr marL="171450" indent="-171450">
              <a:buSzPct val="100000"/>
              <a:buChar char="-"/>
            </a:pPr>
            <a:r>
              <a:t>man weiß aber gar nicht, was es zu essen gibt, man müsste also probieren „gibt es hier schnitzel?“ und würde nur „ja“ oder „nein“ kriegen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1" name="Shape 14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171450" indent="-171450">
              <a:buSzPct val="100000"/>
              <a:buChar char="-"/>
            </a:lvl1pPr>
          </a:lstStyle>
          <a:p>
            <a:pPr/>
            <a:r>
              <a:t>deswegen gibt es Speisekarten, quasi eine Beschreibung von dem, was die Küche im Angebot hat  - also das, was ich beim Kellner bestellen kann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5" name="Shape 16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171450" indent="-171450">
              <a:buSzPct val="100000"/>
              <a:buChar char="-"/>
            </a:lvl1pPr>
          </a:lstStyle>
          <a:p>
            <a:pPr/>
            <a:r>
              <a:t>der Workflow ist dann der folgende: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9" name="Shape 17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171450" indent="-171450">
              <a:buSzPct val="100000"/>
              <a:buChar char="-"/>
            </a:pPr>
            <a:r>
              <a:t>man merkt schnell, der Kunde ist eine Art Frontend oder vielleicht auch einfach eine andere Anwendung</a:t>
            </a:r>
          </a:p>
          <a:p>
            <a:pPr marL="171450" indent="-171450">
              <a:buSzPct val="100000"/>
              <a:buChar char="-"/>
            </a:pPr>
            <a:r>
              <a:t>die Küche ist das Backend einer Anwendung</a:t>
            </a:r>
          </a:p>
          <a:p>
            <a:pPr marL="171450" indent="-171450">
              <a:buSzPct val="100000"/>
              <a:buChar char="-"/>
            </a:pPr>
            <a:r>
              <a:t>und der Kellner ist die Schnittstelle zwischen den beiden, die API</a:t>
            </a:r>
          </a:p>
          <a:p>
            <a:pPr marL="171450" indent="-171450">
              <a:buSzPct val="100000"/>
              <a:buChar char="-"/>
            </a:pPr>
            <a:r>
              <a:t>die Speisekarte ist dann also die Schnittstellenbeschreibung, aber dazu wird Carl später noch mehr sagen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20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3" name="Shape 20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171450" indent="-171450">
              <a:buSzPct val="100000"/>
              <a:buChar char="-"/>
            </a:lvl1pPr>
          </a:lstStyle>
          <a:p>
            <a:pPr/>
            <a:r>
              <a:t>und auch hier ist der Workflow relativ ähnlich, statt Schnitzel mit Bratkartoffeln kommen dann aber Daten zurück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20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8" name="Shape 20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171450" indent="-171450">
              <a:buSzPct val="100000"/>
              <a:buChar char="-"/>
            </a:pPr>
            <a:r>
              <a:t>nun ist das Konzept der Schnittstelle bzw. API nix Neues und wird Ihnen als Entwickler ja bestimmt bekannt sein</a:t>
            </a:r>
          </a:p>
          <a:p>
            <a:pPr marL="171450" indent="-171450">
              <a:buSzPct val="100000"/>
              <a:buChar char="-"/>
            </a:pPr>
            <a:r>
              <a:t>vielleicht haben Sie mit SOAP und XML gearbeitet</a:t>
            </a:r>
          </a:p>
          <a:p>
            <a:pPr marL="171450" indent="-171450">
              <a:buSzPct val="100000"/>
              <a:buChar char="-"/>
            </a:pPr>
            <a:r>
              <a:t>die neuere Technologie und die, die wir heute vorstellen, hat aber ein paar Unterschiede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24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3" name="Shape 24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171450" indent="-171450">
              <a:buSzPct val="100000"/>
              <a:buChar char="-"/>
            </a:lvl1pPr>
          </a:lstStyle>
          <a:p>
            <a:pPr/>
            <a:r>
              <a:t>viele Frontends sind in Javascript geschrieben, deswegen ist JSON praktisch, aber keine Pflicht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hape 24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0" name="Shape 25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171450" indent="-171450">
              <a:buSzPct val="100000"/>
              <a:buChar char="-"/>
            </a:pPr>
            <a:r>
              <a:t>REST ist eng mit HTTP verbunden und macht sich deren Verben zu Nutze</a:t>
            </a:r>
          </a:p>
          <a:p>
            <a:pPr marL="171450" indent="-171450">
              <a:buSzPct val="100000"/>
              <a:buChar char="-"/>
            </a:pPr>
            <a:r>
              <a:t>HTTP Verben stärken Standardisierung (removeOffice / deleteOffice)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25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7" name="Shape 25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171450" indent="-171450">
              <a:buSzPct val="100000"/>
              <a:buChar char="-"/>
            </a:pPr>
            <a:r>
              <a:t>REST ist eng mit HTTP verbunden und macht sich deren Verben zu Nutze</a:t>
            </a:r>
          </a:p>
          <a:p>
            <a:pPr marL="171450" indent="-171450">
              <a:buSzPct val="100000"/>
              <a:buChar char="-"/>
            </a:pPr>
            <a:r>
              <a:t>HTTP Verben stärken Standardisierung (removeOffice / deleteOffice)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Shape 26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3" name="Shape 26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171450" indent="-171450">
              <a:buSzPct val="100000"/>
              <a:buChar char="-"/>
            </a:pPr>
            <a:r>
              <a:t>Ressource wird immer im Plural beschrieben</a:t>
            </a:r>
          </a:p>
          <a:p>
            <a:pPr marL="171450" indent="-171450">
              <a:buSzPct val="100000"/>
              <a:buChar char="-"/>
            </a:pPr>
            <a:r>
              <a:t>hat im Standard nur die aufgelisteten Endpunkte</a:t>
            </a:r>
          </a:p>
          <a:p>
            <a:pPr marL="171450" indent="-171450">
              <a:buSzPct val="100000"/>
              <a:buChar char="-"/>
            </a:pPr>
            <a:r>
              <a:t>Endpunkte = URI (Unique Resource Identifier)</a:t>
            </a:r>
          </a:p>
          <a:p>
            <a:pPr marL="171450" indent="-171450">
              <a:buSzPct val="100000"/>
              <a:buChar char="-"/>
            </a:pPr>
            <a:r>
              <a:t>es darf keine koexistierenden Endpunkte geben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hape 26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9" name="Shape 26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171450" indent="-171450">
              <a:buSzPct val="100000"/>
              <a:buChar char="-"/>
            </a:lvl1pPr>
          </a:lstStyle>
          <a:p>
            <a:pPr/>
            <a:r>
              <a:t>das HTTP Protokoll ist auch in den Antworten integriert und macht es dem Kunden sehr leicht zu erfahren, ob seine Anfrage erfolgreich war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Titeltext</a:t>
            </a:r>
          </a:p>
        </p:txBody>
      </p:sp>
      <p:sp>
        <p:nvSpPr>
          <p:cNvPr id="12" name="Textebene 1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13" name="Foliennummer"/>
          <p:cNvSpPr txBox="1"/>
          <p:nvPr>
            <p:ph type="sldNum" sz="quarter" idx="2"/>
          </p:nvPr>
        </p:nvSpPr>
        <p:spPr>
          <a:xfrm>
            <a:off x="11080144" y="6406785"/>
            <a:ext cx="273657" cy="264255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21" name="Textebene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22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el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Titeltext</a:t>
            </a:r>
          </a:p>
        </p:txBody>
      </p:sp>
      <p:sp>
        <p:nvSpPr>
          <p:cNvPr id="30" name="Textebene 1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31" name="Foliennummer"/>
          <p:cNvSpPr txBox="1"/>
          <p:nvPr>
            <p:ph type="sldNum" sz="quarter" idx="2"/>
          </p:nvPr>
        </p:nvSpPr>
        <p:spPr>
          <a:xfrm>
            <a:off x="11080144" y="6406785"/>
            <a:ext cx="273657" cy="264255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el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39" name="Textebene 1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0" name="Foliennummer"/>
          <p:cNvSpPr txBox="1"/>
          <p:nvPr>
            <p:ph type="sldNum" sz="quarter" idx="2"/>
          </p:nvPr>
        </p:nvSpPr>
        <p:spPr>
          <a:xfrm>
            <a:off x="11080144" y="6406785"/>
            <a:ext cx="273657" cy="264255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el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48" name="Textebene 1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9" name="Textplatzhalter 4"/>
          <p:cNvSpPr/>
          <p:nvPr>
            <p:ph type="body" sz="quarter" idx="13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50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el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58" name="Foliennummer"/>
          <p:cNvSpPr txBox="1"/>
          <p:nvPr>
            <p:ph type="sldNum" sz="quarter" idx="2"/>
          </p:nvPr>
        </p:nvSpPr>
        <p:spPr>
          <a:xfrm>
            <a:off x="11080144" y="6406785"/>
            <a:ext cx="273657" cy="264255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oliennummer"/>
          <p:cNvSpPr txBox="1"/>
          <p:nvPr>
            <p:ph type="sldNum" sz="quarter" idx="2"/>
          </p:nvPr>
        </p:nvSpPr>
        <p:spPr>
          <a:xfrm>
            <a:off x="11080144" y="6406785"/>
            <a:ext cx="273657" cy="264255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el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Titeltext</a:t>
            </a:r>
          </a:p>
        </p:txBody>
      </p:sp>
      <p:sp>
        <p:nvSpPr>
          <p:cNvPr id="73" name="Textebene 1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74" name="Textplatzhalter 3"/>
          <p:cNvSpPr/>
          <p:nvPr>
            <p:ph type="body" sz="quarter" idx="13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5" name="Foliennummer"/>
          <p:cNvSpPr txBox="1"/>
          <p:nvPr>
            <p:ph type="sldNum" sz="quarter" idx="2"/>
          </p:nvPr>
        </p:nvSpPr>
        <p:spPr>
          <a:xfrm>
            <a:off x="11080144" y="6406785"/>
            <a:ext cx="273657" cy="264255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el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Titeltext</a:t>
            </a:r>
          </a:p>
        </p:txBody>
      </p:sp>
      <p:sp>
        <p:nvSpPr>
          <p:cNvPr id="83" name="Bildplatzhalter 2"/>
          <p:cNvSpPr/>
          <p:nvPr>
            <p:ph type="pic" sz="half" idx="13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Textebene 1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85" name="Foliennummer"/>
          <p:cNvSpPr txBox="1"/>
          <p:nvPr>
            <p:ph type="sldNum" sz="quarter" idx="2"/>
          </p:nvPr>
        </p:nvSpPr>
        <p:spPr>
          <a:xfrm>
            <a:off x="11080144" y="6406785"/>
            <a:ext cx="273657" cy="264255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Titeltext</a:t>
            </a:r>
          </a:p>
        </p:txBody>
      </p:sp>
      <p:sp>
        <p:nvSpPr>
          <p:cNvPr id="3" name="Textebene 1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" name="Foliennummer"/>
          <p:cNvSpPr txBox="1"/>
          <p:nvPr>
            <p:ph type="sldNum" sz="quarter" idx="2"/>
          </p:nvPr>
        </p:nvSpPr>
        <p:spPr>
          <a:xfrm>
            <a:off x="5959172" y="6482985"/>
            <a:ext cx="273656" cy="26425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Arial Narrow"/>
          <a:ea typeface="Arial Narrow"/>
          <a:cs typeface="Arial Narrow"/>
          <a:sym typeface="Arial Narrow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Arial Narrow"/>
          <a:ea typeface="Arial Narrow"/>
          <a:cs typeface="Arial Narrow"/>
          <a:sym typeface="Arial Narrow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Arial Narrow"/>
          <a:ea typeface="Arial Narrow"/>
          <a:cs typeface="Arial Narrow"/>
          <a:sym typeface="Arial Narrow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Arial Narrow"/>
          <a:ea typeface="Arial Narrow"/>
          <a:cs typeface="Arial Narrow"/>
          <a:sym typeface="Arial Narrow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Arial Narrow"/>
          <a:ea typeface="Arial Narrow"/>
          <a:cs typeface="Arial Narrow"/>
          <a:sym typeface="Arial Narrow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Arial Narrow"/>
          <a:ea typeface="Arial Narrow"/>
          <a:cs typeface="Arial Narrow"/>
          <a:sym typeface="Arial Narrow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Arial Narrow"/>
          <a:ea typeface="Arial Narrow"/>
          <a:cs typeface="Arial Narrow"/>
          <a:sym typeface="Arial Narrow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Arial Narrow"/>
          <a:ea typeface="Arial Narrow"/>
          <a:cs typeface="Arial Narrow"/>
          <a:sym typeface="Arial Narrow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Arial Narrow"/>
          <a:ea typeface="Arial Narrow"/>
          <a:cs typeface="Arial Narrow"/>
          <a:sym typeface="Arial Narrow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hyperlink" Target="https://nordicapis.com/top-specification-formats-for-rest-apis/" TargetMode="Externa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tif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nordlb" TargetMode="External"/><Relationship Id="rId3" Type="http://schemas.openxmlformats.org/officeDocument/2006/relationships/hyperlink" Target="http://editor.swagger.io/" TargetMode="External"/><Relationship Id="rId4" Type="http://schemas.openxmlformats.org/officeDocument/2006/relationships/hyperlink" Target="https://swagger.io/specification/" TargetMode="External"/><Relationship Id="rId5" Type="http://schemas.openxmlformats.org/officeDocument/2006/relationships/hyperlink" Target="https://swagger.io/docs/specification/about/" TargetMode="External"/><Relationship Id="rId6" Type="http://schemas.openxmlformats.org/officeDocument/2006/relationships/hyperlink" Target="https://www.ics.uci.edu/~fielding/pubs/dissertation/fielding_dissertation.pdf" TargetMode="External"/><Relationship Id="rId7" Type="http://schemas.openxmlformats.org/officeDocument/2006/relationships/hyperlink" Target="https://tools.ietf.org/html/rfc7231" TargetMode="External"/><Relationship Id="rId8" Type="http://schemas.openxmlformats.org/officeDocument/2006/relationships/hyperlink" Target="https://tools.ietf.org/html/rfc7230" TargetMode="External"/><Relationship Id="rId9" Type="http://schemas.openxmlformats.org/officeDocument/2006/relationships/hyperlink" Target="https://tools.ietf.org/html/rfc6585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chLab 12.09.2019…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ctr"/>
            <a:r>
              <a:t>TechLab 12.09.2019</a:t>
            </a:r>
          </a:p>
          <a:p>
            <a:pPr algn="ctr"/>
            <a:r>
              <a:t>API-Design mit OpenAPI</a:t>
            </a:r>
          </a:p>
        </p:txBody>
      </p:sp>
      <p:sp>
        <p:nvSpPr>
          <p:cNvPr id="95" name="Manuel Ottlik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  <a:p>
            <a:pPr algn="ctr"/>
            <a:r>
              <a:t>Manuel Ottlik</a:t>
            </a:r>
          </a:p>
          <a:p>
            <a:pPr algn="ctr"/>
            <a:r>
              <a:t>Carl Volhard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Agend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</a:t>
            </a:r>
          </a:p>
        </p:txBody>
      </p:sp>
      <p:sp>
        <p:nvSpPr>
          <p:cNvPr id="98" name="Vorstellungsrund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Vorstellungsrunde</a:t>
            </a:r>
          </a:p>
          <a:p>
            <a:pPr/>
            <a:r>
              <a:t>Was ist eine API?</a:t>
            </a:r>
          </a:p>
          <a:p>
            <a:pPr/>
            <a:r>
              <a:t>Abgrenzung REST vs. SOAP</a:t>
            </a:r>
          </a:p>
          <a:p>
            <a:pPr/>
            <a:r>
              <a:t>Rest-Paradigma</a:t>
            </a:r>
          </a:p>
          <a:p>
            <a:pPr/>
            <a:r>
              <a:t>Einführung OpenAPI</a:t>
            </a:r>
          </a:p>
          <a:p>
            <a:pPr/>
            <a:r>
              <a:t>Swagger-UI</a:t>
            </a:r>
          </a:p>
          <a:p>
            <a:pPr/>
            <a:r>
              <a:t>Use Case vorstellen</a:t>
            </a:r>
          </a:p>
          <a:p>
            <a:pPr/>
            <a:r>
              <a:t>Hands-on</a:t>
            </a:r>
          </a:p>
        </p:txBody>
      </p:sp>
      <p:sp>
        <p:nvSpPr>
          <p:cNvPr id="99" name="Foliennummer"/>
          <p:cNvSpPr txBox="1"/>
          <p:nvPr>
            <p:ph type="sldNum" sz="quarter" idx="2"/>
          </p:nvPr>
        </p:nvSpPr>
        <p:spPr>
          <a:xfrm>
            <a:off x="6043929" y="6482985"/>
            <a:ext cx="188899" cy="26425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Vorstellungsrund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Vorstellungsrunde</a:t>
            </a:r>
          </a:p>
        </p:txBody>
      </p:sp>
      <p:sp>
        <p:nvSpPr>
          <p:cNvPr id="102" name="Text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el 3"/>
          <p:cNvSpPr txBox="1"/>
          <p:nvPr>
            <p:ph type="title"/>
          </p:nvPr>
        </p:nvSpPr>
        <p:spPr>
          <a:xfrm>
            <a:off x="831850" y="1709738"/>
            <a:ext cx="10515600" cy="2852738"/>
          </a:xfrm>
          <a:prstGeom prst="rect">
            <a:avLst/>
          </a:prstGeom>
        </p:spPr>
        <p:txBody>
          <a:bodyPr/>
          <a:lstStyle/>
          <a:p>
            <a:pPr/>
            <a:r>
              <a:t>Was ist eine API?</a:t>
            </a:r>
          </a:p>
        </p:txBody>
      </p:sp>
      <p:sp>
        <p:nvSpPr>
          <p:cNvPr id="105" name="Textplatzhalter 4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itel 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t>Herzlich Willkommen im RESTaurant!</a:t>
            </a:r>
          </a:p>
        </p:txBody>
      </p:sp>
      <p:sp>
        <p:nvSpPr>
          <p:cNvPr id="108" name="Foliennummer"/>
          <p:cNvSpPr txBox="1"/>
          <p:nvPr>
            <p:ph type="sldNum" sz="quarter" idx="2"/>
          </p:nvPr>
        </p:nvSpPr>
        <p:spPr>
          <a:xfrm>
            <a:off x="6043929" y="6482985"/>
            <a:ext cx="188899" cy="26425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09" name="Inhaltsplatzhalter 7" descr="Inhaltsplatzhalter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517213" y="3927014"/>
            <a:ext cx="1836587" cy="2244429"/>
          </a:xfrm>
          <a:prstGeom prst="rect">
            <a:avLst/>
          </a:prstGeom>
          <a:ln w="12700">
            <a:miter lim="400000"/>
          </a:ln>
        </p:spPr>
      </p:pic>
      <p:pic>
        <p:nvPicPr>
          <p:cNvPr id="110" name="Grafik 11" descr="Grafik 1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38200" y="4590494"/>
            <a:ext cx="2725142" cy="1586469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Textfeld 14"/>
          <p:cNvSpPr txBox="1"/>
          <p:nvPr/>
        </p:nvSpPr>
        <p:spPr>
          <a:xfrm>
            <a:off x="1624522" y="4590494"/>
            <a:ext cx="1159071" cy="350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der Kunde</a:t>
            </a:r>
          </a:p>
        </p:txBody>
      </p:sp>
      <p:sp>
        <p:nvSpPr>
          <p:cNvPr id="112" name="Textfeld 16"/>
          <p:cNvSpPr txBox="1"/>
          <p:nvPr/>
        </p:nvSpPr>
        <p:spPr>
          <a:xfrm>
            <a:off x="9830692" y="3463549"/>
            <a:ext cx="1120898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die Küche</a:t>
            </a:r>
          </a:p>
        </p:txBody>
      </p:sp>
      <p:sp>
        <p:nvSpPr>
          <p:cNvPr id="113" name="Textfeld 46"/>
          <p:cNvSpPr txBox="1"/>
          <p:nvPr/>
        </p:nvSpPr>
        <p:spPr>
          <a:xfrm>
            <a:off x="10047675" y="6501458"/>
            <a:ext cx="1754564" cy="177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700"/>
            </a:lvl1pPr>
          </a:lstStyle>
          <a:p>
            <a:pPr/>
            <a:r>
              <a:t>Bilder von https://publicdomainvectors.org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el 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t>Herzlich Willkommen im RESTaurant!</a:t>
            </a:r>
          </a:p>
        </p:txBody>
      </p:sp>
      <p:sp>
        <p:nvSpPr>
          <p:cNvPr id="118" name="Foliennummer"/>
          <p:cNvSpPr txBox="1"/>
          <p:nvPr>
            <p:ph type="sldNum" sz="quarter" idx="2"/>
          </p:nvPr>
        </p:nvSpPr>
        <p:spPr>
          <a:xfrm>
            <a:off x="6043929" y="6482985"/>
            <a:ext cx="188899" cy="26425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19" name="Inhaltsplatzhalter 7" descr="Inhaltsplatzhalter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517213" y="3927014"/>
            <a:ext cx="1836587" cy="2244429"/>
          </a:xfrm>
          <a:prstGeom prst="rect">
            <a:avLst/>
          </a:prstGeom>
          <a:ln w="12700">
            <a:miter lim="400000"/>
          </a:ln>
        </p:spPr>
      </p:pic>
      <p:pic>
        <p:nvPicPr>
          <p:cNvPr id="120" name="Grafik 11" descr="Grafik 1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38200" y="4590494"/>
            <a:ext cx="2725142" cy="1586469"/>
          </a:xfrm>
          <a:prstGeom prst="rect">
            <a:avLst/>
          </a:prstGeom>
          <a:ln w="12700">
            <a:miter lim="400000"/>
          </a:ln>
        </p:spPr>
      </p:pic>
      <p:pic>
        <p:nvPicPr>
          <p:cNvPr id="121" name="Grafik 13" descr="Grafik 1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432754" y="3463549"/>
            <a:ext cx="1592638" cy="2707895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Textfeld 14"/>
          <p:cNvSpPr txBox="1"/>
          <p:nvPr/>
        </p:nvSpPr>
        <p:spPr>
          <a:xfrm>
            <a:off x="1624522" y="4590494"/>
            <a:ext cx="1159071" cy="350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der Kunde</a:t>
            </a:r>
          </a:p>
        </p:txBody>
      </p:sp>
      <p:sp>
        <p:nvSpPr>
          <p:cNvPr id="123" name="Textfeld 15"/>
          <p:cNvSpPr txBox="1"/>
          <p:nvPr/>
        </p:nvSpPr>
        <p:spPr>
          <a:xfrm>
            <a:off x="6349884" y="3463549"/>
            <a:ext cx="1209637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der Kellner</a:t>
            </a:r>
          </a:p>
        </p:txBody>
      </p:sp>
      <p:sp>
        <p:nvSpPr>
          <p:cNvPr id="124" name="Textfeld 16"/>
          <p:cNvSpPr txBox="1"/>
          <p:nvPr/>
        </p:nvSpPr>
        <p:spPr>
          <a:xfrm>
            <a:off x="9830692" y="3463549"/>
            <a:ext cx="1120898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die Küche</a:t>
            </a:r>
          </a:p>
        </p:txBody>
      </p:sp>
      <p:sp>
        <p:nvSpPr>
          <p:cNvPr id="125" name="Textfeld 46"/>
          <p:cNvSpPr txBox="1"/>
          <p:nvPr/>
        </p:nvSpPr>
        <p:spPr>
          <a:xfrm>
            <a:off x="10047675" y="6501458"/>
            <a:ext cx="1754564" cy="177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700"/>
            </a:lvl1pPr>
          </a:lstStyle>
          <a:p>
            <a:pPr/>
            <a:r>
              <a:t>Bilder von https://publicdomainvectors.org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itel 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t>Herzlich Willkommen im RESTaurant!</a:t>
            </a:r>
          </a:p>
        </p:txBody>
      </p:sp>
      <p:sp>
        <p:nvSpPr>
          <p:cNvPr id="130" name="Foliennummer"/>
          <p:cNvSpPr txBox="1"/>
          <p:nvPr>
            <p:ph type="sldNum" sz="quarter" idx="2"/>
          </p:nvPr>
        </p:nvSpPr>
        <p:spPr>
          <a:xfrm>
            <a:off x="6043929" y="6482985"/>
            <a:ext cx="188899" cy="26425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31" name="Inhaltsplatzhalter 7" descr="Inhaltsplatzhalter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517213" y="3927014"/>
            <a:ext cx="1836587" cy="224442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2" name="Grafik 11" descr="Grafik 1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38200" y="4590494"/>
            <a:ext cx="2725142" cy="158646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" name="Grafik 13" descr="Grafik 1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432754" y="3463549"/>
            <a:ext cx="1592638" cy="2707895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feld 14"/>
          <p:cNvSpPr txBox="1"/>
          <p:nvPr/>
        </p:nvSpPr>
        <p:spPr>
          <a:xfrm>
            <a:off x="1624522" y="4590494"/>
            <a:ext cx="1159071" cy="350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der Kunde</a:t>
            </a:r>
          </a:p>
        </p:txBody>
      </p:sp>
      <p:sp>
        <p:nvSpPr>
          <p:cNvPr id="135" name="Textfeld 15"/>
          <p:cNvSpPr txBox="1"/>
          <p:nvPr/>
        </p:nvSpPr>
        <p:spPr>
          <a:xfrm>
            <a:off x="6349884" y="3463549"/>
            <a:ext cx="1209637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der Kellner</a:t>
            </a:r>
          </a:p>
        </p:txBody>
      </p:sp>
      <p:sp>
        <p:nvSpPr>
          <p:cNvPr id="136" name="Textfeld 16"/>
          <p:cNvSpPr txBox="1"/>
          <p:nvPr/>
        </p:nvSpPr>
        <p:spPr>
          <a:xfrm>
            <a:off x="9830692" y="3463549"/>
            <a:ext cx="1120898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die Küche</a:t>
            </a:r>
          </a:p>
        </p:txBody>
      </p:sp>
      <p:sp>
        <p:nvSpPr>
          <p:cNvPr id="137" name="Textfeld 46"/>
          <p:cNvSpPr txBox="1"/>
          <p:nvPr/>
        </p:nvSpPr>
        <p:spPr>
          <a:xfrm>
            <a:off x="10047675" y="6501458"/>
            <a:ext cx="1754564" cy="177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700"/>
            </a:lvl1pPr>
          </a:lstStyle>
          <a:p>
            <a:pPr/>
            <a:r>
              <a:t>Bilder von https://publicdomainvectors.org</a:t>
            </a:r>
          </a:p>
        </p:txBody>
      </p:sp>
      <p:pic>
        <p:nvPicPr>
          <p:cNvPr id="138" name="Grafik 9" descr="Grafik 9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473316" y="1923328"/>
            <a:ext cx="1290763" cy="1771046"/>
          </a:xfrm>
          <a:prstGeom prst="rect">
            <a:avLst/>
          </a:prstGeom>
          <a:ln w="12700">
            <a:miter lim="400000"/>
          </a:ln>
        </p:spPr>
      </p:pic>
      <p:sp>
        <p:nvSpPr>
          <p:cNvPr id="139" name="Textfeld 10"/>
          <p:cNvSpPr txBox="1"/>
          <p:nvPr/>
        </p:nvSpPr>
        <p:spPr>
          <a:xfrm>
            <a:off x="3764077" y="2624184"/>
            <a:ext cx="1679896" cy="350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die Speisekarte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itel 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t>Herzlich Willkommen im RESTaurant!</a:t>
            </a:r>
          </a:p>
        </p:txBody>
      </p:sp>
      <p:sp>
        <p:nvSpPr>
          <p:cNvPr id="144" name="Foliennummer"/>
          <p:cNvSpPr txBox="1"/>
          <p:nvPr>
            <p:ph type="sldNum" sz="quarter" idx="2"/>
          </p:nvPr>
        </p:nvSpPr>
        <p:spPr>
          <a:xfrm>
            <a:off x="6043929" y="6482985"/>
            <a:ext cx="188899" cy="26425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45" name="Inhaltsplatzhalter 7" descr="Inhaltsplatzhalter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517213" y="3927014"/>
            <a:ext cx="1836587" cy="2244429"/>
          </a:xfrm>
          <a:prstGeom prst="rect">
            <a:avLst/>
          </a:prstGeom>
          <a:ln w="12700">
            <a:miter lim="400000"/>
          </a:ln>
        </p:spPr>
      </p:pic>
      <p:pic>
        <p:nvPicPr>
          <p:cNvPr id="146" name="Grafik 9" descr="Grafik 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473316" y="1923328"/>
            <a:ext cx="1290763" cy="17710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47" name="Grafik 11" descr="Grafik 11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38200" y="4590494"/>
            <a:ext cx="2725142" cy="1586469"/>
          </a:xfrm>
          <a:prstGeom prst="rect">
            <a:avLst/>
          </a:prstGeom>
          <a:ln w="12700">
            <a:miter lim="400000"/>
          </a:ln>
        </p:spPr>
      </p:pic>
      <p:pic>
        <p:nvPicPr>
          <p:cNvPr id="148" name="Grafik 13" descr="Grafik 13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432754" y="3463549"/>
            <a:ext cx="1592638" cy="2707895"/>
          </a:xfrm>
          <a:prstGeom prst="rect">
            <a:avLst/>
          </a:prstGeom>
          <a:ln w="12700">
            <a:miter lim="400000"/>
          </a:ln>
        </p:spPr>
      </p:pic>
      <p:sp>
        <p:nvSpPr>
          <p:cNvPr id="149" name="Textfeld 14"/>
          <p:cNvSpPr txBox="1"/>
          <p:nvPr/>
        </p:nvSpPr>
        <p:spPr>
          <a:xfrm>
            <a:off x="1624522" y="4590494"/>
            <a:ext cx="1159071" cy="350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der Kunde</a:t>
            </a:r>
          </a:p>
        </p:txBody>
      </p:sp>
      <p:sp>
        <p:nvSpPr>
          <p:cNvPr id="150" name="Textfeld 15"/>
          <p:cNvSpPr txBox="1"/>
          <p:nvPr/>
        </p:nvSpPr>
        <p:spPr>
          <a:xfrm>
            <a:off x="6349884" y="3463549"/>
            <a:ext cx="1209637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der Kellner</a:t>
            </a:r>
          </a:p>
        </p:txBody>
      </p:sp>
      <p:sp>
        <p:nvSpPr>
          <p:cNvPr id="151" name="Textfeld 16"/>
          <p:cNvSpPr txBox="1"/>
          <p:nvPr/>
        </p:nvSpPr>
        <p:spPr>
          <a:xfrm>
            <a:off x="9830692" y="3463549"/>
            <a:ext cx="1120898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die Küche</a:t>
            </a:r>
          </a:p>
        </p:txBody>
      </p:sp>
      <p:sp>
        <p:nvSpPr>
          <p:cNvPr id="152" name="Textfeld 17"/>
          <p:cNvSpPr txBox="1"/>
          <p:nvPr/>
        </p:nvSpPr>
        <p:spPr>
          <a:xfrm>
            <a:off x="3764077" y="2624184"/>
            <a:ext cx="1679896" cy="350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die Speisekarte</a:t>
            </a:r>
          </a:p>
        </p:txBody>
      </p:sp>
      <p:sp>
        <p:nvSpPr>
          <p:cNvPr id="153" name="Gerade Verbindung mit Pfeil 19"/>
          <p:cNvSpPr/>
          <p:nvPr/>
        </p:nvSpPr>
        <p:spPr>
          <a:xfrm flipV="1">
            <a:off x="2200769" y="3758267"/>
            <a:ext cx="424985" cy="832228"/>
          </a:xfrm>
          <a:prstGeom prst="line">
            <a:avLst/>
          </a:prstGeom>
          <a:ln w="12700">
            <a:solidFill>
              <a:srgbClr val="000000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54" name="Gerade Verbindung mit Pfeil 20"/>
          <p:cNvSpPr/>
          <p:nvPr/>
        </p:nvSpPr>
        <p:spPr>
          <a:xfrm>
            <a:off x="3959604" y="3463549"/>
            <a:ext cx="1224645" cy="463465"/>
          </a:xfrm>
          <a:prstGeom prst="line">
            <a:avLst/>
          </a:prstGeom>
          <a:ln w="12700">
            <a:solidFill>
              <a:srgbClr val="000000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55" name="Gerade Verbindung mit Pfeil 23"/>
          <p:cNvSpPr/>
          <p:nvPr/>
        </p:nvSpPr>
        <p:spPr>
          <a:xfrm>
            <a:off x="7433160" y="4448164"/>
            <a:ext cx="1989764" cy="142332"/>
          </a:xfrm>
          <a:prstGeom prst="line">
            <a:avLst/>
          </a:prstGeom>
          <a:ln w="12700">
            <a:solidFill>
              <a:srgbClr val="000000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56" name="Gerade Verbindung mit Pfeil 29"/>
          <p:cNvSpPr/>
          <p:nvPr/>
        </p:nvSpPr>
        <p:spPr>
          <a:xfrm flipH="1">
            <a:off x="3919452" y="5637402"/>
            <a:ext cx="1788064" cy="1"/>
          </a:xfrm>
          <a:prstGeom prst="line">
            <a:avLst/>
          </a:prstGeom>
          <a:ln w="12700">
            <a:solidFill>
              <a:srgbClr val="000000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57" name="Gerade Verbindung mit Pfeil 32"/>
          <p:cNvSpPr/>
          <p:nvPr/>
        </p:nvSpPr>
        <p:spPr>
          <a:xfrm flipH="1">
            <a:off x="7139030" y="5613632"/>
            <a:ext cx="2183044" cy="1"/>
          </a:xfrm>
          <a:prstGeom prst="line">
            <a:avLst/>
          </a:prstGeom>
          <a:ln w="12700">
            <a:solidFill>
              <a:srgbClr val="000000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58" name="Textfeld 34"/>
          <p:cNvSpPr txBox="1"/>
          <p:nvPr/>
        </p:nvSpPr>
        <p:spPr>
          <a:xfrm>
            <a:off x="1453061" y="3825457"/>
            <a:ext cx="904676" cy="492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400">
                <a:solidFill>
                  <a:srgbClr val="262626"/>
                </a:solidFill>
              </a:defRPr>
            </a:pPr>
            <a:r>
              <a:t>wählt aus</a:t>
            </a:r>
          </a:p>
          <a:p>
            <a:pPr>
              <a:defRPr sz="1400">
                <a:solidFill>
                  <a:srgbClr val="262626"/>
                </a:solidFill>
              </a:defRPr>
            </a:pPr>
            <a:r>
              <a:t>Angebot</a:t>
            </a:r>
          </a:p>
        </p:txBody>
      </p:sp>
      <p:sp>
        <p:nvSpPr>
          <p:cNvPr id="159" name="Textfeld 35"/>
          <p:cNvSpPr txBox="1"/>
          <p:nvPr/>
        </p:nvSpPr>
        <p:spPr>
          <a:xfrm>
            <a:off x="3760484" y="3796222"/>
            <a:ext cx="1397727" cy="492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>
                <a:solidFill>
                  <a:srgbClr val="262626"/>
                </a:solidFill>
              </a:defRPr>
            </a:lvl1pPr>
          </a:lstStyle>
          <a:p>
            <a:pPr/>
            <a:r>
              <a:t>nimmt die Bestellung auf</a:t>
            </a:r>
          </a:p>
        </p:txBody>
      </p:sp>
      <p:sp>
        <p:nvSpPr>
          <p:cNvPr id="160" name="Textfeld 36"/>
          <p:cNvSpPr txBox="1"/>
          <p:nvPr/>
        </p:nvSpPr>
        <p:spPr>
          <a:xfrm>
            <a:off x="7650032" y="3912770"/>
            <a:ext cx="1476874" cy="492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>
                <a:solidFill>
                  <a:srgbClr val="262626"/>
                </a:solidFill>
              </a:defRPr>
            </a:lvl1pPr>
          </a:lstStyle>
          <a:p>
            <a:pPr/>
            <a:r>
              <a:t>übersetzt die Bestellung</a:t>
            </a:r>
          </a:p>
        </p:txBody>
      </p:sp>
      <p:sp>
        <p:nvSpPr>
          <p:cNvPr id="161" name="Textfeld 37"/>
          <p:cNvSpPr txBox="1"/>
          <p:nvPr/>
        </p:nvSpPr>
        <p:spPr>
          <a:xfrm>
            <a:off x="7545209" y="5637402"/>
            <a:ext cx="1476875" cy="492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>
                <a:solidFill>
                  <a:srgbClr val="262626"/>
                </a:solidFill>
              </a:defRPr>
            </a:lvl1pPr>
          </a:lstStyle>
          <a:p>
            <a:pPr/>
            <a:r>
              <a:t>fertigt das Gericht an</a:t>
            </a:r>
          </a:p>
        </p:txBody>
      </p:sp>
      <p:sp>
        <p:nvSpPr>
          <p:cNvPr id="162" name="Textfeld 38"/>
          <p:cNvSpPr txBox="1"/>
          <p:nvPr/>
        </p:nvSpPr>
        <p:spPr>
          <a:xfrm>
            <a:off x="3955882" y="5648223"/>
            <a:ext cx="1476874" cy="492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400">
                <a:solidFill>
                  <a:srgbClr val="262626"/>
                </a:solidFill>
              </a:defRPr>
            </a:pPr>
            <a:r>
              <a:t>liefert das</a:t>
            </a:r>
          </a:p>
          <a:p>
            <a:pPr algn="ctr">
              <a:defRPr sz="1400">
                <a:solidFill>
                  <a:srgbClr val="262626"/>
                </a:solidFill>
              </a:defRPr>
            </a:pPr>
            <a:r>
              <a:t>Gericht aus</a:t>
            </a:r>
          </a:p>
        </p:txBody>
      </p:sp>
      <p:sp>
        <p:nvSpPr>
          <p:cNvPr id="163" name="Textfeld 21"/>
          <p:cNvSpPr txBox="1"/>
          <p:nvPr/>
        </p:nvSpPr>
        <p:spPr>
          <a:xfrm>
            <a:off x="10047675" y="6501458"/>
            <a:ext cx="1754564" cy="177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700"/>
            </a:lvl1pPr>
          </a:lstStyle>
          <a:p>
            <a:pPr/>
            <a:r>
              <a:t>Bilder von https://publicdomainvectors.org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itel 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t>Herzlich Willkommen im RESTaurant!</a:t>
            </a:r>
          </a:p>
        </p:txBody>
      </p:sp>
      <p:sp>
        <p:nvSpPr>
          <p:cNvPr id="168" name="Foliennummer"/>
          <p:cNvSpPr txBox="1"/>
          <p:nvPr>
            <p:ph type="sldNum" sz="quarter" idx="2"/>
          </p:nvPr>
        </p:nvSpPr>
        <p:spPr>
          <a:xfrm>
            <a:off x="6043929" y="6482985"/>
            <a:ext cx="188899" cy="26425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69" name="Inhaltsplatzhalter 7" descr="Inhaltsplatzhalter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517213" y="3927014"/>
            <a:ext cx="1836587" cy="2244429"/>
          </a:xfrm>
          <a:prstGeom prst="rect">
            <a:avLst/>
          </a:prstGeom>
          <a:ln w="12700">
            <a:miter lim="400000"/>
          </a:ln>
        </p:spPr>
      </p:pic>
      <p:pic>
        <p:nvPicPr>
          <p:cNvPr id="170" name="Grafik 11" descr="Grafik 1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38200" y="4590494"/>
            <a:ext cx="2725142" cy="1586469"/>
          </a:xfrm>
          <a:prstGeom prst="rect">
            <a:avLst/>
          </a:prstGeom>
          <a:ln w="12700">
            <a:miter lim="400000"/>
          </a:ln>
        </p:spPr>
      </p:pic>
      <p:pic>
        <p:nvPicPr>
          <p:cNvPr id="171" name="Grafik 13" descr="Grafik 1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432754" y="3463549"/>
            <a:ext cx="1592638" cy="2707895"/>
          </a:xfrm>
          <a:prstGeom prst="rect">
            <a:avLst/>
          </a:prstGeom>
          <a:ln w="12700">
            <a:miter lim="400000"/>
          </a:ln>
        </p:spPr>
      </p:pic>
      <p:sp>
        <p:nvSpPr>
          <p:cNvPr id="172" name="Textfeld 14"/>
          <p:cNvSpPr txBox="1"/>
          <p:nvPr/>
        </p:nvSpPr>
        <p:spPr>
          <a:xfrm>
            <a:off x="1624521" y="4590494"/>
            <a:ext cx="1451185" cy="350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das Frontend</a:t>
            </a:r>
          </a:p>
        </p:txBody>
      </p:sp>
      <p:sp>
        <p:nvSpPr>
          <p:cNvPr id="173" name="Textfeld 15"/>
          <p:cNvSpPr txBox="1"/>
          <p:nvPr/>
        </p:nvSpPr>
        <p:spPr>
          <a:xfrm>
            <a:off x="6349884" y="3463549"/>
            <a:ext cx="1705234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die Schnittstelle</a:t>
            </a:r>
          </a:p>
        </p:txBody>
      </p:sp>
      <p:sp>
        <p:nvSpPr>
          <p:cNvPr id="174" name="Textfeld 16"/>
          <p:cNvSpPr txBox="1"/>
          <p:nvPr/>
        </p:nvSpPr>
        <p:spPr>
          <a:xfrm>
            <a:off x="9830693" y="3463549"/>
            <a:ext cx="1425846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das Backend</a:t>
            </a:r>
          </a:p>
        </p:txBody>
      </p:sp>
      <p:sp>
        <p:nvSpPr>
          <p:cNvPr id="175" name="Textfeld 46"/>
          <p:cNvSpPr txBox="1"/>
          <p:nvPr/>
        </p:nvSpPr>
        <p:spPr>
          <a:xfrm>
            <a:off x="10047675" y="6501458"/>
            <a:ext cx="1754564" cy="177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700"/>
            </a:lvl1pPr>
          </a:lstStyle>
          <a:p>
            <a:pPr/>
            <a:r>
              <a:t>Bilder von https://publicdomainvectors.org</a:t>
            </a:r>
          </a:p>
        </p:txBody>
      </p:sp>
      <p:pic>
        <p:nvPicPr>
          <p:cNvPr id="176" name="Grafik 9" descr="Grafik 9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473316" y="1923328"/>
            <a:ext cx="1290763" cy="1771046"/>
          </a:xfrm>
          <a:prstGeom prst="rect">
            <a:avLst/>
          </a:prstGeom>
          <a:ln w="12700">
            <a:miter lim="400000"/>
          </a:ln>
        </p:spPr>
      </p:pic>
      <p:sp>
        <p:nvSpPr>
          <p:cNvPr id="177" name="Textfeld 10"/>
          <p:cNvSpPr txBox="1"/>
          <p:nvPr/>
        </p:nvSpPr>
        <p:spPr>
          <a:xfrm>
            <a:off x="3764077" y="2624184"/>
            <a:ext cx="3204975" cy="350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die Schnittstellenbeschreibung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itel 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t>Herzlich Willkommen im RESTaurant!</a:t>
            </a:r>
          </a:p>
        </p:txBody>
      </p:sp>
      <p:sp>
        <p:nvSpPr>
          <p:cNvPr id="182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83" name="Inhaltsplatzhalter 7" descr="Inhaltsplatzhalter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517213" y="3927014"/>
            <a:ext cx="1836587" cy="2244429"/>
          </a:xfrm>
          <a:prstGeom prst="rect">
            <a:avLst/>
          </a:prstGeom>
          <a:ln w="12700">
            <a:miter lim="400000"/>
          </a:ln>
        </p:spPr>
      </p:pic>
      <p:pic>
        <p:nvPicPr>
          <p:cNvPr id="184" name="Grafik 9" descr="Grafik 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473316" y="1923328"/>
            <a:ext cx="1290763" cy="17710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85" name="Grafik 11" descr="Grafik 11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38200" y="4590494"/>
            <a:ext cx="2725142" cy="1586469"/>
          </a:xfrm>
          <a:prstGeom prst="rect">
            <a:avLst/>
          </a:prstGeom>
          <a:ln w="12700">
            <a:miter lim="400000"/>
          </a:ln>
        </p:spPr>
      </p:pic>
      <p:pic>
        <p:nvPicPr>
          <p:cNvPr id="186" name="Grafik 13" descr="Grafik 13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432754" y="3463549"/>
            <a:ext cx="1592638" cy="2707895"/>
          </a:xfrm>
          <a:prstGeom prst="rect">
            <a:avLst/>
          </a:prstGeom>
          <a:ln w="12700">
            <a:miter lim="400000"/>
          </a:ln>
        </p:spPr>
      </p:pic>
      <p:sp>
        <p:nvSpPr>
          <p:cNvPr id="187" name="Gerade Verbindung mit Pfeil 19"/>
          <p:cNvSpPr/>
          <p:nvPr/>
        </p:nvSpPr>
        <p:spPr>
          <a:xfrm flipV="1">
            <a:off x="2200769" y="3758267"/>
            <a:ext cx="424985" cy="832228"/>
          </a:xfrm>
          <a:prstGeom prst="line">
            <a:avLst/>
          </a:prstGeom>
          <a:ln w="12700">
            <a:solidFill>
              <a:srgbClr val="000000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88" name="Gerade Verbindung mit Pfeil 20"/>
          <p:cNvSpPr/>
          <p:nvPr/>
        </p:nvSpPr>
        <p:spPr>
          <a:xfrm>
            <a:off x="3959604" y="3463549"/>
            <a:ext cx="1224645" cy="463465"/>
          </a:xfrm>
          <a:prstGeom prst="line">
            <a:avLst/>
          </a:prstGeom>
          <a:ln w="12700">
            <a:solidFill>
              <a:srgbClr val="000000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89" name="Gerade Verbindung mit Pfeil 23"/>
          <p:cNvSpPr/>
          <p:nvPr/>
        </p:nvSpPr>
        <p:spPr>
          <a:xfrm>
            <a:off x="7433160" y="4448164"/>
            <a:ext cx="1989764" cy="142332"/>
          </a:xfrm>
          <a:prstGeom prst="line">
            <a:avLst/>
          </a:prstGeom>
          <a:ln w="12700">
            <a:solidFill>
              <a:srgbClr val="000000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90" name="Gerade Verbindung mit Pfeil 29"/>
          <p:cNvSpPr/>
          <p:nvPr/>
        </p:nvSpPr>
        <p:spPr>
          <a:xfrm flipH="1">
            <a:off x="3919452" y="5637402"/>
            <a:ext cx="1788064" cy="1"/>
          </a:xfrm>
          <a:prstGeom prst="line">
            <a:avLst/>
          </a:prstGeom>
          <a:ln w="12700">
            <a:solidFill>
              <a:srgbClr val="000000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91" name="Gerade Verbindung mit Pfeil 32"/>
          <p:cNvSpPr/>
          <p:nvPr/>
        </p:nvSpPr>
        <p:spPr>
          <a:xfrm flipH="1">
            <a:off x="7139030" y="5613632"/>
            <a:ext cx="2183044" cy="1"/>
          </a:xfrm>
          <a:prstGeom prst="line">
            <a:avLst/>
          </a:prstGeom>
          <a:ln w="12700">
            <a:solidFill>
              <a:srgbClr val="000000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92" name="Textfeld 34"/>
          <p:cNvSpPr txBox="1"/>
          <p:nvPr/>
        </p:nvSpPr>
        <p:spPr>
          <a:xfrm>
            <a:off x="1201776" y="3713217"/>
            <a:ext cx="1102443" cy="695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1400">
                <a:solidFill>
                  <a:srgbClr val="262626"/>
                </a:solidFill>
              </a:defRPr>
            </a:pPr>
            <a:r>
              <a:t>wählt aus</a:t>
            </a:r>
          </a:p>
          <a:p>
            <a:pPr algn="ctr">
              <a:defRPr sz="1400">
                <a:solidFill>
                  <a:srgbClr val="262626"/>
                </a:solidFill>
              </a:defRPr>
            </a:pPr>
            <a:r>
              <a:t>verfügbaren</a:t>
            </a:r>
          </a:p>
          <a:p>
            <a:pPr algn="ctr">
              <a:defRPr sz="1400">
                <a:solidFill>
                  <a:srgbClr val="262626"/>
                </a:solidFill>
              </a:defRPr>
            </a:pPr>
            <a:r>
              <a:t>Endpunkten</a:t>
            </a:r>
          </a:p>
        </p:txBody>
      </p:sp>
      <p:sp>
        <p:nvSpPr>
          <p:cNvPr id="193" name="Textfeld 35"/>
          <p:cNvSpPr txBox="1"/>
          <p:nvPr/>
        </p:nvSpPr>
        <p:spPr>
          <a:xfrm>
            <a:off x="3760484" y="3796222"/>
            <a:ext cx="1397727" cy="492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>
                <a:solidFill>
                  <a:srgbClr val="262626"/>
                </a:solidFill>
              </a:defRPr>
            </a:lvl1pPr>
          </a:lstStyle>
          <a:p>
            <a:pPr/>
            <a:r>
              <a:t>sendet die Anfrage ab</a:t>
            </a:r>
          </a:p>
        </p:txBody>
      </p:sp>
      <p:sp>
        <p:nvSpPr>
          <p:cNvPr id="194" name="Textfeld 36"/>
          <p:cNvSpPr txBox="1"/>
          <p:nvPr/>
        </p:nvSpPr>
        <p:spPr>
          <a:xfrm>
            <a:off x="7650032" y="3912770"/>
            <a:ext cx="1476874" cy="492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400">
                <a:solidFill>
                  <a:srgbClr val="262626"/>
                </a:solidFill>
              </a:defRPr>
            </a:pPr>
            <a:r>
              <a:t>leitet die</a:t>
            </a:r>
          </a:p>
          <a:p>
            <a:pPr algn="ctr">
              <a:defRPr sz="1400">
                <a:solidFill>
                  <a:srgbClr val="262626"/>
                </a:solidFill>
              </a:defRPr>
            </a:pPr>
            <a:r>
              <a:t>Anfrage weiter</a:t>
            </a:r>
          </a:p>
        </p:txBody>
      </p:sp>
      <p:sp>
        <p:nvSpPr>
          <p:cNvPr id="195" name="Textfeld 37"/>
          <p:cNvSpPr txBox="1"/>
          <p:nvPr/>
        </p:nvSpPr>
        <p:spPr>
          <a:xfrm>
            <a:off x="7545209" y="5637402"/>
            <a:ext cx="1476875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>
                <a:solidFill>
                  <a:srgbClr val="262626"/>
                </a:solidFill>
              </a:defRPr>
            </a:lvl1pPr>
          </a:lstStyle>
          <a:p>
            <a:pPr/>
            <a:r>
              <a:t>gibt Antwort</a:t>
            </a:r>
          </a:p>
        </p:txBody>
      </p:sp>
      <p:sp>
        <p:nvSpPr>
          <p:cNvPr id="196" name="Textfeld 38"/>
          <p:cNvSpPr txBox="1"/>
          <p:nvPr/>
        </p:nvSpPr>
        <p:spPr>
          <a:xfrm>
            <a:off x="3955882" y="5648223"/>
            <a:ext cx="1476874" cy="492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>
                <a:solidFill>
                  <a:srgbClr val="262626"/>
                </a:solidFill>
              </a:defRPr>
            </a:lvl1pPr>
          </a:lstStyle>
          <a:p>
            <a:pPr/>
            <a:r>
              <a:t>liefert die Antwort aus</a:t>
            </a:r>
          </a:p>
        </p:txBody>
      </p:sp>
      <p:sp>
        <p:nvSpPr>
          <p:cNvPr id="197" name="Textfeld 21"/>
          <p:cNvSpPr txBox="1"/>
          <p:nvPr/>
        </p:nvSpPr>
        <p:spPr>
          <a:xfrm>
            <a:off x="10047675" y="6501458"/>
            <a:ext cx="1754564" cy="177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700"/>
            </a:lvl1pPr>
          </a:lstStyle>
          <a:p>
            <a:pPr/>
            <a:r>
              <a:t>Bilder von https://publicdomainvectors.org</a:t>
            </a:r>
          </a:p>
        </p:txBody>
      </p:sp>
      <p:sp>
        <p:nvSpPr>
          <p:cNvPr id="198" name="Textfeld 22"/>
          <p:cNvSpPr txBox="1"/>
          <p:nvPr/>
        </p:nvSpPr>
        <p:spPr>
          <a:xfrm>
            <a:off x="1624521" y="4590494"/>
            <a:ext cx="1451185" cy="350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das Frontend</a:t>
            </a:r>
          </a:p>
        </p:txBody>
      </p:sp>
      <p:sp>
        <p:nvSpPr>
          <p:cNvPr id="199" name="Textfeld 24"/>
          <p:cNvSpPr txBox="1"/>
          <p:nvPr/>
        </p:nvSpPr>
        <p:spPr>
          <a:xfrm>
            <a:off x="6349884" y="3463549"/>
            <a:ext cx="1705234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die Schnittstelle</a:t>
            </a:r>
          </a:p>
        </p:txBody>
      </p:sp>
      <p:sp>
        <p:nvSpPr>
          <p:cNvPr id="200" name="Textfeld 25"/>
          <p:cNvSpPr txBox="1"/>
          <p:nvPr/>
        </p:nvSpPr>
        <p:spPr>
          <a:xfrm>
            <a:off x="9830693" y="3463549"/>
            <a:ext cx="1425846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das Backend</a:t>
            </a:r>
          </a:p>
        </p:txBody>
      </p:sp>
      <p:sp>
        <p:nvSpPr>
          <p:cNvPr id="201" name="Textfeld 26"/>
          <p:cNvSpPr txBox="1"/>
          <p:nvPr/>
        </p:nvSpPr>
        <p:spPr>
          <a:xfrm>
            <a:off x="3764077" y="2624184"/>
            <a:ext cx="3204975" cy="350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die Schnittstellenbeschreibung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itel 3"/>
          <p:cNvSpPr txBox="1"/>
          <p:nvPr>
            <p:ph type="title"/>
          </p:nvPr>
        </p:nvSpPr>
        <p:spPr>
          <a:xfrm>
            <a:off x="831850" y="1709738"/>
            <a:ext cx="10515600" cy="2852738"/>
          </a:xfrm>
          <a:prstGeom prst="rect">
            <a:avLst/>
          </a:prstGeom>
        </p:spPr>
        <p:txBody>
          <a:bodyPr/>
          <a:lstStyle/>
          <a:p>
            <a:pPr/>
            <a:r>
              <a:t>SOAP &amp; XML vs. REST &amp; JSON</a:t>
            </a:r>
          </a:p>
        </p:txBody>
      </p:sp>
      <p:sp>
        <p:nvSpPr>
          <p:cNvPr id="206" name="Textplatzhalter 4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itel 1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Strukturierung</a:t>
            </a:r>
          </a:p>
        </p:txBody>
      </p:sp>
      <p:sp>
        <p:nvSpPr>
          <p:cNvPr id="211" name="Textplatzhalter 2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SOAP</a:t>
            </a:r>
          </a:p>
        </p:txBody>
      </p:sp>
      <p:pic>
        <p:nvPicPr>
          <p:cNvPr id="212" name="Inhaltsplatzhalter 9" descr="Inhaltsplatzhalter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65968" y="3013682"/>
            <a:ext cx="2505426" cy="2667373"/>
          </a:xfrm>
          <a:prstGeom prst="rect">
            <a:avLst/>
          </a:prstGeom>
          <a:ln w="12700">
            <a:miter lim="400000"/>
          </a:ln>
        </p:spPr>
      </p:pic>
      <p:sp>
        <p:nvSpPr>
          <p:cNvPr id="213" name="Textplatzhalter 4"/>
          <p:cNvSpPr/>
          <p:nvPr>
            <p:ph type="body" idx="1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indent="0" algn="ctr">
              <a:buSzTx/>
              <a:buFontTx/>
              <a:buNone/>
              <a:defRPr b="1" sz="2400"/>
            </a:lvl1pPr>
          </a:lstStyle>
          <a:p>
            <a:pPr/>
            <a:r>
              <a:t>REST</a:t>
            </a:r>
          </a:p>
        </p:txBody>
      </p:sp>
      <p:sp>
        <p:nvSpPr>
          <p:cNvPr id="214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15" name="Inhaltsplatzhalter 7" descr="Inhaltsplatzhalter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239581" y="2989866"/>
            <a:ext cx="3048426" cy="2715005"/>
          </a:xfrm>
          <a:prstGeom prst="rect">
            <a:avLst/>
          </a:prstGeom>
          <a:ln w="12700">
            <a:miter lim="400000"/>
          </a:ln>
        </p:spPr>
      </p:pic>
      <p:sp>
        <p:nvSpPr>
          <p:cNvPr id="216" name="Textfeld 10"/>
          <p:cNvSpPr txBox="1"/>
          <p:nvPr/>
        </p:nvSpPr>
        <p:spPr>
          <a:xfrm>
            <a:off x="2541709" y="5520204"/>
            <a:ext cx="1717848" cy="350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aktionsorientiert</a:t>
            </a:r>
          </a:p>
        </p:txBody>
      </p:sp>
      <p:sp>
        <p:nvSpPr>
          <p:cNvPr id="217" name="Textfeld 11"/>
          <p:cNvSpPr txBox="1"/>
          <p:nvPr/>
        </p:nvSpPr>
        <p:spPr>
          <a:xfrm>
            <a:off x="7711517" y="5496388"/>
            <a:ext cx="2124371" cy="350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ressourcenorientiert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itel 1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Basis</a:t>
            </a:r>
          </a:p>
        </p:txBody>
      </p:sp>
      <p:sp>
        <p:nvSpPr>
          <p:cNvPr id="220" name="Textplatzhalter 2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SOAP</a:t>
            </a:r>
          </a:p>
        </p:txBody>
      </p:sp>
      <p:sp>
        <p:nvSpPr>
          <p:cNvPr id="221" name="Textplatzhalter 4"/>
          <p:cNvSpPr/>
          <p:nvPr>
            <p:ph type="body" idx="1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indent="0" algn="ctr">
              <a:buSzTx/>
              <a:buFontTx/>
              <a:buNone/>
              <a:defRPr b="1" sz="2400"/>
            </a:lvl1pPr>
          </a:lstStyle>
          <a:p>
            <a:pPr/>
            <a:r>
              <a:t>REST</a:t>
            </a:r>
          </a:p>
        </p:txBody>
      </p:sp>
      <p:sp>
        <p:nvSpPr>
          <p:cNvPr id="222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23" name="Textfeld 10"/>
          <p:cNvSpPr txBox="1"/>
          <p:nvPr/>
        </p:nvSpPr>
        <p:spPr>
          <a:xfrm>
            <a:off x="2207701" y="5574962"/>
            <a:ext cx="2594407" cy="350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Remote Procedure Calls</a:t>
            </a:r>
          </a:p>
        </p:txBody>
      </p:sp>
      <p:sp>
        <p:nvSpPr>
          <p:cNvPr id="224" name="Textfeld 11"/>
          <p:cNvSpPr txBox="1"/>
          <p:nvPr/>
        </p:nvSpPr>
        <p:spPr>
          <a:xfrm>
            <a:off x="7385050" y="5574962"/>
            <a:ext cx="2886520" cy="350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Hypertext Transfer Protocol</a:t>
            </a:r>
          </a:p>
        </p:txBody>
      </p:sp>
      <p:pic>
        <p:nvPicPr>
          <p:cNvPr id="225" name="Inhaltsplatzhalter 8" descr="Inhaltsplatzhalter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54524" y="3080010"/>
            <a:ext cx="3925159" cy="2247154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" name="Inhaltsplatzhalter 15" descr="Inhaltsplatzhalter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792986" y="3181306"/>
            <a:ext cx="3944490" cy="20445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Titel 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t>Beliebtheit</a:t>
            </a:r>
          </a:p>
        </p:txBody>
      </p:sp>
      <p:sp>
        <p:nvSpPr>
          <p:cNvPr id="229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30" name="Inhaltsplatzhalter 10" descr="Inhaltsplatzhalter 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70736" y="1825625"/>
            <a:ext cx="8450529" cy="43513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Titel 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t>Informationsdichte</a:t>
            </a:r>
          </a:p>
        </p:txBody>
      </p:sp>
      <p:sp>
        <p:nvSpPr>
          <p:cNvPr id="233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3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076575" y="1843881"/>
            <a:ext cx="6038850" cy="431482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itel 3"/>
          <p:cNvSpPr txBox="1"/>
          <p:nvPr>
            <p:ph type="title"/>
          </p:nvPr>
        </p:nvSpPr>
        <p:spPr>
          <a:xfrm>
            <a:off x="831850" y="1709738"/>
            <a:ext cx="10515600" cy="2852738"/>
          </a:xfrm>
          <a:prstGeom prst="rect">
            <a:avLst/>
          </a:prstGeom>
        </p:spPr>
        <p:txBody>
          <a:bodyPr/>
          <a:lstStyle/>
          <a:p>
            <a:pPr/>
            <a:r>
              <a:t>Was ist das REST-Paradigma?</a:t>
            </a:r>
          </a:p>
        </p:txBody>
      </p:sp>
      <p:sp>
        <p:nvSpPr>
          <p:cNvPr id="237" name="Textplatzhalter 4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Titel 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defTabSz="877823">
              <a:defRPr sz="8448"/>
            </a:pPr>
            <a:r>
              <a:t>RE</a:t>
            </a:r>
            <a:r>
              <a:rPr sz="4224"/>
              <a:t>presentational </a:t>
            </a:r>
            <a:r>
              <a:t>S</a:t>
            </a:r>
            <a:r>
              <a:rPr sz="4224"/>
              <a:t>tate </a:t>
            </a:r>
            <a:r>
              <a:t>T</a:t>
            </a:r>
            <a:r>
              <a:rPr sz="4224"/>
              <a:t>ransfer</a:t>
            </a:r>
          </a:p>
        </p:txBody>
      </p:sp>
      <p:sp>
        <p:nvSpPr>
          <p:cNvPr id="240" name="Inhaltsplatzhalter 2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50000"/>
              </a:lnSpc>
              <a:defRPr sz="2400"/>
            </a:pPr>
            <a:r>
              <a:t>ursprünglich behandelt in der Dissertation von Roy Fielding</a:t>
            </a:r>
          </a:p>
          <a:p>
            <a:pPr>
              <a:lnSpc>
                <a:spcPct val="150000"/>
              </a:lnSpc>
              <a:defRPr sz="2400"/>
            </a:pPr>
            <a:r>
              <a:t>kein Regelwerk, sondern Sammlung von Best Practices</a:t>
            </a:r>
          </a:p>
          <a:p>
            <a:pPr>
              <a:lnSpc>
                <a:spcPct val="150000"/>
              </a:lnSpc>
              <a:defRPr sz="2400"/>
            </a:pPr>
            <a:r>
              <a:t>zustandslos</a:t>
            </a:r>
          </a:p>
          <a:p>
            <a:pPr>
              <a:lnSpc>
                <a:spcPct val="150000"/>
              </a:lnSpc>
              <a:defRPr sz="2400"/>
            </a:pPr>
            <a:r>
              <a:t>übergibt Abbild eines Zustandes (State Transfer)</a:t>
            </a:r>
          </a:p>
          <a:p>
            <a:pPr>
              <a:lnSpc>
                <a:spcPct val="150000"/>
              </a:lnSpc>
              <a:defRPr sz="2400"/>
            </a:pPr>
            <a:r>
              <a:t>kann mehrere Repräsentationen einer Ressource anbieten</a:t>
            </a:r>
          </a:p>
        </p:txBody>
      </p:sp>
      <p:sp>
        <p:nvSpPr>
          <p:cNvPr id="241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itel 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t>Ressourcenorientierung</a:t>
            </a:r>
          </a:p>
        </p:txBody>
      </p:sp>
      <p:sp>
        <p:nvSpPr>
          <p:cNvPr id="246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47" name="Textfeld 3"/>
          <p:cNvSpPr txBox="1"/>
          <p:nvPr/>
        </p:nvSpPr>
        <p:spPr>
          <a:xfrm>
            <a:off x="1231328" y="2138089"/>
            <a:ext cx="1567420" cy="3469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150000"/>
              </a:lnSpc>
              <a:defRPr sz="3200">
                <a:latin typeface="Courier"/>
                <a:ea typeface="Courier"/>
                <a:cs typeface="Courier"/>
                <a:sym typeface="Courier"/>
              </a:defRPr>
            </a:pPr>
            <a:r>
              <a:t>GET</a:t>
            </a:r>
          </a:p>
          <a:p>
            <a:pPr>
              <a:lnSpc>
                <a:spcPct val="150000"/>
              </a:lnSpc>
              <a:defRPr sz="3200">
                <a:latin typeface="Courier"/>
                <a:ea typeface="Courier"/>
                <a:cs typeface="Courier"/>
                <a:sym typeface="Courier"/>
              </a:defRPr>
            </a:pPr>
            <a:r>
              <a:t>POST</a:t>
            </a:r>
          </a:p>
          <a:p>
            <a:pPr>
              <a:lnSpc>
                <a:spcPct val="150000"/>
              </a:lnSpc>
              <a:defRPr sz="3200">
                <a:latin typeface="Courier"/>
                <a:ea typeface="Courier"/>
                <a:cs typeface="Courier"/>
                <a:sym typeface="Courier"/>
              </a:defRPr>
            </a:pPr>
            <a:r>
              <a:t>PUT</a:t>
            </a:r>
          </a:p>
          <a:p>
            <a:pPr>
              <a:lnSpc>
                <a:spcPct val="150000"/>
              </a:lnSpc>
              <a:defRPr sz="3200">
                <a:latin typeface="Courier"/>
                <a:ea typeface="Courier"/>
                <a:cs typeface="Courier"/>
                <a:sym typeface="Courier"/>
              </a:defRPr>
            </a:pPr>
            <a:r>
              <a:t>PATCH</a:t>
            </a:r>
          </a:p>
          <a:p>
            <a:pPr>
              <a:lnSpc>
                <a:spcPct val="150000"/>
              </a:lnSpc>
              <a:defRPr sz="3200">
                <a:latin typeface="Courier"/>
                <a:ea typeface="Courier"/>
                <a:cs typeface="Courier"/>
                <a:sym typeface="Courier"/>
              </a:defRPr>
            </a:pPr>
            <a:r>
              <a:t>DELETE</a:t>
            </a:r>
          </a:p>
        </p:txBody>
      </p:sp>
      <p:sp>
        <p:nvSpPr>
          <p:cNvPr id="248" name="Textfeld 5"/>
          <p:cNvSpPr txBox="1"/>
          <p:nvPr/>
        </p:nvSpPr>
        <p:spPr>
          <a:xfrm>
            <a:off x="3402741" y="3637410"/>
            <a:ext cx="4067186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4000">
                <a:latin typeface="Courier"/>
                <a:ea typeface="Courier"/>
                <a:cs typeface="Courier"/>
                <a:sym typeface="Courier"/>
              </a:defRPr>
            </a:pPr>
            <a:r>
              <a:t>/offices/</a:t>
            </a:r>
            <a:r>
              <a:rPr>
                <a:solidFill>
                  <a:srgbClr val="808080"/>
                </a:solidFill>
              </a:rPr>
              <a:t>{id}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itel 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t>Verschachtelung</a:t>
            </a:r>
          </a:p>
        </p:txBody>
      </p:sp>
      <p:sp>
        <p:nvSpPr>
          <p:cNvPr id="253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54" name="Textfeld 3"/>
          <p:cNvSpPr txBox="1"/>
          <p:nvPr/>
        </p:nvSpPr>
        <p:spPr>
          <a:xfrm>
            <a:off x="1231328" y="2138089"/>
            <a:ext cx="1567420" cy="3469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150000"/>
              </a:lnSpc>
              <a:defRPr sz="3200">
                <a:latin typeface="Courier"/>
                <a:ea typeface="Courier"/>
                <a:cs typeface="Courier"/>
                <a:sym typeface="Courier"/>
              </a:defRPr>
            </a:pPr>
            <a:r>
              <a:t>GET</a:t>
            </a:r>
          </a:p>
          <a:p>
            <a:pPr>
              <a:lnSpc>
                <a:spcPct val="150000"/>
              </a:lnSpc>
              <a:defRPr sz="3200">
                <a:latin typeface="Courier"/>
                <a:ea typeface="Courier"/>
                <a:cs typeface="Courier"/>
                <a:sym typeface="Courier"/>
              </a:defRPr>
            </a:pPr>
            <a:r>
              <a:t>POST</a:t>
            </a:r>
          </a:p>
          <a:p>
            <a:pPr>
              <a:lnSpc>
                <a:spcPct val="150000"/>
              </a:lnSpc>
              <a:defRPr sz="3200">
                <a:latin typeface="Courier"/>
                <a:ea typeface="Courier"/>
                <a:cs typeface="Courier"/>
                <a:sym typeface="Courier"/>
              </a:defRPr>
            </a:pPr>
            <a:r>
              <a:t>PUT</a:t>
            </a:r>
          </a:p>
          <a:p>
            <a:pPr>
              <a:lnSpc>
                <a:spcPct val="150000"/>
              </a:lnSpc>
              <a:defRPr sz="3200">
                <a:latin typeface="Courier"/>
                <a:ea typeface="Courier"/>
                <a:cs typeface="Courier"/>
                <a:sym typeface="Courier"/>
              </a:defRPr>
            </a:pPr>
            <a:r>
              <a:t>PATCH</a:t>
            </a:r>
          </a:p>
          <a:p>
            <a:pPr>
              <a:lnSpc>
                <a:spcPct val="150000"/>
              </a:lnSpc>
              <a:defRPr sz="3200">
                <a:latin typeface="Courier"/>
                <a:ea typeface="Courier"/>
                <a:cs typeface="Courier"/>
                <a:sym typeface="Courier"/>
              </a:defRPr>
            </a:pPr>
            <a:r>
              <a:t>DELETE</a:t>
            </a:r>
          </a:p>
        </p:txBody>
      </p:sp>
      <p:sp>
        <p:nvSpPr>
          <p:cNvPr id="255" name="Textfeld 4"/>
          <p:cNvSpPr txBox="1"/>
          <p:nvPr/>
        </p:nvSpPr>
        <p:spPr>
          <a:xfrm>
            <a:off x="3415441" y="3637410"/>
            <a:ext cx="7420532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4000">
                <a:latin typeface="Courier"/>
                <a:ea typeface="Courier"/>
                <a:cs typeface="Courier"/>
                <a:sym typeface="Courier"/>
              </a:defRPr>
            </a:pPr>
            <a:r>
              <a:t>/offices/{id}/desks/</a:t>
            </a:r>
            <a:r>
              <a:rPr>
                <a:solidFill>
                  <a:srgbClr val="808080"/>
                </a:solidFill>
              </a:rPr>
              <a:t>{id}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Titel 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t>Operationen auf eine Ressource</a:t>
            </a:r>
          </a:p>
        </p:txBody>
      </p:sp>
      <p:sp>
        <p:nvSpPr>
          <p:cNvPr id="260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aphicFrame>
        <p:nvGraphicFramePr>
          <p:cNvPr id="261" name="Inhaltsplatzhalter 3"/>
          <p:cNvGraphicFramePr/>
          <p:nvPr/>
        </p:nvGraphicFramePr>
        <p:xfrm>
          <a:off x="838200" y="1690688"/>
          <a:ext cx="10515600" cy="480218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4220191"/>
                <a:gridCol w="1978513"/>
                <a:gridCol w="4316895"/>
              </a:tblGrid>
              <a:tr h="33436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500"/>
                        </a:spcBef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</a:rPr>
                        <a:t>Aktion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500"/>
                        </a:spcBef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</a:rPr>
                        <a:t>HTTP-Methode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500"/>
                        </a:spcBef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</a:rPr>
                        <a:t>URI</a:t>
                      </a:r>
                    </a:p>
                  </a:txBody>
                  <a:tcPr marL="0" marR="0" marT="0" marB="0" anchor="ctr" anchorCtr="0" horzOverflow="overflow"/>
                </a:tc>
              </a:tr>
              <a:tr h="33436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tabLst>
                          <a:tab pos="3543300" algn="l"/>
                        </a:tabLst>
                        <a:defRPr sz="1800"/>
                      </a:pPr>
                      <a:r>
                        <a:rPr b="1" sz="1600">
                          <a:solidFill>
                            <a:srgbClr val="FFFFFF"/>
                          </a:solidFill>
                        </a:rPr>
                        <a:t>alle Büros auslesen</a:t>
                      </a:r>
                    </a:p>
                  </a:txBody>
                  <a:tcPr marL="0" marR="0" marT="0" marB="0" anchor="ctr" anchorCtr="0" horzOverflow="overflow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tabLst>
                          <a:tab pos="3543300" algn="l"/>
                        </a:tabLst>
                        <a:defRPr sz="1800"/>
                      </a:pPr>
                      <a:r>
                        <a:rPr sz="1600"/>
                        <a:t>GET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tabLst>
                          <a:tab pos="3543300" algn="l"/>
                        </a:tabLst>
                        <a:defRPr sz="1800"/>
                      </a:pPr>
                      <a:r>
                        <a:rPr sz="1600"/>
                        <a:t>/offices</a:t>
                      </a:r>
                    </a:p>
                  </a:txBody>
                  <a:tcPr marL="0" marR="0" marT="0" marB="0" anchor="ctr" anchorCtr="0" horzOverflow="overflow"/>
                </a:tc>
              </a:tr>
              <a:tr h="33436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tabLst>
                          <a:tab pos="3543300" algn="l"/>
                        </a:tabLst>
                        <a:defRPr sz="1800"/>
                      </a:pPr>
                      <a:r>
                        <a:rPr b="1" sz="1600">
                          <a:solidFill>
                            <a:srgbClr val="FFFFFF"/>
                          </a:solidFill>
                        </a:rPr>
                        <a:t>neues Büro anlegen</a:t>
                      </a:r>
                    </a:p>
                  </a:txBody>
                  <a:tcPr marL="0" marR="0" marT="0" marB="0" anchor="ctr" anchorCtr="0" horzOverflow="overflow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tabLst>
                          <a:tab pos="3543300" algn="l"/>
                        </a:tabLst>
                        <a:defRPr sz="1800"/>
                      </a:pPr>
                      <a:r>
                        <a:rPr sz="1600"/>
                        <a:t>POST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tabLst>
                          <a:tab pos="3543300" algn="l"/>
                        </a:tabLst>
                        <a:defRPr sz="1800"/>
                      </a:pPr>
                      <a:r>
                        <a:rPr sz="1600"/>
                        <a:t>/offices</a:t>
                      </a:r>
                    </a:p>
                  </a:txBody>
                  <a:tcPr marL="0" marR="0" marT="0" marB="0" anchor="ctr" anchorCtr="0" horzOverflow="overflow"/>
                </a:tc>
              </a:tr>
              <a:tr h="33436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tabLst>
                          <a:tab pos="3543300" algn="l"/>
                        </a:tabLst>
                        <a:defRPr sz="1800"/>
                      </a:pPr>
                      <a:r>
                        <a:rPr b="1" sz="1600">
                          <a:solidFill>
                            <a:srgbClr val="FFFFFF"/>
                          </a:solidFill>
                        </a:rPr>
                        <a:t>Büro mit der ID {x} auslesen</a:t>
                      </a:r>
                    </a:p>
                  </a:txBody>
                  <a:tcPr marL="0" marR="0" marT="0" marB="0" anchor="ctr" anchorCtr="0" horzOverflow="overflow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tabLst>
                          <a:tab pos="3543300" algn="l"/>
                        </a:tabLst>
                        <a:defRPr sz="1800"/>
                      </a:pPr>
                      <a:r>
                        <a:rPr sz="1600"/>
                        <a:t>GET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tabLst>
                          <a:tab pos="3543300" algn="l"/>
                        </a:tabLst>
                        <a:defRPr sz="1800"/>
                      </a:pPr>
                      <a:r>
                        <a:rPr sz="1600"/>
                        <a:t>/offices/{id}</a:t>
                      </a:r>
                    </a:p>
                  </a:txBody>
                  <a:tcPr marL="0" marR="0" marT="0" marB="0" anchor="ctr" anchorCtr="0" horzOverflow="overflow"/>
                </a:tc>
              </a:tr>
              <a:tr h="33436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tabLst>
                          <a:tab pos="3543300" algn="l"/>
                        </a:tabLst>
                        <a:defRPr sz="1800"/>
                      </a:pPr>
                      <a:r>
                        <a:rPr b="1" sz="1600">
                          <a:solidFill>
                            <a:srgbClr val="FFFFFF"/>
                          </a:solidFill>
                        </a:rPr>
                        <a:t>Büro mit der ID {x} komplett aktualisieren</a:t>
                      </a:r>
                    </a:p>
                  </a:txBody>
                  <a:tcPr marL="0" marR="0" marT="0" marB="0" anchor="ctr" anchorCtr="0" horzOverflow="overflow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tabLst>
                          <a:tab pos="3543300" algn="l"/>
                        </a:tabLst>
                        <a:defRPr sz="1800"/>
                      </a:pPr>
                      <a:r>
                        <a:rPr sz="1600"/>
                        <a:t>PUT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tabLst>
                          <a:tab pos="3543300" algn="l"/>
                        </a:tabLst>
                        <a:defRPr sz="1800"/>
                      </a:pPr>
                      <a:r>
                        <a:rPr sz="1600"/>
                        <a:t>/offices/{id}</a:t>
                      </a:r>
                    </a:p>
                  </a:txBody>
                  <a:tcPr marL="0" marR="0" marT="0" marB="0" anchor="ctr" anchorCtr="0" horzOverflow="overflow"/>
                </a:tc>
              </a:tr>
              <a:tr h="33436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tabLst>
                          <a:tab pos="3543300" algn="l"/>
                        </a:tabLst>
                        <a:defRPr sz="1800"/>
                      </a:pPr>
                      <a:r>
                        <a:rPr b="1" sz="1600">
                          <a:solidFill>
                            <a:srgbClr val="FFFFFF"/>
                          </a:solidFill>
                        </a:rPr>
                        <a:t>Büro mit der ID {x} teilweise aktualisieren</a:t>
                      </a:r>
                    </a:p>
                  </a:txBody>
                  <a:tcPr marL="0" marR="0" marT="0" marB="0" anchor="ctr" anchorCtr="0" horzOverflow="overflow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tabLst>
                          <a:tab pos="3543300" algn="l"/>
                        </a:tabLst>
                        <a:defRPr sz="1800"/>
                      </a:pPr>
                      <a:r>
                        <a:rPr sz="1600"/>
                        <a:t>PATCH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tabLst>
                          <a:tab pos="3543300" algn="l"/>
                        </a:tabLst>
                        <a:defRPr sz="1800"/>
                      </a:pPr>
                      <a:r>
                        <a:rPr sz="1600"/>
                        <a:t>/offices/{id}</a:t>
                      </a:r>
                    </a:p>
                  </a:txBody>
                  <a:tcPr marL="0" marR="0" marT="0" marB="0" anchor="ctr" anchorCtr="0" horzOverflow="overflow"/>
                </a:tc>
              </a:tr>
              <a:tr h="33436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tabLst>
                          <a:tab pos="3543300" algn="l"/>
                        </a:tabLst>
                        <a:defRPr sz="1800"/>
                      </a:pPr>
                      <a:r>
                        <a:rPr b="1" sz="1600">
                          <a:solidFill>
                            <a:srgbClr val="FFFFFF"/>
                          </a:solidFill>
                        </a:rPr>
                        <a:t>Büro mit der ID {x} löschen</a:t>
                      </a:r>
                    </a:p>
                  </a:txBody>
                  <a:tcPr marL="0" marR="0" marT="0" marB="0" anchor="ctr" anchorCtr="0" horzOverflow="overflow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tabLst>
                          <a:tab pos="3543300" algn="l"/>
                        </a:tabLst>
                        <a:defRPr sz="1800"/>
                      </a:pPr>
                      <a:r>
                        <a:rPr sz="1600"/>
                        <a:t>DELETE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tabLst>
                          <a:tab pos="3543300" algn="l"/>
                        </a:tabLst>
                        <a:defRPr sz="1800"/>
                      </a:pPr>
                      <a:r>
                        <a:rPr sz="1600"/>
                        <a:t>/offices/{id}</a:t>
                      </a:r>
                    </a:p>
                  </a:txBody>
                  <a:tcPr marL="0" marR="0" marT="0" marB="0" anchor="ctr" anchorCtr="0" horzOverflow="overflow"/>
                </a:tc>
              </a:tr>
              <a:tr h="70909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tabLst>
                          <a:tab pos="3543300" algn="l"/>
                        </a:tabLst>
                        <a:defRPr sz="1800"/>
                      </a:pPr>
                      <a:r>
                        <a:rPr b="1" sz="1600">
                          <a:solidFill>
                            <a:srgbClr val="FFFFFF"/>
                          </a:solidFill>
                        </a:rPr>
                        <a:t>alle Schreibtische, die in dem Büro mit der ID {x} stehen, auslesen</a:t>
                      </a:r>
                    </a:p>
                  </a:txBody>
                  <a:tcPr marL="0" marR="0" marT="0" marB="0" anchor="ctr" anchorCtr="0" horzOverflow="overflow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tabLst>
                          <a:tab pos="3543300" algn="l"/>
                        </a:tabLst>
                        <a:defRPr sz="1800"/>
                      </a:pPr>
                      <a:r>
                        <a:rPr sz="1600"/>
                        <a:t>GET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tabLst>
                          <a:tab pos="3543300" algn="l"/>
                        </a:tabLst>
                        <a:defRPr sz="1800"/>
                      </a:pPr>
                      <a:r>
                        <a:rPr sz="1600"/>
                        <a:t>/offices/{id}/desks/</a:t>
                      </a:r>
                    </a:p>
                  </a:txBody>
                  <a:tcPr marL="0" marR="0" marT="0" marB="0" anchor="ctr" anchorCtr="0" horzOverflow="overflow"/>
                </a:tc>
              </a:tr>
              <a:tr h="70909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tabLst>
                          <a:tab pos="3543300" algn="l"/>
                        </a:tabLst>
                        <a:defRPr sz="1800"/>
                      </a:pPr>
                      <a:r>
                        <a:rPr b="1" sz="1600">
                          <a:solidFill>
                            <a:srgbClr val="FFFFFF"/>
                          </a:solidFill>
                        </a:rPr>
                        <a:t>einen neuen Schreibtisch anlegen, der in dem Büro mit der ID {x} steht</a:t>
                      </a:r>
                    </a:p>
                  </a:txBody>
                  <a:tcPr marL="0" marR="0" marT="0" marB="0" anchor="ctr" anchorCtr="0" horzOverflow="overflow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tabLst>
                          <a:tab pos="3543300" algn="l"/>
                        </a:tabLst>
                        <a:defRPr sz="1800"/>
                      </a:pPr>
                      <a:r>
                        <a:rPr sz="1600"/>
                        <a:t>POST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tabLst>
                          <a:tab pos="3543300" algn="l"/>
                        </a:tabLst>
                        <a:defRPr sz="1800"/>
                      </a:pPr>
                      <a:r>
                        <a:rPr sz="1600"/>
                        <a:t>/offices/{id}/desks/</a:t>
                      </a:r>
                    </a:p>
                  </a:txBody>
                  <a:tcPr marL="0" marR="0" marT="0" marB="0" anchor="ctr" anchorCtr="0" horzOverflow="overflow"/>
                </a:tc>
              </a:tr>
              <a:tr h="70909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tabLst>
                          <a:tab pos="3543300" algn="l"/>
                        </a:tabLst>
                        <a:defRPr sz="1800"/>
                      </a:pPr>
                      <a:r>
                        <a:rPr b="1" sz="1600">
                          <a:solidFill>
                            <a:srgbClr val="FFFFFF"/>
                          </a:solidFill>
                        </a:rPr>
                        <a:t>Schreibtisch mit der ID {y} auslesen, der in dem Büro mit der ID {x} steht</a:t>
                      </a:r>
                    </a:p>
                  </a:txBody>
                  <a:tcPr marL="0" marR="0" marT="0" marB="0" anchor="ctr" anchorCtr="0" horzOverflow="overflow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tabLst>
                          <a:tab pos="3543300" algn="l"/>
                        </a:tabLst>
                        <a:defRPr sz="1800"/>
                      </a:pPr>
                      <a:r>
                        <a:rPr sz="1600"/>
                        <a:t>GET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500"/>
                        </a:spcBef>
                        <a:tabLst>
                          <a:tab pos="3543300" algn="l"/>
                        </a:tabLst>
                        <a:defRPr sz="1800"/>
                      </a:pPr>
                      <a:r>
                        <a:rPr sz="1600"/>
                        <a:t>/offices/{id}/desks/{id}</a:t>
                      </a:r>
                    </a:p>
                  </a:txBody>
                  <a:tcPr marL="0" marR="0" marT="0" marB="0" anchor="ctr" anchorCtr="0" horzOverflow="overflow"/>
                </a:tc>
              </a:tr>
              <a:tr h="334363">
                <a:tc grid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500"/>
                        </a:spcBef>
                        <a:tabLst>
                          <a:tab pos="3543300" algn="l"/>
                        </a:tabLst>
                        <a:defRPr sz="1800"/>
                      </a:pPr>
                      <a:r>
                        <a:rPr b="1" sz="1600">
                          <a:solidFill>
                            <a:srgbClr val="FFFFFF"/>
                          </a:solidFill>
                        </a:rPr>
                        <a:t>…</a:t>
                      </a:r>
                    </a:p>
                  </a:txBody>
                  <a:tcPr marL="0" marR="0" marT="0" marB="0" anchor="ctr" anchorCtr="0" horzOverflow="overflow">
                    <a:solidFill>
                      <a:schemeClr val="accent3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Titel 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t>Antworten mit HTTP-Statuscodes</a:t>
            </a:r>
          </a:p>
        </p:txBody>
      </p:sp>
      <p:sp>
        <p:nvSpPr>
          <p:cNvPr id="266" name="Inhaltsplatzhalter 2"/>
          <p:cNvSpPr txBox="1"/>
          <p:nvPr>
            <p:ph type="body" idx="1"/>
          </p:nvPr>
        </p:nvSpPr>
        <p:spPr>
          <a:xfrm>
            <a:off x="838200" y="1825625"/>
            <a:ext cx="11216184" cy="4351338"/>
          </a:xfrm>
          <a:prstGeom prst="rect">
            <a:avLst/>
          </a:prstGeom>
        </p:spPr>
        <p:txBody>
          <a:bodyPr anchor="ctr"/>
          <a:lstStyle/>
          <a:p>
            <a:pPr marL="0" indent="0">
              <a:lnSpc>
                <a:spcPct val="150000"/>
              </a:lnSpc>
              <a:buSzTx/>
              <a:buNone/>
              <a:defRPr sz="3900">
                <a:latin typeface="Courier"/>
                <a:ea typeface="Courier"/>
                <a:cs typeface="Courier"/>
                <a:sym typeface="Courier"/>
              </a:defRPr>
            </a:pPr>
            <a:r>
              <a:t>GET		 </a:t>
            </a:r>
            <a:r>
              <a:rPr b="1"/>
              <a:t>/offices</a:t>
            </a:r>
            <a:r>
              <a:t>		 </a:t>
            </a:r>
            <a:r>
              <a:rPr>
                <a:solidFill>
                  <a:schemeClr val="accent6"/>
                </a:solidFill>
              </a:rPr>
              <a:t>200 OK</a:t>
            </a:r>
            <a:endParaRPr>
              <a:solidFill>
                <a:schemeClr val="accent6"/>
              </a:solidFill>
            </a:endParaRPr>
          </a:p>
          <a:p>
            <a:pPr marL="0" indent="0">
              <a:lnSpc>
                <a:spcPct val="150000"/>
              </a:lnSpc>
              <a:buSzTx/>
              <a:buNone/>
              <a:defRPr sz="3900">
                <a:latin typeface="Courier"/>
                <a:ea typeface="Courier"/>
                <a:cs typeface="Courier"/>
                <a:sym typeface="Courier"/>
              </a:defRPr>
            </a:pPr>
            <a:r>
              <a:t>POST	 </a:t>
            </a:r>
            <a:r>
              <a:rPr b="1"/>
              <a:t>/offices</a:t>
            </a:r>
            <a:r>
              <a:t>		 </a:t>
            </a:r>
            <a:r>
              <a:rPr>
                <a:solidFill>
                  <a:schemeClr val="accent6"/>
                </a:solidFill>
              </a:rPr>
              <a:t>201 Created</a:t>
            </a:r>
            <a:endParaRPr>
              <a:solidFill>
                <a:schemeClr val="accent6"/>
              </a:solidFill>
            </a:endParaRPr>
          </a:p>
          <a:p>
            <a:pPr marL="0" indent="0">
              <a:lnSpc>
                <a:spcPct val="150000"/>
              </a:lnSpc>
              <a:buSzTx/>
              <a:buNone/>
              <a:defRPr sz="3900">
                <a:latin typeface="Courier"/>
                <a:ea typeface="Courier"/>
                <a:cs typeface="Courier"/>
                <a:sym typeface="Courier"/>
              </a:defRPr>
            </a:pPr>
            <a:r>
              <a:t>DELETE	 </a:t>
            </a:r>
            <a:r>
              <a:rPr b="1"/>
              <a:t>/offices/1</a:t>
            </a:r>
            <a:r>
              <a:t>	 </a:t>
            </a:r>
            <a:r>
              <a:rPr>
                <a:solidFill>
                  <a:schemeClr val="accent6"/>
                </a:solidFill>
              </a:rPr>
              <a:t>202 No Content</a:t>
            </a:r>
          </a:p>
        </p:txBody>
      </p:sp>
      <p:sp>
        <p:nvSpPr>
          <p:cNvPr id="267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Titel 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t>Antworten mit HTTP-Statuscodes</a:t>
            </a:r>
          </a:p>
        </p:txBody>
      </p:sp>
      <p:sp>
        <p:nvSpPr>
          <p:cNvPr id="272" name="Inhaltsplatzhalter 2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anchor="ctr"/>
          <a:lstStyle/>
          <a:p>
            <a:pPr marL="0" indent="0">
              <a:lnSpc>
                <a:spcPct val="120000"/>
              </a:lnSpc>
              <a:buSzTx/>
              <a:buNone/>
              <a:defRPr sz="2900">
                <a:latin typeface="Courier"/>
                <a:ea typeface="Courier"/>
                <a:cs typeface="Courier"/>
                <a:sym typeface="Courier"/>
              </a:defRPr>
            </a:pPr>
            <a:r>
              <a:t>GET		</a:t>
            </a:r>
            <a:r>
              <a:rPr b="1"/>
              <a:t>/offices</a:t>
            </a:r>
            <a:r>
              <a:t>		  </a:t>
            </a:r>
            <a:r>
              <a:rPr>
                <a:solidFill>
                  <a:srgbClr val="FF0000"/>
                </a:solidFill>
              </a:rPr>
              <a:t>400 Bad Request</a:t>
            </a:r>
          </a:p>
          <a:p>
            <a:pPr marL="0" indent="0">
              <a:lnSpc>
                <a:spcPct val="120000"/>
              </a:lnSpc>
              <a:buSzTx/>
              <a:buNone/>
              <a:defRPr sz="2900">
                <a:latin typeface="Courier"/>
                <a:ea typeface="Courier"/>
                <a:cs typeface="Courier"/>
                <a:sym typeface="Courier"/>
              </a:defRPr>
            </a:pPr>
            <a:r>
              <a:t>GET		</a:t>
            </a:r>
            <a:r>
              <a:rPr b="1"/>
              <a:t>/offices</a:t>
            </a:r>
            <a:r>
              <a:t>		  </a:t>
            </a:r>
            <a:r>
              <a:rPr>
                <a:solidFill>
                  <a:srgbClr val="FF0000"/>
                </a:solidFill>
              </a:rPr>
              <a:t>401 Unauthorized</a:t>
            </a:r>
            <a:endParaRPr>
              <a:solidFill>
                <a:srgbClr val="FF0000"/>
              </a:solidFill>
            </a:endParaRPr>
          </a:p>
          <a:p>
            <a:pPr marL="0" indent="0">
              <a:lnSpc>
                <a:spcPct val="120000"/>
              </a:lnSpc>
              <a:buSzTx/>
              <a:buNone/>
              <a:defRPr sz="2900">
                <a:latin typeface="Courier"/>
                <a:ea typeface="Courier"/>
                <a:cs typeface="Courier"/>
                <a:sym typeface="Courier"/>
              </a:defRPr>
            </a:pPr>
            <a:r>
              <a:t>GET		</a:t>
            </a:r>
            <a:r>
              <a:rPr b="1"/>
              <a:t>/offices/2</a:t>
            </a:r>
            <a:r>
              <a:t>	</a:t>
            </a:r>
            <a:r>
              <a:rPr>
                <a:solidFill>
                  <a:srgbClr val="FF0000"/>
                </a:solidFill>
              </a:rPr>
              <a:t>  403 Forbidden</a:t>
            </a:r>
            <a:endParaRPr>
              <a:solidFill>
                <a:srgbClr val="FF0000"/>
              </a:solidFill>
            </a:endParaRPr>
          </a:p>
          <a:p>
            <a:pPr marL="0" indent="0">
              <a:lnSpc>
                <a:spcPct val="120000"/>
              </a:lnSpc>
              <a:buSzTx/>
              <a:buNone/>
              <a:defRPr sz="2900">
                <a:latin typeface="Courier"/>
                <a:ea typeface="Courier"/>
                <a:cs typeface="Courier"/>
                <a:sym typeface="Courier"/>
              </a:defRPr>
            </a:pPr>
            <a:r>
              <a:t>GET		</a:t>
            </a:r>
            <a:r>
              <a:rPr b="1"/>
              <a:t>/offices/7</a:t>
            </a:r>
            <a:r>
              <a:t>	  </a:t>
            </a:r>
            <a:r>
              <a:rPr>
                <a:solidFill>
                  <a:srgbClr val="FF0000"/>
                </a:solidFill>
              </a:rPr>
              <a:t>404 Not Found</a:t>
            </a:r>
            <a:endParaRPr>
              <a:solidFill>
                <a:srgbClr val="FF0000"/>
              </a:solidFill>
            </a:endParaRPr>
          </a:p>
          <a:p>
            <a:pPr marL="0" indent="0">
              <a:lnSpc>
                <a:spcPct val="120000"/>
              </a:lnSpc>
              <a:buSzTx/>
              <a:buNone/>
              <a:defRPr sz="2900">
                <a:latin typeface="Courier"/>
                <a:ea typeface="Courier"/>
                <a:cs typeface="Courier"/>
                <a:sym typeface="Courier"/>
              </a:defRPr>
            </a:pPr>
            <a:r>
              <a:t>POST		</a:t>
            </a:r>
            <a:r>
              <a:rPr b="1"/>
              <a:t>/offices</a:t>
            </a:r>
            <a:r>
              <a:t>		  </a:t>
            </a:r>
            <a:r>
              <a:rPr>
                <a:solidFill>
                  <a:srgbClr val="FF0000"/>
                </a:solidFill>
              </a:rPr>
              <a:t>422 Unprocessable Entity</a:t>
            </a:r>
          </a:p>
        </p:txBody>
      </p:sp>
      <p:sp>
        <p:nvSpPr>
          <p:cNvPr id="273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Titel 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t>Antworten mit HTTP-Statuscodes</a:t>
            </a:r>
          </a:p>
        </p:txBody>
      </p:sp>
      <p:sp>
        <p:nvSpPr>
          <p:cNvPr id="276" name="Inhaltsplatzhalter 2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anchor="ctr"/>
          <a:lstStyle/>
          <a:p>
            <a:pPr marL="0" indent="0" algn="ctr">
              <a:lnSpc>
                <a:spcPct val="150000"/>
              </a:lnSpc>
              <a:buSzTx/>
              <a:buNone/>
              <a:defRPr sz="4000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3xx Umleitungen</a:t>
            </a:r>
          </a:p>
          <a:p>
            <a:pPr marL="0" indent="0" algn="ctr">
              <a:lnSpc>
                <a:spcPct val="150000"/>
              </a:lnSpc>
              <a:buSzTx/>
              <a:buNone/>
              <a:defRPr sz="4000">
                <a:solidFill>
                  <a:srgbClr val="C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5xx Server-Fehler</a:t>
            </a:r>
          </a:p>
        </p:txBody>
      </p:sp>
      <p:sp>
        <p:nvSpPr>
          <p:cNvPr id="277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Titel 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t>Anpassung der Antwort</a:t>
            </a:r>
          </a:p>
        </p:txBody>
      </p:sp>
      <p:sp>
        <p:nvSpPr>
          <p:cNvPr id="280" name="Inhaltsplatzhalter 2"/>
          <p:cNvSpPr txBox="1"/>
          <p:nvPr>
            <p:ph type="body" idx="1"/>
          </p:nvPr>
        </p:nvSpPr>
        <p:spPr>
          <a:xfrm>
            <a:off x="838199" y="1825625"/>
            <a:ext cx="10515601" cy="4351338"/>
          </a:xfrm>
          <a:prstGeom prst="rect">
            <a:avLst/>
          </a:prstGeom>
        </p:spPr>
        <p:txBody>
          <a:bodyPr anchor="ctr"/>
          <a:lstStyle/>
          <a:p>
            <a:pPr marL="0" indent="0">
              <a:buSzTx/>
              <a:buNone/>
              <a:defRPr b="1" sz="2500">
                <a:latin typeface="Courier"/>
                <a:ea typeface="Courier"/>
                <a:cs typeface="Courier"/>
                <a:sym typeface="Courier"/>
              </a:defRPr>
            </a:pPr>
            <a:r>
              <a:t>Content-Type:    </a:t>
            </a:r>
            <a:r>
              <a:rPr b="0"/>
              <a:t>application/json</a:t>
            </a:r>
          </a:p>
          <a:p>
            <a:pPr marL="0" indent="0">
              <a:buSzTx/>
              <a:buNone/>
              <a:defRPr b="1" sz="2500">
                <a:latin typeface="Courier"/>
                <a:ea typeface="Courier"/>
                <a:cs typeface="Courier"/>
                <a:sym typeface="Courier"/>
              </a:defRPr>
            </a:pPr>
            <a:r>
              <a:t>Accept:          </a:t>
            </a:r>
            <a:r>
              <a:rPr b="0"/>
              <a:t>application/json</a:t>
            </a:r>
          </a:p>
          <a:p>
            <a:pPr marL="0" indent="0">
              <a:buSzTx/>
              <a:buNone/>
              <a:defRPr b="1" sz="2500">
                <a:latin typeface="Courier"/>
                <a:ea typeface="Courier"/>
                <a:cs typeface="Courier"/>
                <a:sym typeface="Courier"/>
              </a:defRPr>
            </a:pPr>
            <a:r>
              <a:t>Accept:          </a:t>
            </a:r>
            <a:r>
              <a:rPr b="0"/>
              <a:t>application/xml</a:t>
            </a:r>
          </a:p>
          <a:p>
            <a:pPr marL="0" indent="0">
              <a:buSzTx/>
              <a:buNone/>
              <a:defRPr b="1" sz="2500">
                <a:latin typeface="Courier"/>
                <a:ea typeface="Courier"/>
                <a:cs typeface="Courier"/>
                <a:sym typeface="Courier"/>
              </a:defRPr>
            </a:pPr>
            <a:r>
              <a:t>Accept:          </a:t>
            </a:r>
            <a:r>
              <a:rPr b="0"/>
              <a:t>application/ical</a:t>
            </a:r>
          </a:p>
          <a:p>
            <a:pPr marL="0" indent="0">
              <a:buSzTx/>
              <a:buNone/>
              <a:defRPr b="1" sz="2500">
                <a:latin typeface="Courier"/>
                <a:ea typeface="Courier"/>
                <a:cs typeface="Courier"/>
                <a:sym typeface="Courier"/>
              </a:defRPr>
            </a:pPr>
            <a:r>
              <a:t>Accept:          </a:t>
            </a:r>
            <a:r>
              <a:rPr b="0"/>
              <a:t>application/csv</a:t>
            </a:r>
          </a:p>
          <a:p>
            <a:pPr marL="0" indent="0">
              <a:buSzTx/>
              <a:buNone/>
              <a:defRPr b="1" sz="2500">
                <a:latin typeface="Courier"/>
                <a:ea typeface="Courier"/>
                <a:cs typeface="Courier"/>
                <a:sym typeface="Courier"/>
              </a:defRPr>
            </a:pPr>
            <a:r>
              <a:t>Accept-version:  </a:t>
            </a:r>
            <a:r>
              <a:rPr b="0"/>
              <a:t>v10</a:t>
            </a:r>
            <a:endParaRPr b="0"/>
          </a:p>
          <a:p>
            <a:pPr marL="0" indent="0">
              <a:buSzTx/>
              <a:buNone/>
              <a:defRPr b="1" sz="2500">
                <a:latin typeface="Courier"/>
                <a:ea typeface="Courier"/>
                <a:cs typeface="Courier"/>
                <a:sym typeface="Courier"/>
              </a:defRPr>
            </a:pPr>
            <a:r>
              <a:t>Authorization:   </a:t>
            </a:r>
            <a:r>
              <a:rPr b="0"/>
              <a:t>Bearer: apsofijawßef9ijavsdvoinam49</a:t>
            </a:r>
            <a:endParaRPr b="0"/>
          </a:p>
          <a:p>
            <a:pPr marL="0" indent="0">
              <a:buSzTx/>
              <a:buNone/>
              <a:defRPr b="1" sz="2500">
                <a:latin typeface="Courier"/>
                <a:ea typeface="Courier"/>
                <a:cs typeface="Courier"/>
                <a:sym typeface="Courier"/>
              </a:defRPr>
            </a:pPr>
            <a:r>
              <a:t>Cache-Control:   </a:t>
            </a:r>
            <a:r>
              <a:rPr b="0"/>
              <a:t>max-age=300</a:t>
            </a:r>
          </a:p>
        </p:txBody>
      </p:sp>
      <p:sp>
        <p:nvSpPr>
          <p:cNvPr id="281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Titel 3"/>
          <p:cNvSpPr txBox="1"/>
          <p:nvPr>
            <p:ph type="title"/>
          </p:nvPr>
        </p:nvSpPr>
        <p:spPr>
          <a:xfrm>
            <a:off x="831850" y="1709738"/>
            <a:ext cx="10515600" cy="2852738"/>
          </a:xfrm>
          <a:prstGeom prst="rect">
            <a:avLst/>
          </a:prstGeom>
        </p:spPr>
        <p:txBody>
          <a:bodyPr/>
          <a:lstStyle/>
          <a:p>
            <a:pPr/>
            <a:r>
              <a:t>OpenAPI</a:t>
            </a:r>
          </a:p>
        </p:txBody>
      </p:sp>
      <p:sp>
        <p:nvSpPr>
          <p:cNvPr id="284" name="Textplatzhalter 4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API-Beschreibunge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API-Beschreibungen</a:t>
            </a:r>
          </a:p>
        </p:txBody>
      </p:sp>
      <p:sp>
        <p:nvSpPr>
          <p:cNvPr id="287" name="Formale Beschreibung der API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Formale Beschreibung der API </a:t>
            </a:r>
          </a:p>
          <a:p>
            <a:pPr/>
            <a:r>
              <a:t>Nur Beschreibung, keine Implementierung</a:t>
            </a:r>
          </a:p>
          <a:p>
            <a:pPr/>
            <a:r>
              <a:t>Beschreibungsformate</a:t>
            </a:r>
          </a:p>
          <a:p>
            <a:pPr lvl="1" marL="685800" indent="-228600"/>
            <a:r>
              <a:t>API Blueprint</a:t>
            </a:r>
          </a:p>
          <a:p>
            <a:pPr lvl="1" marL="685800" indent="-228600"/>
            <a:r>
              <a:t>RAML</a:t>
            </a:r>
          </a:p>
          <a:p>
            <a:pPr lvl="1" marL="685800" indent="-228600"/>
            <a:r>
              <a:t>OpenAPI</a:t>
            </a:r>
          </a:p>
        </p:txBody>
      </p:sp>
      <p:sp>
        <p:nvSpPr>
          <p:cNvPr id="288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89" name="Grafik 9" descr="Grafik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086216" y="4118277"/>
            <a:ext cx="1290763" cy="1771046"/>
          </a:xfrm>
          <a:prstGeom prst="rect">
            <a:avLst/>
          </a:prstGeom>
          <a:ln w="12700">
            <a:miter lim="400000"/>
          </a:ln>
        </p:spPr>
      </p:pic>
      <p:sp>
        <p:nvSpPr>
          <p:cNvPr id="290" name="https://nordicapis.com/top-specification-formats-for-rest-apis/">
            <a:hlinkClick r:id="rId3" invalidUrl="" action="" tgtFrame="" tooltip="" history="1" highlightClick="0" endSnd="0"/>
          </p:cNvPr>
          <p:cNvSpPr txBox="1"/>
          <p:nvPr/>
        </p:nvSpPr>
        <p:spPr>
          <a:xfrm>
            <a:off x="868605" y="6085769"/>
            <a:ext cx="5558593" cy="313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 u="sng">
                <a:solidFill>
                  <a:schemeClr val="accent1">
                    <a:satOff val="-3547"/>
                    <a:lumOff val="-10352"/>
                  </a:schemeClr>
                </a:solidFill>
              </a:defRPr>
            </a:lvl1pPr>
          </a:lstStyle>
          <a:p>
            <a:pPr/>
            <a:r>
              <a:t>https://nordicapis.com/top-specification-formats-for-rest-apis/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OpenAPI Entstehu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OpenAPI Entstehung</a:t>
            </a:r>
          </a:p>
        </p:txBody>
      </p:sp>
      <p:sp>
        <p:nvSpPr>
          <p:cNvPr id="293" name="Version 1.0.0 2011 (Swagger)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Version 1.0.0 2011 (Swagger)</a:t>
            </a:r>
          </a:p>
          <a:p>
            <a:pPr/>
            <a:r>
              <a:t>Apache 2.0 Open-Source-Lizenz</a:t>
            </a:r>
          </a:p>
          <a:p>
            <a:pPr/>
            <a:r>
              <a:t>Seit 2014 populäre als RAML und API Blueprint</a:t>
            </a:r>
          </a:p>
          <a:p>
            <a:pPr/>
            <a:r>
              <a:t>2015 von SmartBear an die Linux Foundation</a:t>
            </a:r>
          </a:p>
          <a:p>
            <a:pPr/>
            <a:r>
              <a:t>2016 in OpenAPI-Specification (OAS)</a:t>
            </a:r>
          </a:p>
          <a:p>
            <a:pPr/>
            <a:r>
              <a:t>2017 Version 3.0.0</a:t>
            </a:r>
          </a:p>
          <a:p>
            <a:pPr/>
            <a:r>
              <a:t>Aktuell Version 3.0.2</a:t>
            </a:r>
          </a:p>
        </p:txBody>
      </p:sp>
      <p:sp>
        <p:nvSpPr>
          <p:cNvPr id="294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Exkurs YAM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Exkurs YAML</a:t>
            </a:r>
          </a:p>
        </p:txBody>
      </p:sp>
      <p:sp>
        <p:nvSpPr>
          <p:cNvPr id="297" name="OAS wird in YAML/JSON geschrieben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201168" indent="-201168" defTabSz="804672">
              <a:spcBef>
                <a:spcPts val="800"/>
              </a:spcBef>
              <a:defRPr sz="2464"/>
            </a:pPr>
            <a:r>
              <a:t>OAS wird in YAML/JSON geschrieben</a:t>
            </a:r>
          </a:p>
          <a:p>
            <a:pPr marL="201168" indent="-201168" defTabSz="804672">
              <a:spcBef>
                <a:spcPts val="800"/>
              </a:spcBef>
              <a:defRPr sz="2464"/>
            </a:pPr>
            <a:r>
              <a:t>„YAML Ain’t Markup Language“</a:t>
            </a:r>
          </a:p>
          <a:p>
            <a:pPr marL="201168" indent="-201168" defTabSz="804672">
              <a:spcBef>
                <a:spcPts val="800"/>
              </a:spcBef>
              <a:defRPr sz="2464"/>
            </a:pPr>
            <a:r>
              <a:t>2001 spezifiziert</a:t>
            </a:r>
          </a:p>
          <a:p>
            <a:pPr marL="201168" indent="-201168" defTabSz="804672">
              <a:spcBef>
                <a:spcPts val="800"/>
              </a:spcBef>
              <a:defRPr sz="2464"/>
            </a:pPr>
            <a:r>
              <a:t>Zum Austausch/Speichern von beliebigen Datenstrukturen</a:t>
            </a:r>
          </a:p>
          <a:p>
            <a:pPr lvl="1" marL="603504" indent="-201168" defTabSz="804672">
              <a:spcBef>
                <a:spcPts val="800"/>
              </a:spcBef>
              <a:defRPr sz="2464"/>
            </a:pPr>
            <a:r>
              <a:t>Skalare</a:t>
            </a:r>
          </a:p>
          <a:p>
            <a:pPr lvl="1" marL="603504" indent="-201168" defTabSz="804672">
              <a:spcBef>
                <a:spcPts val="800"/>
              </a:spcBef>
              <a:defRPr sz="2464"/>
            </a:pPr>
            <a:r>
              <a:t>Listen (Arrays)</a:t>
            </a:r>
          </a:p>
          <a:p>
            <a:pPr lvl="1" marL="603504" indent="-201168" defTabSz="804672">
              <a:spcBef>
                <a:spcPts val="800"/>
              </a:spcBef>
              <a:defRPr sz="2464"/>
            </a:pPr>
            <a:r>
              <a:t>Objekte (Dictionaries/Maps)</a:t>
            </a:r>
          </a:p>
          <a:p>
            <a:pPr marL="201168" indent="-201168" defTabSz="804672">
              <a:spcBef>
                <a:spcPts val="800"/>
              </a:spcBef>
              <a:defRPr sz="2464"/>
            </a:pPr>
            <a:r>
              <a:t>Superset von JSON</a:t>
            </a:r>
          </a:p>
          <a:p>
            <a:pPr marL="201168" indent="-201168" defTabSz="804672">
              <a:spcBef>
                <a:spcPts val="800"/>
              </a:spcBef>
              <a:defRPr sz="2464"/>
            </a:pPr>
            <a:r>
              <a:t>Whitespace-sensitiv</a:t>
            </a:r>
          </a:p>
          <a:p>
            <a:pPr marL="201168" indent="-201168" defTabSz="804672">
              <a:spcBef>
                <a:spcPts val="800"/>
              </a:spcBef>
              <a:defRPr sz="2464"/>
            </a:pPr>
            <a:r>
              <a:t>Menschenlesbar(er als XML)</a:t>
            </a:r>
          </a:p>
        </p:txBody>
      </p:sp>
      <p:sp>
        <p:nvSpPr>
          <p:cNvPr id="298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Exkurs YAM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Exkurs YAML</a:t>
            </a:r>
          </a:p>
        </p:txBody>
      </p:sp>
      <p:sp>
        <p:nvSpPr>
          <p:cNvPr id="301" name="# Kommentar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457200">
              <a:lnSpc>
                <a:spcPts val="3800"/>
              </a:lnSpc>
              <a:spcBef>
                <a:spcPts val="0"/>
              </a:spcBef>
              <a:buSzTx/>
              <a:buFontTx/>
              <a:buNone/>
              <a:defRPr sz="2000">
                <a:solidFill>
                  <a:schemeClr val="accent6">
                    <a:lumOff val="-9568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# Kommentar</a:t>
            </a:r>
          </a:p>
          <a:p>
            <a:pPr marL="0" indent="0" defTabSz="457200">
              <a:lnSpc>
                <a:spcPts val="3800"/>
              </a:lnSpc>
              <a:spcBef>
                <a:spcPts val="0"/>
              </a:spcBef>
              <a:buSzTx/>
              <a:buFontTx/>
              <a:buNone/>
              <a:defRPr sz="2000"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11480"/>
                </a:solidFill>
              </a:rPr>
              <a:t>id</a:t>
            </a:r>
            <a:r>
              <a:t>: 731</a:t>
            </a:r>
            <a:endParaRPr>
              <a:latin typeface="Times"/>
              <a:ea typeface="Times"/>
              <a:cs typeface="Times"/>
              <a:sym typeface="Times"/>
            </a:endParaRPr>
          </a:p>
          <a:p>
            <a:pPr marL="0" indent="0" defTabSz="457200">
              <a:lnSpc>
                <a:spcPts val="3800"/>
              </a:lnSpc>
              <a:spcBef>
                <a:spcPts val="0"/>
              </a:spcBef>
              <a:buSzTx/>
              <a:buFontTx/>
              <a:buNone/>
              <a:defRPr sz="2000"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11480"/>
                </a:solidFill>
              </a:rPr>
              <a:t>customer</a:t>
            </a:r>
            <a:r>
              <a:t>: 17</a:t>
            </a:r>
            <a:endParaRPr>
              <a:latin typeface="Times"/>
              <a:ea typeface="Times"/>
              <a:cs typeface="Times"/>
              <a:sym typeface="Times"/>
            </a:endParaRPr>
          </a:p>
          <a:p>
            <a:pPr marL="0" indent="0" defTabSz="457200">
              <a:lnSpc>
                <a:spcPts val="3800"/>
              </a:lnSpc>
              <a:spcBef>
                <a:spcPts val="0"/>
              </a:spcBef>
              <a:buSzTx/>
              <a:buFontTx/>
              <a:buNone/>
              <a:defRPr sz="2000"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11480"/>
                </a:solidFill>
              </a:rPr>
              <a:t>items</a:t>
            </a:r>
            <a:r>
              <a:t>:</a:t>
            </a:r>
            <a:endParaRPr>
              <a:latin typeface="Times"/>
              <a:ea typeface="Times"/>
              <a:cs typeface="Times"/>
              <a:sym typeface="Times"/>
            </a:endParaRPr>
          </a:p>
          <a:p>
            <a:pPr marL="0" indent="0" defTabSz="457200">
              <a:lnSpc>
                <a:spcPts val="3800"/>
              </a:lnSpc>
              <a:spcBef>
                <a:spcPts val="0"/>
              </a:spcBef>
              <a:buSzTx/>
              <a:buFontTx/>
              <a:buNone/>
              <a:defRPr sz="2000">
                <a:latin typeface="Courier"/>
                <a:ea typeface="Courier"/>
                <a:cs typeface="Courier"/>
                <a:sym typeface="Courier"/>
              </a:defRPr>
            </a:pPr>
            <a:r>
              <a:t>- </a:t>
            </a:r>
            <a:r>
              <a:rPr>
                <a:solidFill>
                  <a:srgbClr val="011480"/>
                </a:solidFill>
              </a:rPr>
              <a:t>quantity</a:t>
            </a:r>
            <a:r>
              <a:t>: 5</a:t>
            </a:r>
            <a:endParaRPr>
              <a:latin typeface="Times"/>
              <a:ea typeface="Times"/>
              <a:cs typeface="Times"/>
              <a:sym typeface="Times"/>
            </a:endParaRPr>
          </a:p>
          <a:p>
            <a:pPr marL="0" indent="0" defTabSz="457200">
              <a:lnSpc>
                <a:spcPts val="3800"/>
              </a:lnSpc>
              <a:spcBef>
                <a:spcPts val="0"/>
              </a:spcBef>
              <a:buSzTx/>
              <a:buFontTx/>
              <a:buNone/>
              <a:defRPr sz="2000">
                <a:latin typeface="Courier"/>
                <a:ea typeface="Courier"/>
                <a:cs typeface="Courier"/>
                <a:sym typeface="Courier"/>
              </a:defRPr>
            </a:pPr>
            <a:r>
              <a:t>  </a:t>
            </a:r>
            <a:r>
              <a:rPr>
                <a:solidFill>
                  <a:srgbClr val="011480"/>
                </a:solidFill>
              </a:rPr>
              <a:t>description</a:t>
            </a:r>
            <a:r>
              <a:t>: Oolong</a:t>
            </a:r>
            <a:endParaRPr>
              <a:latin typeface="Times"/>
              <a:ea typeface="Times"/>
              <a:cs typeface="Times"/>
              <a:sym typeface="Times"/>
            </a:endParaRPr>
          </a:p>
          <a:p>
            <a:pPr marL="0" indent="0" defTabSz="457200">
              <a:lnSpc>
                <a:spcPts val="3800"/>
              </a:lnSpc>
              <a:spcBef>
                <a:spcPts val="0"/>
              </a:spcBef>
              <a:buSzTx/>
              <a:buFontTx/>
              <a:buNone/>
              <a:defRPr sz="2000">
                <a:latin typeface="Courier"/>
                <a:ea typeface="Courier"/>
                <a:cs typeface="Courier"/>
                <a:sym typeface="Courier"/>
              </a:defRPr>
            </a:pPr>
            <a:r>
              <a:t>  </a:t>
            </a:r>
            <a:r>
              <a:rPr>
                <a:solidFill>
                  <a:srgbClr val="011480"/>
                </a:solidFill>
              </a:rPr>
              <a:t>price</a:t>
            </a:r>
            <a:r>
              <a:t>: 5.98</a:t>
            </a:r>
            <a:endParaRPr>
              <a:latin typeface="Times"/>
              <a:ea typeface="Times"/>
              <a:cs typeface="Times"/>
              <a:sym typeface="Times"/>
            </a:endParaRPr>
          </a:p>
          <a:p>
            <a:pPr marL="0" indent="0" defTabSz="457200">
              <a:lnSpc>
                <a:spcPts val="3800"/>
              </a:lnSpc>
              <a:spcBef>
                <a:spcPts val="0"/>
              </a:spcBef>
              <a:buSzTx/>
              <a:buFontTx/>
              <a:buNone/>
              <a:defRPr sz="2000">
                <a:latin typeface="Courier"/>
                <a:ea typeface="Courier"/>
                <a:cs typeface="Courier"/>
                <a:sym typeface="Courier"/>
              </a:defRPr>
            </a:pPr>
            <a:r>
              <a:t>- </a:t>
            </a:r>
            <a:r>
              <a:rPr>
                <a:solidFill>
                  <a:srgbClr val="011480"/>
                </a:solidFill>
              </a:rPr>
              <a:t>quantity</a:t>
            </a:r>
            <a:r>
              <a:t>: 2</a:t>
            </a:r>
            <a:endParaRPr>
              <a:latin typeface="Times"/>
              <a:ea typeface="Times"/>
              <a:cs typeface="Times"/>
              <a:sym typeface="Times"/>
            </a:endParaRPr>
          </a:p>
          <a:p>
            <a:pPr marL="0" indent="0" defTabSz="457200">
              <a:lnSpc>
                <a:spcPts val="3800"/>
              </a:lnSpc>
              <a:spcBef>
                <a:spcPts val="0"/>
              </a:spcBef>
              <a:buSzTx/>
              <a:buFontTx/>
              <a:buNone/>
              <a:defRPr sz="2000">
                <a:latin typeface="Courier"/>
                <a:ea typeface="Courier"/>
                <a:cs typeface="Courier"/>
                <a:sym typeface="Courier"/>
              </a:defRPr>
            </a:pPr>
            <a:r>
              <a:t>  </a:t>
            </a:r>
            <a:r>
              <a:rPr>
                <a:solidFill>
                  <a:srgbClr val="011480"/>
                </a:solidFill>
              </a:rPr>
              <a:t>description</a:t>
            </a:r>
            <a:r>
              <a:t>: Assam</a:t>
            </a:r>
            <a:endParaRPr>
              <a:latin typeface="Times"/>
              <a:ea typeface="Times"/>
              <a:cs typeface="Times"/>
              <a:sym typeface="Times"/>
            </a:endParaRPr>
          </a:p>
          <a:p>
            <a:pPr marL="0" indent="0" defTabSz="457200">
              <a:lnSpc>
                <a:spcPts val="3800"/>
              </a:lnSpc>
              <a:spcBef>
                <a:spcPts val="0"/>
              </a:spcBef>
              <a:buSzTx/>
              <a:buFontTx/>
              <a:buNone/>
              <a:defRPr sz="2000">
                <a:latin typeface="Courier"/>
                <a:ea typeface="Courier"/>
                <a:cs typeface="Courier"/>
                <a:sym typeface="Courier"/>
              </a:defRPr>
            </a:pPr>
            <a:r>
              <a:t>  </a:t>
            </a:r>
            <a:r>
              <a:rPr>
                <a:solidFill>
                  <a:srgbClr val="011480"/>
                </a:solidFill>
              </a:rPr>
              <a:t>price</a:t>
            </a:r>
            <a:r>
              <a:t>: 2.95</a:t>
            </a:r>
          </a:p>
          <a:p>
            <a:pPr marL="0" indent="0" defTabSz="457200">
              <a:lnSpc>
                <a:spcPts val="3800"/>
              </a:lnSpc>
              <a:spcBef>
                <a:spcPts val="0"/>
              </a:spcBef>
              <a:buSzTx/>
              <a:buFontTx/>
              <a:buNone/>
              <a:defRPr sz="2000"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11480"/>
                </a:solidFill>
              </a:rPr>
              <a:t>shippingAddress</a:t>
            </a:r>
            <a:r>
              <a:t>:</a:t>
            </a:r>
          </a:p>
          <a:p>
            <a:pPr lvl="1" marL="0" indent="228600" defTabSz="457200">
              <a:lnSpc>
                <a:spcPts val="3800"/>
              </a:lnSpc>
              <a:spcBef>
                <a:spcPts val="0"/>
              </a:spcBef>
              <a:buSzTx/>
              <a:buFontTx/>
              <a:buNone/>
              <a:defRPr sz="2000"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11480"/>
                </a:solidFill>
              </a:rPr>
              <a:t>street</a:t>
            </a:r>
            <a:r>
              <a:t>: Friedrichswall 10</a:t>
            </a:r>
          </a:p>
          <a:p>
            <a:pPr lvl="1" marL="0" indent="228600" defTabSz="457200">
              <a:lnSpc>
                <a:spcPts val="3800"/>
              </a:lnSpc>
              <a:spcBef>
                <a:spcPts val="0"/>
              </a:spcBef>
              <a:buSzTx/>
              <a:buFontTx/>
              <a:buNone/>
              <a:defRPr sz="2000"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11480"/>
                </a:solidFill>
              </a:rPr>
              <a:t>zip</a:t>
            </a:r>
            <a:r>
              <a:t>: 30159</a:t>
            </a:r>
          </a:p>
          <a:p>
            <a:pPr lvl="1" marL="0" indent="228600" defTabSz="457200">
              <a:lnSpc>
                <a:spcPts val="3800"/>
              </a:lnSpc>
              <a:spcBef>
                <a:spcPts val="0"/>
              </a:spcBef>
              <a:buSzTx/>
              <a:buFontTx/>
              <a:buNone/>
              <a:defRPr sz="2000"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11480"/>
                </a:solidFill>
              </a:rPr>
              <a:t>city</a:t>
            </a:r>
            <a:r>
              <a:t>: Hannover</a:t>
            </a:r>
          </a:p>
        </p:txBody>
      </p:sp>
      <p:sp>
        <p:nvSpPr>
          <p:cNvPr id="302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03" name="Rechteck"/>
          <p:cNvSpPr/>
          <p:nvPr/>
        </p:nvSpPr>
        <p:spPr>
          <a:xfrm>
            <a:off x="808335" y="2188170"/>
            <a:ext cx="2541687" cy="647006"/>
          </a:xfrm>
          <a:prstGeom prst="rect">
            <a:avLst/>
          </a:prstGeom>
          <a:ln w="12700">
            <a:solidFill>
              <a:srgbClr val="BE1700"/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04" name="Skalare Werte"/>
          <p:cNvSpPr txBox="1"/>
          <p:nvPr/>
        </p:nvSpPr>
        <p:spPr>
          <a:xfrm>
            <a:off x="4513505" y="1828342"/>
            <a:ext cx="1548295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Skalare Werte</a:t>
            </a:r>
          </a:p>
        </p:txBody>
      </p:sp>
      <p:sp>
        <p:nvSpPr>
          <p:cNvPr id="305" name="Linie"/>
          <p:cNvSpPr/>
          <p:nvPr/>
        </p:nvSpPr>
        <p:spPr>
          <a:xfrm flipH="1">
            <a:off x="3389659" y="2031851"/>
            <a:ext cx="1151187" cy="481608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06" name="Rechteck"/>
          <p:cNvSpPr/>
          <p:nvPr/>
        </p:nvSpPr>
        <p:spPr>
          <a:xfrm>
            <a:off x="808335" y="3086736"/>
            <a:ext cx="3392240" cy="1881147"/>
          </a:xfrm>
          <a:prstGeom prst="rect">
            <a:avLst/>
          </a:prstGeom>
          <a:ln w="12700">
            <a:solidFill>
              <a:srgbClr val="BE1700"/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07" name="Liste von Objekten"/>
          <p:cNvSpPr txBox="1"/>
          <p:nvPr/>
        </p:nvSpPr>
        <p:spPr>
          <a:xfrm>
            <a:off x="5440605" y="2854920"/>
            <a:ext cx="1997570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Liste von Objekten</a:t>
            </a:r>
          </a:p>
        </p:txBody>
      </p:sp>
      <p:sp>
        <p:nvSpPr>
          <p:cNvPr id="308" name="Linie"/>
          <p:cNvSpPr/>
          <p:nvPr/>
        </p:nvSpPr>
        <p:spPr>
          <a:xfrm flipH="1">
            <a:off x="4316759" y="3058429"/>
            <a:ext cx="1151187" cy="481609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09" name="Rechteck"/>
          <p:cNvSpPr/>
          <p:nvPr/>
        </p:nvSpPr>
        <p:spPr>
          <a:xfrm>
            <a:off x="808335" y="5219443"/>
            <a:ext cx="4325839" cy="1038970"/>
          </a:xfrm>
          <a:prstGeom prst="rect">
            <a:avLst/>
          </a:prstGeom>
          <a:ln w="12700">
            <a:solidFill>
              <a:srgbClr val="BE1700"/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10" name="Einzelnes Objekt"/>
          <p:cNvSpPr txBox="1"/>
          <p:nvPr/>
        </p:nvSpPr>
        <p:spPr>
          <a:xfrm>
            <a:off x="6342305" y="4724143"/>
            <a:ext cx="1819534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Einzelnes Objekt</a:t>
            </a:r>
          </a:p>
        </p:txBody>
      </p:sp>
      <p:sp>
        <p:nvSpPr>
          <p:cNvPr id="311" name="Linie"/>
          <p:cNvSpPr/>
          <p:nvPr/>
        </p:nvSpPr>
        <p:spPr>
          <a:xfrm flipH="1">
            <a:off x="5218459" y="4927652"/>
            <a:ext cx="1151187" cy="481609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OAS Specific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OAS Specification</a:t>
            </a:r>
          </a:p>
        </p:txBody>
      </p:sp>
      <p:sp>
        <p:nvSpPr>
          <p:cNvPr id="314" name="openapi: 3.0.2…"/>
          <p:cNvSpPr txBox="1"/>
          <p:nvPr>
            <p:ph type="body" sz="half" idx="1"/>
          </p:nvPr>
        </p:nvSpPr>
        <p:spPr>
          <a:xfrm>
            <a:off x="838200" y="1825624"/>
            <a:ext cx="4768156" cy="4351339"/>
          </a:xfrm>
          <a:prstGeom prst="rect">
            <a:avLst/>
          </a:prstGeom>
        </p:spPr>
        <p:txBody>
          <a:bodyPr/>
          <a:lstStyle/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rPr b="1">
                <a:solidFill>
                  <a:srgbClr val="011480"/>
                </a:solidFill>
              </a:rPr>
              <a:t>openapi</a:t>
            </a:r>
            <a:r>
              <a:t>: 3.0.2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500">
                <a:latin typeface="Menlo"/>
                <a:ea typeface="Menlo"/>
                <a:cs typeface="Menlo"/>
                <a:sym typeface="Menlo"/>
              </a:defRPr>
            </a:pP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b="1" sz="1500">
                <a:solidFill>
                  <a:srgbClr val="01148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info</a:t>
            </a:r>
            <a:r>
              <a:rPr b="0">
                <a:solidFill>
                  <a:srgbClr val="000000"/>
                </a:solidFill>
              </a:rPr>
              <a:t>:</a:t>
            </a:r>
            <a:endParaRPr b="0">
              <a:solidFill>
                <a:srgbClr val="000000"/>
              </a:solidFill>
            </a:endParaRP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  </a:t>
            </a:r>
            <a:r>
              <a:rPr b="1">
                <a:solidFill>
                  <a:srgbClr val="011480"/>
                </a:solidFill>
              </a:rPr>
              <a:t>title</a:t>
            </a:r>
            <a:r>
              <a:t>: Raumbuchungs-API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  </a:t>
            </a:r>
            <a:r>
              <a:rPr b="1">
                <a:solidFill>
                  <a:srgbClr val="011480"/>
                </a:solidFill>
              </a:rPr>
              <a:t>version</a:t>
            </a:r>
            <a:r>
              <a:t>: 0.1.0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  </a:t>
            </a:r>
            <a:r>
              <a:rPr b="1">
                <a:solidFill>
                  <a:srgbClr val="011480"/>
                </a:solidFill>
              </a:rPr>
              <a:t>description</a:t>
            </a:r>
            <a:r>
              <a:t>: API für das Buchen ...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500">
                <a:latin typeface="Menlo"/>
                <a:ea typeface="Menlo"/>
                <a:cs typeface="Menlo"/>
                <a:sym typeface="Menlo"/>
              </a:defRPr>
            </a:pP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b="1" sz="1500">
                <a:solidFill>
                  <a:srgbClr val="01148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servers</a:t>
            </a:r>
            <a:r>
              <a:rPr b="0">
                <a:solidFill>
                  <a:srgbClr val="000000"/>
                </a:solidFill>
              </a:rPr>
              <a:t>:</a:t>
            </a:r>
            <a:endParaRPr b="0">
              <a:solidFill>
                <a:srgbClr val="000000"/>
              </a:solidFill>
            </a:endParaRP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  - </a:t>
            </a:r>
            <a:r>
              <a:rPr b="1">
                <a:solidFill>
                  <a:srgbClr val="011480"/>
                </a:solidFill>
              </a:rPr>
              <a:t>url</a:t>
            </a:r>
            <a:r>
              <a:t>: https://test.de/raumbuchungsapi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    </a:t>
            </a:r>
            <a:r>
              <a:rPr b="1">
                <a:solidFill>
                  <a:srgbClr val="011480"/>
                </a:solidFill>
              </a:rPr>
              <a:t>description</a:t>
            </a:r>
            <a:r>
              <a:t>: Testumgebung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  - </a:t>
            </a:r>
            <a:r>
              <a:rPr b="1">
                <a:solidFill>
                  <a:srgbClr val="011480"/>
                </a:solidFill>
              </a:rPr>
              <a:t>url</a:t>
            </a:r>
            <a:r>
              <a:t>: https://dev.de/raumbuchungsapi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    </a:t>
            </a:r>
            <a:r>
              <a:rPr b="1">
                <a:solidFill>
                  <a:srgbClr val="011480"/>
                </a:solidFill>
              </a:rPr>
              <a:t>description</a:t>
            </a:r>
            <a:r>
              <a:t>: Entwicklungsumgebung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500">
                <a:latin typeface="Menlo"/>
                <a:ea typeface="Menlo"/>
                <a:cs typeface="Menlo"/>
                <a:sym typeface="Menlo"/>
              </a:defRPr>
            </a:pP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b="1" sz="1500">
                <a:solidFill>
                  <a:srgbClr val="01148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tags</a:t>
            </a:r>
            <a:r>
              <a:rPr b="0">
                <a:solidFill>
                  <a:srgbClr val="000000"/>
                </a:solidFill>
              </a:rPr>
              <a:t>:</a:t>
            </a:r>
            <a:endParaRPr b="0">
              <a:solidFill>
                <a:srgbClr val="000000"/>
              </a:solidFill>
            </a:endParaRP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  - </a:t>
            </a:r>
            <a:r>
              <a:rPr b="1">
                <a:solidFill>
                  <a:srgbClr val="011480"/>
                </a:solidFill>
              </a:rPr>
              <a:t>name</a:t>
            </a:r>
            <a:r>
              <a:t>: Besprechungsräume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  - </a:t>
            </a:r>
            <a:r>
              <a:rPr b="1">
                <a:solidFill>
                  <a:srgbClr val="011480"/>
                </a:solidFill>
              </a:rPr>
              <a:t>name</a:t>
            </a:r>
            <a:r>
              <a:t>: Raumbuchungen</a:t>
            </a:r>
          </a:p>
        </p:txBody>
      </p:sp>
      <p:sp>
        <p:nvSpPr>
          <p:cNvPr id="315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16" name="security:…"/>
          <p:cNvSpPr txBox="1"/>
          <p:nvPr/>
        </p:nvSpPr>
        <p:spPr>
          <a:xfrm>
            <a:off x="6982420" y="1825624"/>
            <a:ext cx="4768156" cy="4351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defTabSz="457200">
              <a:defRPr b="1" i="1" sz="1500">
                <a:solidFill>
                  <a:srgbClr val="01148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chemeClr val="accent1">
                    <a:satOff val="-3547"/>
                    <a:lumOff val="-10352"/>
                  </a:schemeClr>
                </a:solidFill>
              </a:rPr>
              <a:t>security</a:t>
            </a:r>
            <a:r>
              <a:rPr b="0">
                <a:solidFill>
                  <a:srgbClr val="000000"/>
                </a:solidFill>
              </a:rPr>
              <a:t>:</a:t>
            </a:r>
            <a:endParaRPr b="0">
              <a:solidFill>
                <a:srgbClr val="000000"/>
              </a:solidFill>
            </a:endParaRPr>
          </a:p>
          <a:p>
            <a:pPr defTabSz="457200">
              <a:defRPr i="1" sz="1500">
                <a:latin typeface="Menlo"/>
                <a:ea typeface="Menlo"/>
                <a:cs typeface="Menlo"/>
                <a:sym typeface="Menlo"/>
              </a:defRPr>
            </a:pPr>
            <a:r>
              <a:t>  - </a:t>
            </a:r>
            <a:r>
              <a:rPr b="1">
                <a:solidFill>
                  <a:schemeClr val="accent1">
                    <a:satOff val="-3547"/>
                    <a:lumOff val="-10352"/>
                  </a:schemeClr>
                </a:solidFill>
              </a:rPr>
              <a:t>BasicAuth</a:t>
            </a:r>
            <a:r>
              <a:t>: </a:t>
            </a:r>
            <a:r>
              <a:rPr>
                <a:solidFill>
                  <a:schemeClr val="accent3"/>
                </a:solidFill>
              </a:rPr>
              <a:t>[read, write]</a:t>
            </a:r>
            <a:endParaRPr>
              <a:solidFill>
                <a:schemeClr val="accent3"/>
              </a:solidFill>
            </a:endParaRPr>
          </a:p>
          <a:p>
            <a:pPr defTabSz="457200">
              <a:defRPr b="1" i="1" sz="1500">
                <a:solidFill>
                  <a:srgbClr val="01148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b="0">
                <a:solidFill>
                  <a:srgbClr val="000000"/>
                </a:solidFill>
              </a:rPr>
              <a:t>  - </a:t>
            </a:r>
            <a:r>
              <a:rPr>
                <a:solidFill>
                  <a:schemeClr val="accent1">
                    <a:satOff val="-3547"/>
                    <a:lumOff val="-10352"/>
                  </a:schemeClr>
                </a:solidFill>
              </a:rPr>
              <a:t>bearerAuth</a:t>
            </a:r>
            <a:r>
              <a:rPr b="0">
                <a:solidFill>
                  <a:srgbClr val="000000"/>
                </a:solidFill>
              </a:rPr>
              <a:t>: </a:t>
            </a:r>
            <a:r>
              <a:rPr b="0">
                <a:solidFill>
                  <a:schemeClr val="accent3"/>
                </a:solidFill>
              </a:rPr>
              <a:t>[]</a:t>
            </a:r>
            <a:endParaRPr b="0">
              <a:solidFill>
                <a:srgbClr val="000000"/>
              </a:solidFill>
            </a:endParaRPr>
          </a:p>
          <a:p>
            <a:pPr defTabSz="457200">
              <a:defRPr sz="1500">
                <a:latin typeface="Menlo"/>
                <a:ea typeface="Menlo"/>
                <a:cs typeface="Menlo"/>
                <a:sym typeface="Menlo"/>
              </a:defRPr>
            </a:pPr>
          </a:p>
          <a:p>
            <a:pPr defTabSz="457200">
              <a:defRPr b="1" sz="1500">
                <a:solidFill>
                  <a:srgbClr val="01148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components</a:t>
            </a:r>
            <a:r>
              <a:rPr b="0">
                <a:solidFill>
                  <a:srgbClr val="000000"/>
                </a:solidFill>
              </a:rPr>
              <a:t>:</a:t>
            </a:r>
            <a:endParaRPr b="0">
              <a:solidFill>
                <a:srgbClr val="000000"/>
              </a:solidFill>
            </a:endParaRPr>
          </a:p>
          <a:p>
            <a:pPr defTabSz="457200">
              <a:defRPr i="1" sz="1500">
                <a:solidFill>
                  <a:srgbClr val="80808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# [..]</a:t>
            </a:r>
          </a:p>
          <a:p>
            <a:pPr defTabSz="457200">
              <a:defRPr i="1" sz="1500">
                <a:solidFill>
                  <a:srgbClr val="808080"/>
                </a:solidFill>
                <a:latin typeface="Menlo"/>
                <a:ea typeface="Menlo"/>
                <a:cs typeface="Menlo"/>
                <a:sym typeface="Menlo"/>
              </a:defRPr>
            </a:pPr>
          </a:p>
          <a:p>
            <a:pPr defTabSz="457200">
              <a:defRPr b="1" sz="1500">
                <a:solidFill>
                  <a:srgbClr val="01148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paths</a:t>
            </a:r>
            <a:r>
              <a:rPr b="0">
                <a:solidFill>
                  <a:srgbClr val="000000"/>
                </a:solidFill>
              </a:rPr>
              <a:t>:</a:t>
            </a:r>
            <a:endParaRPr b="0">
              <a:solidFill>
                <a:srgbClr val="000000"/>
              </a:solidFill>
            </a:endParaRPr>
          </a:p>
          <a:p>
            <a:pPr defTabSz="457200">
              <a:defRPr i="1" sz="1500">
                <a:solidFill>
                  <a:srgbClr val="80808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# [..]</a:t>
            </a:r>
          </a:p>
          <a:p>
            <a:pPr defTabSz="457200">
              <a:defRPr i="1" sz="1500">
                <a:solidFill>
                  <a:srgbClr val="808080"/>
                </a:solidFill>
                <a:latin typeface="Menlo"/>
                <a:ea typeface="Menlo"/>
                <a:cs typeface="Menlo"/>
                <a:sym typeface="Menlo"/>
              </a:defRPr>
            </a:pPr>
          </a:p>
          <a:p>
            <a:pPr defTabSz="457200">
              <a:defRPr b="1" i="1" sz="1500">
                <a:solidFill>
                  <a:srgbClr val="01148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chemeClr val="accent1">
                    <a:satOff val="-3547"/>
                    <a:lumOff val="-10352"/>
                  </a:schemeClr>
                </a:solidFill>
              </a:rPr>
              <a:t>externalDocs</a:t>
            </a:r>
            <a:r>
              <a:rPr b="0">
                <a:solidFill>
                  <a:srgbClr val="000000"/>
                </a:solidFill>
              </a:rPr>
              <a:t>:</a:t>
            </a:r>
            <a:endParaRPr b="0">
              <a:solidFill>
                <a:srgbClr val="000000"/>
              </a:solidFill>
            </a:endParaRPr>
          </a:p>
          <a:p>
            <a:pPr defTabSz="457200">
              <a:defRPr i="1" sz="1500">
                <a:latin typeface="Menlo"/>
                <a:ea typeface="Menlo"/>
                <a:cs typeface="Menlo"/>
                <a:sym typeface="Menlo"/>
              </a:defRPr>
            </a:pPr>
            <a:r>
              <a:t>  </a:t>
            </a:r>
            <a:r>
              <a:rPr b="1">
                <a:solidFill>
                  <a:schemeClr val="accent1">
                    <a:satOff val="-3547"/>
                    <a:lumOff val="-10352"/>
                  </a:schemeClr>
                </a:solidFill>
              </a:rPr>
              <a:t>description</a:t>
            </a:r>
            <a:r>
              <a:t>: </a:t>
            </a:r>
            <a:r>
              <a:rPr>
                <a:solidFill>
                  <a:schemeClr val="accent3"/>
                </a:solidFill>
              </a:rPr>
              <a:t>zusätzliche Doku zur API</a:t>
            </a:r>
          </a:p>
          <a:p>
            <a:pPr defTabSz="457200">
              <a:defRPr i="1" sz="1500">
                <a:latin typeface="Menlo"/>
                <a:ea typeface="Menlo"/>
                <a:cs typeface="Menlo"/>
                <a:sym typeface="Menlo"/>
              </a:defRPr>
            </a:pPr>
            <a:r>
              <a:t>  </a:t>
            </a:r>
            <a:r>
              <a:rPr b="1">
                <a:solidFill>
                  <a:schemeClr val="accent1">
                    <a:satOff val="-3547"/>
                    <a:lumOff val="-10352"/>
                  </a:schemeClr>
                </a:solidFill>
              </a:rPr>
              <a:t>url</a:t>
            </a:r>
            <a:r>
              <a:t>: </a:t>
            </a:r>
            <a:r>
              <a:rPr>
                <a:solidFill>
                  <a:schemeClr val="accent3"/>
                </a:solidFill>
              </a:rPr>
              <a:t>https://my.doku.domain/fachliches</a:t>
            </a:r>
          </a:p>
        </p:txBody>
      </p:sp>
      <p:sp>
        <p:nvSpPr>
          <p:cNvPr id="317" name="Linie"/>
          <p:cNvSpPr/>
          <p:nvPr/>
        </p:nvSpPr>
        <p:spPr>
          <a:xfrm flipV="1">
            <a:off x="6096000" y="1723194"/>
            <a:ext cx="1" cy="455620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OAS Specification - Compon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OAS Specification - Components</a:t>
            </a:r>
          </a:p>
        </p:txBody>
      </p:sp>
      <p:sp>
        <p:nvSpPr>
          <p:cNvPr id="320" name="#openapi: 3.0.2…"/>
          <p:cNvSpPr txBox="1"/>
          <p:nvPr>
            <p:ph type="body" sz="half" idx="1"/>
          </p:nvPr>
        </p:nvSpPr>
        <p:spPr>
          <a:xfrm>
            <a:off x="838200" y="1825625"/>
            <a:ext cx="4768156" cy="4351338"/>
          </a:xfrm>
          <a:prstGeom prst="rect">
            <a:avLst/>
          </a:prstGeom>
        </p:spPr>
        <p:txBody>
          <a:bodyPr/>
          <a:lstStyle/>
          <a:p>
            <a:pPr marL="0" indent="0" defTabSz="406908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i="1" sz="1335">
                <a:solidFill>
                  <a:srgbClr val="80808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#openapi: 3.0.2</a:t>
            </a:r>
          </a:p>
          <a:p>
            <a:pPr marL="0" indent="0" defTabSz="406908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b="1" sz="1335">
                <a:solidFill>
                  <a:srgbClr val="01148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components</a:t>
            </a:r>
            <a:r>
              <a:rPr b="0">
                <a:solidFill>
                  <a:srgbClr val="000000"/>
                </a:solidFill>
              </a:rPr>
              <a:t>:</a:t>
            </a:r>
            <a:endParaRPr b="0">
              <a:solidFill>
                <a:srgbClr val="000000"/>
              </a:solidFill>
            </a:endParaRPr>
          </a:p>
          <a:p>
            <a:pPr marL="0" indent="0" defTabSz="406908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b="1" sz="1335">
                <a:solidFill>
                  <a:srgbClr val="01148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b="0">
                <a:solidFill>
                  <a:srgbClr val="000000"/>
                </a:solidFill>
              </a:rPr>
              <a:t>  </a:t>
            </a:r>
            <a:r>
              <a:t>schemas</a:t>
            </a:r>
            <a:r>
              <a:rPr b="0">
                <a:solidFill>
                  <a:srgbClr val="000000"/>
                </a:solidFill>
              </a:rPr>
              <a:t>:</a:t>
            </a:r>
            <a:endParaRPr b="0">
              <a:solidFill>
                <a:srgbClr val="000000"/>
              </a:solidFill>
            </a:endParaRPr>
          </a:p>
          <a:p>
            <a:pPr marL="0" indent="0" defTabSz="406908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b="1" sz="1335">
                <a:solidFill>
                  <a:srgbClr val="01148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18001"/>
                </a:solidFill>
              </a:rPr>
              <a:t>    </a:t>
            </a:r>
            <a:r>
              <a:t>RoomWrite</a:t>
            </a:r>
            <a:r>
              <a:rPr b="0">
                <a:solidFill>
                  <a:srgbClr val="000000"/>
                </a:solidFill>
              </a:rPr>
              <a:t>:</a:t>
            </a:r>
            <a:endParaRPr b="0">
              <a:solidFill>
                <a:srgbClr val="000000"/>
              </a:solidFill>
            </a:endParaRPr>
          </a:p>
          <a:p>
            <a:pPr marL="0" indent="0" defTabSz="406908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335">
                <a:latin typeface="Menlo"/>
                <a:ea typeface="Menlo"/>
                <a:cs typeface="Menlo"/>
                <a:sym typeface="Menlo"/>
              </a:defRPr>
            </a:pPr>
            <a:r>
              <a:t>      </a:t>
            </a:r>
            <a:r>
              <a:rPr b="1">
                <a:solidFill>
                  <a:srgbClr val="011480"/>
                </a:solidFill>
              </a:rPr>
              <a:t>type</a:t>
            </a:r>
            <a:r>
              <a:t>: object</a:t>
            </a:r>
          </a:p>
          <a:p>
            <a:pPr marL="0" indent="0" defTabSz="406908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335">
                <a:latin typeface="Menlo"/>
                <a:ea typeface="Menlo"/>
                <a:cs typeface="Menlo"/>
                <a:sym typeface="Menlo"/>
              </a:defRPr>
            </a:pPr>
            <a:r>
              <a:t>      </a:t>
            </a:r>
            <a:r>
              <a:rPr b="1">
                <a:solidFill>
                  <a:srgbClr val="011480"/>
                </a:solidFill>
              </a:rPr>
              <a:t>description</a:t>
            </a:r>
            <a:r>
              <a:t>: ... schreibende Zugriffe</a:t>
            </a:r>
          </a:p>
          <a:p>
            <a:pPr marL="0" indent="0" defTabSz="406908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b="1" sz="1335">
                <a:solidFill>
                  <a:srgbClr val="01148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b="0">
                <a:solidFill>
                  <a:srgbClr val="000000"/>
                </a:solidFill>
              </a:rPr>
              <a:t>      </a:t>
            </a:r>
            <a:r>
              <a:t>required</a:t>
            </a:r>
            <a:r>
              <a:rPr b="0">
                <a:solidFill>
                  <a:srgbClr val="000000"/>
                </a:solidFill>
              </a:rPr>
              <a:t>:</a:t>
            </a:r>
            <a:endParaRPr b="0">
              <a:solidFill>
                <a:srgbClr val="000000"/>
              </a:solidFill>
            </a:endParaRPr>
          </a:p>
          <a:p>
            <a:pPr marL="0" indent="0" defTabSz="406908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335">
                <a:latin typeface="Menlo"/>
                <a:ea typeface="Menlo"/>
                <a:cs typeface="Menlo"/>
                <a:sym typeface="Menlo"/>
              </a:defRPr>
            </a:pPr>
            <a:r>
              <a:t>        - name</a:t>
            </a:r>
          </a:p>
          <a:p>
            <a:pPr marL="0" indent="0" defTabSz="406908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335">
                <a:latin typeface="Menlo"/>
                <a:ea typeface="Menlo"/>
                <a:cs typeface="Menlo"/>
                <a:sym typeface="Menlo"/>
              </a:defRPr>
            </a:pPr>
            <a:r>
              <a:t>        - capacity</a:t>
            </a:r>
          </a:p>
          <a:p>
            <a:pPr marL="0" indent="0" defTabSz="406908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b="1" sz="1335">
                <a:solidFill>
                  <a:srgbClr val="01148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b="0">
                <a:solidFill>
                  <a:srgbClr val="000000"/>
                </a:solidFill>
              </a:rPr>
              <a:t>      </a:t>
            </a:r>
            <a:r>
              <a:t>properties</a:t>
            </a:r>
            <a:r>
              <a:rPr b="0">
                <a:solidFill>
                  <a:srgbClr val="000000"/>
                </a:solidFill>
              </a:rPr>
              <a:t>:</a:t>
            </a:r>
            <a:endParaRPr b="0">
              <a:solidFill>
                <a:srgbClr val="000000"/>
              </a:solidFill>
            </a:endParaRPr>
          </a:p>
          <a:p>
            <a:pPr marL="0" indent="0" defTabSz="406908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335">
                <a:latin typeface="Menlo"/>
                <a:ea typeface="Menlo"/>
                <a:cs typeface="Menlo"/>
                <a:sym typeface="Menlo"/>
              </a:defRPr>
            </a:pPr>
            <a:r>
              <a:t>        </a:t>
            </a:r>
            <a:r>
              <a:rPr b="1">
                <a:solidFill>
                  <a:srgbClr val="011480"/>
                </a:solidFill>
              </a:rPr>
              <a:t>name</a:t>
            </a:r>
            <a:r>
              <a:t>:</a:t>
            </a:r>
          </a:p>
          <a:p>
            <a:pPr marL="0" indent="0" defTabSz="406908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335">
                <a:latin typeface="Menlo"/>
                <a:ea typeface="Menlo"/>
                <a:cs typeface="Menlo"/>
                <a:sym typeface="Menlo"/>
              </a:defRPr>
            </a:pPr>
            <a:r>
              <a:t>          </a:t>
            </a:r>
            <a:r>
              <a:rPr b="1">
                <a:solidFill>
                  <a:srgbClr val="011480"/>
                </a:solidFill>
              </a:rPr>
              <a:t>type</a:t>
            </a:r>
            <a:r>
              <a:t>: string</a:t>
            </a:r>
          </a:p>
          <a:p>
            <a:pPr marL="0" indent="0" defTabSz="406908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335">
                <a:latin typeface="Menlo"/>
                <a:ea typeface="Menlo"/>
                <a:cs typeface="Menlo"/>
                <a:sym typeface="Menlo"/>
              </a:defRPr>
            </a:pPr>
            <a:r>
              <a:t>          </a:t>
            </a:r>
            <a:r>
              <a:rPr b="1">
                <a:solidFill>
                  <a:srgbClr val="011480"/>
                </a:solidFill>
              </a:rPr>
              <a:t>description</a:t>
            </a:r>
            <a:r>
              <a:t>: Raumbezeichnung</a:t>
            </a:r>
          </a:p>
          <a:p>
            <a:pPr marL="0" indent="0" defTabSz="406908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335">
                <a:latin typeface="Menlo"/>
                <a:ea typeface="Menlo"/>
                <a:cs typeface="Menlo"/>
                <a:sym typeface="Menlo"/>
              </a:defRPr>
            </a:pPr>
            <a:r>
              <a:t>          </a:t>
            </a:r>
            <a:r>
              <a:rPr b="1">
                <a:solidFill>
                  <a:srgbClr val="011480"/>
                </a:solidFill>
              </a:rPr>
              <a:t>example</a:t>
            </a:r>
            <a:r>
              <a:t>: O0_00W50</a:t>
            </a:r>
          </a:p>
          <a:p>
            <a:pPr marL="0" indent="0" defTabSz="406908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335">
                <a:latin typeface="Menlo"/>
                <a:ea typeface="Menlo"/>
                <a:cs typeface="Menlo"/>
                <a:sym typeface="Menlo"/>
              </a:defRPr>
            </a:pPr>
            <a:r>
              <a:t>        </a:t>
            </a:r>
            <a:r>
              <a:rPr b="1">
                <a:solidFill>
                  <a:srgbClr val="011480"/>
                </a:solidFill>
              </a:rPr>
              <a:t>capacity</a:t>
            </a:r>
            <a:r>
              <a:t>:</a:t>
            </a:r>
          </a:p>
          <a:p>
            <a:pPr marL="0" indent="0" defTabSz="406908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335">
                <a:latin typeface="Menlo"/>
                <a:ea typeface="Menlo"/>
                <a:cs typeface="Menlo"/>
                <a:sym typeface="Menlo"/>
              </a:defRPr>
            </a:pPr>
            <a:r>
              <a:t>          </a:t>
            </a:r>
            <a:r>
              <a:rPr b="1">
                <a:solidFill>
                  <a:srgbClr val="011480"/>
                </a:solidFill>
              </a:rPr>
              <a:t>type</a:t>
            </a:r>
            <a:r>
              <a:t>: integer</a:t>
            </a:r>
          </a:p>
          <a:p>
            <a:pPr marL="0" indent="0" defTabSz="406908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335">
                <a:latin typeface="Menlo"/>
                <a:ea typeface="Menlo"/>
                <a:cs typeface="Menlo"/>
                <a:sym typeface="Menlo"/>
              </a:defRPr>
            </a:pPr>
            <a:r>
              <a:t>          </a:t>
            </a:r>
            <a:r>
              <a:rPr b="1">
                <a:solidFill>
                  <a:srgbClr val="011480"/>
                </a:solidFill>
              </a:rPr>
              <a:t>description</a:t>
            </a:r>
            <a:r>
              <a:t>: Anzahl Sitzplätze ...</a:t>
            </a:r>
          </a:p>
          <a:p>
            <a:pPr marL="0" indent="0" defTabSz="406908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335">
                <a:latin typeface="Menlo"/>
                <a:ea typeface="Menlo"/>
                <a:cs typeface="Menlo"/>
                <a:sym typeface="Menlo"/>
              </a:defRPr>
            </a:pPr>
            <a:r>
              <a:t>          </a:t>
            </a:r>
            <a:r>
              <a:rPr b="1">
                <a:solidFill>
                  <a:srgbClr val="011480"/>
                </a:solidFill>
              </a:rPr>
              <a:t>example</a:t>
            </a:r>
            <a:r>
              <a:t>: 25</a:t>
            </a:r>
          </a:p>
          <a:p>
            <a:pPr marL="0" indent="0" defTabSz="406908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b="1" sz="1335">
                <a:solidFill>
                  <a:srgbClr val="018001"/>
                </a:solidFill>
                <a:latin typeface="Menlo"/>
                <a:ea typeface="Menlo"/>
                <a:cs typeface="Menlo"/>
                <a:sym typeface="Menlo"/>
              </a:defRPr>
            </a:pPr>
          </a:p>
          <a:p>
            <a:pPr marL="0" indent="0" defTabSz="406908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b="1" sz="1335">
                <a:solidFill>
                  <a:srgbClr val="018001"/>
                </a:solidFill>
                <a:latin typeface="Menlo"/>
                <a:ea typeface="Menlo"/>
                <a:cs typeface="Menlo"/>
                <a:sym typeface="Menlo"/>
              </a:defRPr>
            </a:pPr>
          </a:p>
          <a:p>
            <a:pPr marL="0" indent="0" defTabSz="406908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335">
                <a:latin typeface="Menlo"/>
                <a:ea typeface="Menlo"/>
                <a:cs typeface="Menlo"/>
                <a:sym typeface="Menlo"/>
              </a:defRPr>
            </a:pPr>
          </a:p>
        </p:txBody>
      </p:sp>
      <p:sp>
        <p:nvSpPr>
          <p:cNvPr id="321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324" name="Gruppieren"/>
          <p:cNvGrpSpPr/>
          <p:nvPr/>
        </p:nvGrpSpPr>
        <p:grpSpPr>
          <a:xfrm>
            <a:off x="6348015" y="1825625"/>
            <a:ext cx="5402561" cy="4351338"/>
            <a:chOff x="0" y="0"/>
            <a:chExt cx="5402560" cy="4351337"/>
          </a:xfrm>
        </p:grpSpPr>
        <p:sp>
          <p:nvSpPr>
            <p:cNvPr id="322" name="#schemas:…"/>
            <p:cNvSpPr txBox="1"/>
            <p:nvPr/>
          </p:nvSpPr>
          <p:spPr>
            <a:xfrm>
              <a:off x="0" y="0"/>
              <a:ext cx="5402561" cy="43513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rmAutofit fontScale="100000" lnSpcReduction="0"/>
            </a:bodyPr>
            <a:lstStyle/>
            <a:p>
              <a:pPr defTabSz="457200">
                <a:defRPr i="1" sz="1500">
                  <a:solidFill>
                    <a:srgbClr val="808080"/>
                  </a:solidFill>
                  <a:latin typeface="Menlo"/>
                  <a:ea typeface="Menlo"/>
                  <a:cs typeface="Menlo"/>
                  <a:sym typeface="Menlo"/>
                </a:defRPr>
              </a:pPr>
              <a:r>
                <a:t>#schemas:</a:t>
              </a:r>
            </a:p>
            <a:p>
              <a:pPr defTabSz="457200">
                <a:defRPr b="1" sz="1500">
                  <a:solidFill>
                    <a:srgbClr val="011480"/>
                  </a:solidFill>
                  <a:latin typeface="Menlo"/>
                  <a:ea typeface="Menlo"/>
                  <a:cs typeface="Menlo"/>
                  <a:sym typeface="Menlo"/>
                </a:defRPr>
              </a:pPr>
              <a:r>
                <a:rPr b="0" i="1">
                  <a:solidFill>
                    <a:srgbClr val="808080"/>
                  </a:solidFill>
                </a:rPr>
                <a:t>  </a:t>
              </a:r>
              <a:r>
                <a:t>Room</a:t>
              </a:r>
              <a:r>
                <a:rPr b="0">
                  <a:solidFill>
                    <a:srgbClr val="000000"/>
                  </a:solidFill>
                </a:rPr>
                <a:t>:</a:t>
              </a:r>
              <a:endParaRPr b="0">
                <a:solidFill>
                  <a:srgbClr val="000000"/>
                </a:solidFill>
              </a:endParaRPr>
            </a:p>
            <a:p>
              <a:pPr defTabSz="457200">
                <a:defRPr sz="1500">
                  <a:latin typeface="Menlo"/>
                  <a:ea typeface="Menlo"/>
                  <a:cs typeface="Menlo"/>
                  <a:sym typeface="Menlo"/>
                </a:defRPr>
              </a:pPr>
              <a:r>
                <a:t>    </a:t>
              </a:r>
              <a:r>
                <a:rPr b="1">
                  <a:solidFill>
                    <a:srgbClr val="011480"/>
                  </a:solidFill>
                </a:rPr>
                <a:t>type</a:t>
              </a:r>
              <a:r>
                <a:t>: object</a:t>
              </a:r>
            </a:p>
            <a:p>
              <a:pPr defTabSz="457200">
                <a:defRPr sz="1500">
                  <a:latin typeface="Menlo"/>
                  <a:ea typeface="Menlo"/>
                  <a:cs typeface="Menlo"/>
                  <a:sym typeface="Menlo"/>
                </a:defRPr>
              </a:pPr>
              <a:r>
                <a:t>    </a:t>
              </a:r>
              <a:r>
                <a:rPr b="1">
                  <a:solidFill>
                    <a:srgbClr val="011480"/>
                  </a:solidFill>
                </a:rPr>
                <a:t>description</a:t>
              </a:r>
              <a:r>
                <a:t>: ... lesende Zugriffe</a:t>
              </a:r>
            </a:p>
            <a:p>
              <a:pPr defTabSz="457200">
                <a:defRPr b="1" sz="1500">
                  <a:solidFill>
                    <a:srgbClr val="011480"/>
                  </a:solidFill>
                  <a:latin typeface="Menlo"/>
                  <a:ea typeface="Menlo"/>
                  <a:cs typeface="Menlo"/>
                  <a:sym typeface="Menlo"/>
                </a:defRPr>
              </a:pPr>
              <a:r>
                <a:rPr b="0">
                  <a:solidFill>
                    <a:srgbClr val="000000"/>
                  </a:solidFill>
                </a:rPr>
                <a:t>    </a:t>
              </a:r>
              <a:r>
                <a:t>required</a:t>
              </a:r>
              <a:r>
                <a:rPr b="0">
                  <a:solidFill>
                    <a:srgbClr val="000000"/>
                  </a:solidFill>
                </a:rPr>
                <a:t>:</a:t>
              </a:r>
              <a:endParaRPr b="0">
                <a:solidFill>
                  <a:srgbClr val="000000"/>
                </a:solidFill>
              </a:endParaRPr>
            </a:p>
            <a:p>
              <a:pPr defTabSz="457200">
                <a:defRPr sz="1500">
                  <a:latin typeface="Menlo"/>
                  <a:ea typeface="Menlo"/>
                  <a:cs typeface="Menlo"/>
                  <a:sym typeface="Menlo"/>
                </a:defRPr>
              </a:pPr>
              <a:r>
                <a:t>      - room_id</a:t>
              </a:r>
            </a:p>
            <a:p>
              <a:pPr defTabSz="457200">
                <a:defRPr b="1" sz="1500">
                  <a:solidFill>
                    <a:srgbClr val="011480"/>
                  </a:solidFill>
                  <a:latin typeface="Menlo"/>
                  <a:ea typeface="Menlo"/>
                  <a:cs typeface="Menlo"/>
                  <a:sym typeface="Menlo"/>
                </a:defRPr>
              </a:pPr>
              <a:r>
                <a:rPr b="0">
                  <a:solidFill>
                    <a:srgbClr val="000000"/>
                  </a:solidFill>
                </a:rPr>
                <a:t>    </a:t>
              </a:r>
              <a:r>
                <a:t>allOf</a:t>
              </a:r>
              <a:r>
                <a:rPr b="0">
                  <a:solidFill>
                    <a:srgbClr val="000000"/>
                  </a:solidFill>
                </a:rPr>
                <a:t>:</a:t>
              </a:r>
              <a:endParaRPr b="0">
                <a:solidFill>
                  <a:srgbClr val="000000"/>
                </a:solidFill>
              </a:endParaRPr>
            </a:p>
            <a:p>
              <a:pPr defTabSz="457200">
                <a:defRPr sz="1500">
                  <a:latin typeface="Menlo"/>
                  <a:ea typeface="Menlo"/>
                  <a:cs typeface="Menlo"/>
                  <a:sym typeface="Menlo"/>
                </a:defRPr>
              </a:pPr>
              <a:r>
                <a:t>      - </a:t>
              </a:r>
              <a:r>
                <a:rPr b="1">
                  <a:solidFill>
                    <a:srgbClr val="011480"/>
                  </a:solidFill>
                </a:rPr>
                <a:t>type</a:t>
              </a:r>
              <a:r>
                <a:t>: object</a:t>
              </a:r>
            </a:p>
            <a:p>
              <a:pPr defTabSz="457200">
                <a:defRPr b="1" sz="1500">
                  <a:solidFill>
                    <a:srgbClr val="011480"/>
                  </a:solidFill>
                  <a:latin typeface="Menlo"/>
                  <a:ea typeface="Menlo"/>
                  <a:cs typeface="Menlo"/>
                  <a:sym typeface="Menlo"/>
                </a:defRPr>
              </a:pPr>
              <a:r>
                <a:rPr b="0">
                  <a:solidFill>
                    <a:srgbClr val="000000"/>
                  </a:solidFill>
                </a:rPr>
                <a:t>        </a:t>
              </a:r>
              <a:r>
                <a:t>properties</a:t>
              </a:r>
              <a:r>
                <a:rPr b="0">
                  <a:solidFill>
                    <a:srgbClr val="000000"/>
                  </a:solidFill>
                </a:rPr>
                <a:t>:</a:t>
              </a:r>
              <a:endParaRPr b="0">
                <a:solidFill>
                  <a:srgbClr val="000000"/>
                </a:solidFill>
              </a:endParaRPr>
            </a:p>
            <a:p>
              <a:pPr defTabSz="457200">
                <a:defRPr sz="1500">
                  <a:latin typeface="Menlo"/>
                  <a:ea typeface="Menlo"/>
                  <a:cs typeface="Menlo"/>
                  <a:sym typeface="Menlo"/>
                </a:defRPr>
              </a:pPr>
              <a:r>
                <a:t>          </a:t>
              </a:r>
              <a:r>
                <a:rPr b="1">
                  <a:solidFill>
                    <a:srgbClr val="011480"/>
                  </a:solidFill>
                </a:rPr>
                <a:t>room_id</a:t>
              </a:r>
              <a:r>
                <a:t>:</a:t>
              </a:r>
            </a:p>
            <a:p>
              <a:pPr defTabSz="457200">
                <a:defRPr sz="1500">
                  <a:latin typeface="Menlo"/>
                  <a:ea typeface="Menlo"/>
                  <a:cs typeface="Menlo"/>
                  <a:sym typeface="Menlo"/>
                </a:defRPr>
              </a:pPr>
              <a:r>
                <a:t>            </a:t>
              </a:r>
              <a:r>
                <a:rPr b="1">
                  <a:solidFill>
                    <a:srgbClr val="011480"/>
                  </a:solidFill>
                </a:rPr>
                <a:t>type</a:t>
              </a:r>
              <a:r>
                <a:t>: string</a:t>
              </a:r>
            </a:p>
            <a:p>
              <a:pPr defTabSz="457200">
                <a:defRPr sz="1500">
                  <a:latin typeface="Menlo"/>
                  <a:ea typeface="Menlo"/>
                  <a:cs typeface="Menlo"/>
                  <a:sym typeface="Menlo"/>
                </a:defRPr>
              </a:pPr>
              <a:r>
                <a:t>            </a:t>
              </a:r>
              <a:r>
                <a:rPr b="1">
                  <a:solidFill>
                    <a:srgbClr val="011480"/>
                  </a:solidFill>
                </a:rPr>
                <a:t>description</a:t>
              </a:r>
              <a:r>
                <a:t>: UUID des Raumes</a:t>
              </a:r>
            </a:p>
            <a:p>
              <a:pPr defTabSz="457200">
                <a:defRPr sz="1500">
                  <a:latin typeface="Menlo"/>
                  <a:ea typeface="Menlo"/>
                  <a:cs typeface="Menlo"/>
                  <a:sym typeface="Menlo"/>
                </a:defRPr>
              </a:pPr>
              <a:r>
                <a:t>            </a:t>
              </a:r>
              <a:r>
                <a:rPr b="1">
                  <a:solidFill>
                    <a:srgbClr val="011480"/>
                  </a:solidFill>
                </a:rPr>
                <a:t>example</a:t>
              </a:r>
              <a:r>
                <a:t>: 6f410920-ea6b-4fbe-...</a:t>
              </a:r>
            </a:p>
            <a:p>
              <a:pPr defTabSz="457200">
                <a:defRPr b="1" sz="1500">
                  <a:solidFill>
                    <a:srgbClr val="018001"/>
                  </a:solidFill>
                  <a:latin typeface="Menlo"/>
                  <a:ea typeface="Menlo"/>
                  <a:cs typeface="Menlo"/>
                  <a:sym typeface="Menlo"/>
                </a:defRPr>
              </a:pPr>
              <a:r>
                <a:rPr b="0">
                  <a:solidFill>
                    <a:srgbClr val="000000"/>
                  </a:solidFill>
                </a:rPr>
                <a:t>      - </a:t>
              </a:r>
              <a:r>
                <a:rPr>
                  <a:solidFill>
                    <a:srgbClr val="011480"/>
                  </a:solidFill>
                </a:rPr>
                <a:t>$ref</a:t>
              </a:r>
              <a:r>
                <a:rPr b="0">
                  <a:solidFill>
                    <a:srgbClr val="000000"/>
                  </a:solidFill>
                </a:rPr>
                <a:t>: </a:t>
              </a:r>
              <a:r>
                <a:t>'#/components/schemas/RoomWrite'</a:t>
              </a:r>
            </a:p>
            <a:p>
              <a:pPr defTabSz="457200">
                <a:defRPr b="1" sz="1500">
                  <a:solidFill>
                    <a:srgbClr val="018001"/>
                  </a:solidFill>
                  <a:latin typeface="Menlo"/>
                  <a:ea typeface="Menlo"/>
                  <a:cs typeface="Menlo"/>
                  <a:sym typeface="Menlo"/>
                </a:defRPr>
              </a:pPr>
            </a:p>
          </p:txBody>
        </p:sp>
        <p:sp>
          <p:nvSpPr>
            <p:cNvPr id="323" name="Rechteck"/>
            <p:cNvSpPr/>
            <p:nvPr/>
          </p:nvSpPr>
          <p:spPr>
            <a:xfrm>
              <a:off x="331737" y="1408410"/>
              <a:ext cx="5068046" cy="2045098"/>
            </a:xfrm>
            <a:prstGeom prst="rect">
              <a:avLst/>
            </a:prstGeom>
            <a:noFill/>
            <a:ln w="12700" cap="flat">
              <a:solidFill>
                <a:srgbClr val="BE17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</p:grpSp>
      <p:sp>
        <p:nvSpPr>
          <p:cNvPr id="325" name="Linie"/>
          <p:cNvSpPr/>
          <p:nvPr/>
        </p:nvSpPr>
        <p:spPr>
          <a:xfrm flipV="1">
            <a:off x="6096000" y="1723194"/>
            <a:ext cx="0" cy="455620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24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OAS Specification - Compon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OAS Specification - Components</a:t>
            </a:r>
          </a:p>
        </p:txBody>
      </p:sp>
      <p:sp>
        <p:nvSpPr>
          <p:cNvPr id="328" name="#components:…"/>
          <p:cNvSpPr txBox="1"/>
          <p:nvPr>
            <p:ph type="body" sz="half" idx="1"/>
          </p:nvPr>
        </p:nvSpPr>
        <p:spPr>
          <a:xfrm>
            <a:off x="838200" y="1825624"/>
            <a:ext cx="6848624" cy="4351339"/>
          </a:xfrm>
          <a:prstGeom prst="rect">
            <a:avLst/>
          </a:prstGeom>
        </p:spPr>
        <p:txBody>
          <a:bodyPr/>
          <a:lstStyle/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i="1" sz="1500">
                <a:solidFill>
                  <a:srgbClr val="80808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#components: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b="1" sz="1500">
                <a:solidFill>
                  <a:srgbClr val="01148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b="0" i="1">
                <a:solidFill>
                  <a:srgbClr val="808080"/>
                </a:solidFill>
              </a:rPr>
              <a:t>  </a:t>
            </a:r>
            <a:r>
              <a:t>parameters</a:t>
            </a:r>
            <a:r>
              <a:rPr b="0">
                <a:solidFill>
                  <a:srgbClr val="000000"/>
                </a:solidFill>
              </a:rPr>
              <a:t>:</a:t>
            </a:r>
            <a:endParaRPr b="0">
              <a:solidFill>
                <a:srgbClr val="000000"/>
              </a:solidFill>
            </a:endParaRP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b="1" sz="1500">
                <a:solidFill>
                  <a:srgbClr val="01148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b="0">
                <a:solidFill>
                  <a:srgbClr val="000000"/>
                </a:solidFill>
              </a:rPr>
              <a:t>    </a:t>
            </a:r>
            <a:r>
              <a:t>RoomId</a:t>
            </a:r>
            <a:r>
              <a:rPr b="0">
                <a:solidFill>
                  <a:srgbClr val="000000"/>
                </a:solidFill>
              </a:rPr>
              <a:t>:</a:t>
            </a:r>
            <a:endParaRPr b="0">
              <a:solidFill>
                <a:srgbClr val="000000"/>
              </a:solidFill>
            </a:endParaRP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      </a:t>
            </a:r>
            <a:r>
              <a:rPr b="1">
                <a:solidFill>
                  <a:srgbClr val="011480"/>
                </a:solidFill>
              </a:rPr>
              <a:t>name</a:t>
            </a:r>
            <a:r>
              <a:t>: room_id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      </a:t>
            </a:r>
            <a:r>
              <a:rPr b="1">
                <a:solidFill>
                  <a:srgbClr val="011480"/>
                </a:solidFill>
              </a:rPr>
              <a:t>in</a:t>
            </a:r>
            <a:r>
              <a:t>: path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b="1" sz="1500">
                <a:solidFill>
                  <a:srgbClr val="01148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b="0">
                <a:solidFill>
                  <a:srgbClr val="000000"/>
                </a:solidFill>
              </a:rPr>
              <a:t>      </a:t>
            </a:r>
            <a:r>
              <a:t>required</a:t>
            </a:r>
            <a:r>
              <a:rPr b="0">
                <a:solidFill>
                  <a:srgbClr val="000000"/>
                </a:solidFill>
              </a:rPr>
              <a:t>: true</a:t>
            </a:r>
            <a:endParaRPr b="0">
              <a:solidFill>
                <a:srgbClr val="000000"/>
              </a:solidFill>
            </a:endParaRP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      </a:t>
            </a:r>
            <a:r>
              <a:rPr b="1">
                <a:solidFill>
                  <a:srgbClr val="011480"/>
                </a:solidFill>
              </a:rPr>
              <a:t>description</a:t>
            </a:r>
            <a:r>
              <a:t>: UUID des Besprechungsraumes.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      </a:t>
            </a:r>
            <a:r>
              <a:rPr b="1">
                <a:solidFill>
                  <a:srgbClr val="011480"/>
                </a:solidFill>
              </a:rPr>
              <a:t>schema</a:t>
            </a:r>
            <a:r>
              <a:t>: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        </a:t>
            </a:r>
            <a:r>
              <a:rPr b="1">
                <a:solidFill>
                  <a:srgbClr val="011480"/>
                </a:solidFill>
              </a:rPr>
              <a:t>type</a:t>
            </a:r>
            <a:r>
              <a:t>: string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        </a:t>
            </a:r>
            <a:r>
              <a:rPr b="1">
                <a:solidFill>
                  <a:srgbClr val="011480"/>
                </a:solidFill>
              </a:rPr>
              <a:t>example</a:t>
            </a:r>
            <a:r>
              <a:t>: 5fcec5cd-a4f6-42f3-b9c0-...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500">
                <a:latin typeface="Menlo"/>
                <a:ea typeface="Menlo"/>
                <a:cs typeface="Menlo"/>
                <a:sym typeface="Menlo"/>
              </a:defRPr>
            </a:pPr>
          </a:p>
        </p:txBody>
      </p:sp>
      <p:sp>
        <p:nvSpPr>
          <p:cNvPr id="329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30" name="Rechteck"/>
          <p:cNvSpPr/>
          <p:nvPr/>
        </p:nvSpPr>
        <p:spPr>
          <a:xfrm>
            <a:off x="918467" y="2113359"/>
            <a:ext cx="1914278" cy="251555"/>
          </a:xfrm>
          <a:prstGeom prst="rect">
            <a:avLst/>
          </a:prstGeom>
          <a:ln w="12700">
            <a:solidFill>
              <a:srgbClr val="BE1700"/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31" name="Rechteck"/>
          <p:cNvSpPr/>
          <p:nvPr/>
        </p:nvSpPr>
        <p:spPr>
          <a:xfrm>
            <a:off x="1412825" y="2566178"/>
            <a:ext cx="1914278" cy="687042"/>
          </a:xfrm>
          <a:prstGeom prst="rect">
            <a:avLst/>
          </a:prstGeom>
          <a:ln w="12700">
            <a:solidFill>
              <a:srgbClr val="BE1700"/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OAS Specification - Path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OAS Specification - Paths</a:t>
            </a:r>
          </a:p>
        </p:txBody>
      </p:sp>
      <p:sp>
        <p:nvSpPr>
          <p:cNvPr id="334" name="#openapi: 3.0.2…"/>
          <p:cNvSpPr txBox="1"/>
          <p:nvPr>
            <p:ph type="body" sz="half" idx="1"/>
          </p:nvPr>
        </p:nvSpPr>
        <p:spPr>
          <a:xfrm>
            <a:off x="838200" y="1825625"/>
            <a:ext cx="4768156" cy="4351338"/>
          </a:xfrm>
          <a:prstGeom prst="rect">
            <a:avLst/>
          </a:prstGeom>
        </p:spPr>
        <p:txBody>
          <a:bodyPr/>
          <a:lstStyle/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i="1" sz="1500">
                <a:solidFill>
                  <a:srgbClr val="80808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#openapi: 3.0.2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b="1" sz="1500">
                <a:solidFill>
                  <a:srgbClr val="01148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paths</a:t>
            </a:r>
            <a:r>
              <a:rPr b="0">
                <a:solidFill>
                  <a:srgbClr val="000000"/>
                </a:solidFill>
              </a:rPr>
              <a:t>:</a:t>
            </a:r>
            <a:endParaRPr b="0">
              <a:solidFill>
                <a:srgbClr val="000000"/>
              </a:solidFill>
            </a:endParaRP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b="1" sz="1500">
                <a:solidFill>
                  <a:srgbClr val="01148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b="0">
                <a:solidFill>
                  <a:srgbClr val="000000"/>
                </a:solidFill>
              </a:rPr>
              <a:t>  </a:t>
            </a:r>
            <a:r>
              <a:t>/rooms</a:t>
            </a:r>
            <a:r>
              <a:rPr b="0">
                <a:solidFill>
                  <a:srgbClr val="000000"/>
                </a:solidFill>
              </a:rPr>
              <a:t>:</a:t>
            </a:r>
            <a:endParaRPr b="0">
              <a:solidFill>
                <a:srgbClr val="000000"/>
              </a:solidFill>
            </a:endParaRP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    </a:t>
            </a:r>
            <a:r>
              <a:rPr b="1">
                <a:solidFill>
                  <a:srgbClr val="011480"/>
                </a:solidFill>
              </a:rPr>
              <a:t>description</a:t>
            </a:r>
            <a:r>
              <a:t>: Ressource für Bespre...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    </a:t>
            </a:r>
            <a:r>
              <a:rPr b="1">
                <a:solidFill>
                  <a:srgbClr val="011480"/>
                </a:solidFill>
              </a:rPr>
              <a:t>get</a:t>
            </a:r>
            <a:r>
              <a:t>: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      </a:t>
            </a:r>
            <a:r>
              <a:rPr b="1">
                <a:solidFill>
                  <a:srgbClr val="011480"/>
                </a:solidFill>
              </a:rPr>
              <a:t>summary</a:t>
            </a:r>
            <a:r>
              <a:t>: Liefert Besprechungsräume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      </a:t>
            </a:r>
            <a:r>
              <a:rPr b="1">
                <a:solidFill>
                  <a:srgbClr val="011480"/>
                </a:solidFill>
              </a:rPr>
              <a:t>description</a:t>
            </a:r>
            <a:r>
              <a:t>: Liefert alle ...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      </a:t>
            </a:r>
            <a:r>
              <a:rPr b="1">
                <a:solidFill>
                  <a:srgbClr val="011480"/>
                </a:solidFill>
              </a:rPr>
              <a:t>tags</a:t>
            </a:r>
            <a:r>
              <a:t>: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        - Besprechungsräume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b="1" sz="1500">
                <a:solidFill>
                  <a:srgbClr val="01148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b="0">
                <a:solidFill>
                  <a:srgbClr val="000000"/>
                </a:solidFill>
              </a:rPr>
              <a:t>      </a:t>
            </a:r>
            <a:r>
              <a:t>operationId</a:t>
            </a:r>
            <a:r>
              <a:rPr b="0">
                <a:solidFill>
                  <a:srgbClr val="000000"/>
                </a:solidFill>
              </a:rPr>
              <a:t>: getRooms</a:t>
            </a:r>
            <a:endParaRPr b="0">
              <a:solidFill>
                <a:srgbClr val="000000"/>
              </a:solidFill>
            </a:endParaRP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b="1" sz="1500">
                <a:solidFill>
                  <a:srgbClr val="01148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b="0">
                <a:solidFill>
                  <a:srgbClr val="000000"/>
                </a:solidFill>
              </a:rPr>
              <a:t>      </a:t>
            </a:r>
            <a:r>
              <a:t>parameters</a:t>
            </a:r>
            <a:r>
              <a:rPr b="0">
                <a:solidFill>
                  <a:srgbClr val="000000"/>
                </a:solidFill>
              </a:rPr>
              <a:t>:</a:t>
            </a:r>
            <a:endParaRPr b="0">
              <a:solidFill>
                <a:srgbClr val="000000"/>
              </a:solidFill>
            </a:endParaRP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        - </a:t>
            </a:r>
            <a:r>
              <a:rPr b="1">
                <a:solidFill>
                  <a:srgbClr val="011480"/>
                </a:solidFill>
              </a:rPr>
              <a:t>name</a:t>
            </a:r>
            <a:r>
              <a:t>: capacity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          </a:t>
            </a:r>
            <a:r>
              <a:rPr b="1">
                <a:solidFill>
                  <a:srgbClr val="011480"/>
                </a:solidFill>
              </a:rPr>
              <a:t>description</a:t>
            </a:r>
            <a:r>
              <a:t>: Parameter um ...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          </a:t>
            </a:r>
            <a:r>
              <a:rPr b="1">
                <a:solidFill>
                  <a:srgbClr val="011480"/>
                </a:solidFill>
              </a:rPr>
              <a:t>in</a:t>
            </a:r>
            <a:r>
              <a:t>: query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          </a:t>
            </a:r>
            <a:r>
              <a:rPr b="1">
                <a:solidFill>
                  <a:srgbClr val="011480"/>
                </a:solidFill>
              </a:rPr>
              <a:t>schema</a:t>
            </a:r>
            <a:r>
              <a:t>: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            </a:t>
            </a:r>
            <a:r>
              <a:rPr b="1">
                <a:solidFill>
                  <a:srgbClr val="011480"/>
                </a:solidFill>
              </a:rPr>
              <a:t>type</a:t>
            </a:r>
            <a:r>
              <a:t>: integer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b="1" sz="1500">
                <a:solidFill>
                  <a:srgbClr val="01148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b="0">
                <a:solidFill>
                  <a:srgbClr val="000000"/>
                </a:solidFill>
              </a:rPr>
              <a:t>     </a:t>
            </a:r>
          </a:p>
        </p:txBody>
      </p:sp>
      <p:sp>
        <p:nvSpPr>
          <p:cNvPr id="335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36" name="#get:…"/>
          <p:cNvSpPr txBox="1"/>
          <p:nvPr/>
        </p:nvSpPr>
        <p:spPr>
          <a:xfrm>
            <a:off x="6348015" y="1825625"/>
            <a:ext cx="5402561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defTabSz="448055">
              <a:defRPr i="1" sz="1470">
                <a:solidFill>
                  <a:srgbClr val="80808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#get:</a:t>
            </a:r>
          </a:p>
          <a:p>
            <a:pPr defTabSz="448055">
              <a:defRPr b="1" sz="1470">
                <a:solidFill>
                  <a:srgbClr val="01148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b="0" i="1">
                <a:solidFill>
                  <a:srgbClr val="808080"/>
                </a:solidFill>
              </a:rPr>
              <a:t>  </a:t>
            </a:r>
            <a:r>
              <a:t>responses</a:t>
            </a:r>
            <a:r>
              <a:rPr b="0">
                <a:solidFill>
                  <a:srgbClr val="000000"/>
                </a:solidFill>
              </a:rPr>
              <a:t>:</a:t>
            </a:r>
            <a:endParaRPr b="0">
              <a:solidFill>
                <a:srgbClr val="000000"/>
              </a:solidFill>
            </a:endParaRPr>
          </a:p>
          <a:p>
            <a:pPr defTabSz="448055">
              <a:defRPr b="1" sz="1470">
                <a:solidFill>
                  <a:srgbClr val="01148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b="0">
                <a:solidFill>
                  <a:srgbClr val="000000"/>
                </a:solidFill>
              </a:rPr>
              <a:t>    </a:t>
            </a:r>
            <a:r>
              <a:t>'200'</a:t>
            </a:r>
            <a:r>
              <a:rPr b="0">
                <a:solidFill>
                  <a:srgbClr val="000000"/>
                </a:solidFill>
              </a:rPr>
              <a:t>:</a:t>
            </a:r>
            <a:endParaRPr b="0">
              <a:solidFill>
                <a:srgbClr val="000000"/>
              </a:solidFill>
            </a:endParaRPr>
          </a:p>
          <a:p>
            <a:pPr defTabSz="448055">
              <a:defRPr sz="1470">
                <a:latin typeface="Menlo"/>
                <a:ea typeface="Menlo"/>
                <a:cs typeface="Menlo"/>
                <a:sym typeface="Menlo"/>
              </a:defRPr>
            </a:pPr>
            <a:r>
              <a:t>      </a:t>
            </a:r>
            <a:r>
              <a:rPr b="1">
                <a:solidFill>
                  <a:srgbClr val="011480"/>
                </a:solidFill>
              </a:rPr>
              <a:t>description</a:t>
            </a:r>
            <a:r>
              <a:t>: Erfolgreicher Zugriff.</a:t>
            </a:r>
          </a:p>
          <a:p>
            <a:pPr defTabSz="448055">
              <a:defRPr b="1" sz="1470">
                <a:solidFill>
                  <a:srgbClr val="01148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b="0">
                <a:solidFill>
                  <a:srgbClr val="000000"/>
                </a:solidFill>
              </a:rPr>
              <a:t>      </a:t>
            </a:r>
            <a:r>
              <a:t>content</a:t>
            </a:r>
            <a:r>
              <a:rPr b="0">
                <a:solidFill>
                  <a:srgbClr val="000000"/>
                </a:solidFill>
              </a:rPr>
              <a:t>:</a:t>
            </a:r>
            <a:endParaRPr b="0">
              <a:solidFill>
                <a:srgbClr val="000000"/>
              </a:solidFill>
            </a:endParaRPr>
          </a:p>
          <a:p>
            <a:pPr defTabSz="448055">
              <a:defRPr b="1" sz="1470">
                <a:solidFill>
                  <a:srgbClr val="01148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b="0">
                <a:solidFill>
                  <a:srgbClr val="000000"/>
                </a:solidFill>
              </a:rPr>
              <a:t>        </a:t>
            </a:r>
            <a:r>
              <a:t>application/json</a:t>
            </a:r>
            <a:r>
              <a:rPr b="0">
                <a:solidFill>
                  <a:srgbClr val="000000"/>
                </a:solidFill>
              </a:rPr>
              <a:t>:</a:t>
            </a:r>
            <a:endParaRPr b="0">
              <a:solidFill>
                <a:srgbClr val="000000"/>
              </a:solidFill>
            </a:endParaRPr>
          </a:p>
          <a:p>
            <a:pPr defTabSz="448055">
              <a:defRPr sz="1470">
                <a:latin typeface="Menlo"/>
                <a:ea typeface="Menlo"/>
                <a:cs typeface="Menlo"/>
                <a:sym typeface="Menlo"/>
              </a:defRPr>
            </a:pPr>
            <a:r>
              <a:t>          </a:t>
            </a:r>
            <a:r>
              <a:rPr b="1">
                <a:solidFill>
                  <a:srgbClr val="011480"/>
                </a:solidFill>
              </a:rPr>
              <a:t>schema</a:t>
            </a:r>
            <a:r>
              <a:t>:</a:t>
            </a:r>
          </a:p>
          <a:p>
            <a:pPr defTabSz="448055">
              <a:defRPr sz="1470">
                <a:latin typeface="Menlo"/>
                <a:ea typeface="Menlo"/>
                <a:cs typeface="Menlo"/>
                <a:sym typeface="Menlo"/>
              </a:defRPr>
            </a:pPr>
            <a:r>
              <a:t>            </a:t>
            </a:r>
            <a:r>
              <a:rPr b="1">
                <a:solidFill>
                  <a:srgbClr val="011480"/>
                </a:solidFill>
              </a:rPr>
              <a:t>type</a:t>
            </a:r>
            <a:r>
              <a:t>: array</a:t>
            </a:r>
          </a:p>
          <a:p>
            <a:pPr defTabSz="448055">
              <a:defRPr sz="1470">
                <a:latin typeface="Menlo"/>
                <a:ea typeface="Menlo"/>
                <a:cs typeface="Menlo"/>
                <a:sym typeface="Menlo"/>
              </a:defRPr>
            </a:pPr>
            <a:r>
              <a:t>            </a:t>
            </a:r>
            <a:r>
              <a:rPr b="1">
                <a:solidFill>
                  <a:srgbClr val="011480"/>
                </a:solidFill>
              </a:rPr>
              <a:t>items</a:t>
            </a:r>
            <a:r>
              <a:t>:</a:t>
            </a:r>
          </a:p>
          <a:p>
            <a:pPr defTabSz="448055">
              <a:defRPr b="1" sz="1470">
                <a:solidFill>
                  <a:srgbClr val="018001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b="0">
                <a:solidFill>
                  <a:srgbClr val="000000"/>
                </a:solidFill>
              </a:rPr>
              <a:t>              </a:t>
            </a:r>
            <a:r>
              <a:rPr>
                <a:solidFill>
                  <a:srgbClr val="011480"/>
                </a:solidFill>
              </a:rPr>
              <a:t>$ref</a:t>
            </a:r>
            <a:r>
              <a:rPr b="0">
                <a:solidFill>
                  <a:srgbClr val="000000"/>
                </a:solidFill>
              </a:rPr>
              <a:t>: </a:t>
            </a:r>
            <a:r>
              <a:t>'#/components/schemas/Room'</a:t>
            </a:r>
          </a:p>
          <a:p>
            <a:pPr defTabSz="448055">
              <a:defRPr b="1" sz="1470">
                <a:solidFill>
                  <a:srgbClr val="018001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            </a:t>
            </a:r>
            <a:r>
              <a:rPr>
                <a:solidFill>
                  <a:srgbClr val="011480"/>
                </a:solidFill>
              </a:rPr>
              <a:t>example</a:t>
            </a:r>
            <a:r>
              <a:rPr b="0">
                <a:solidFill>
                  <a:srgbClr val="000000"/>
                </a:solidFill>
              </a:rPr>
              <a:t>:</a:t>
            </a:r>
            <a:endParaRPr b="0">
              <a:solidFill>
                <a:srgbClr val="000000"/>
              </a:solidFill>
            </a:endParaRPr>
          </a:p>
          <a:p>
            <a:pPr defTabSz="448055">
              <a:defRPr sz="1470">
                <a:latin typeface="Menlo"/>
                <a:ea typeface="Menlo"/>
                <a:cs typeface="Menlo"/>
                <a:sym typeface="Menlo"/>
              </a:defRPr>
            </a:pPr>
            <a:r>
              <a:t>              - </a:t>
            </a:r>
            <a:r>
              <a:rPr b="1">
                <a:solidFill>
                  <a:srgbClr val="011480"/>
                </a:solidFill>
              </a:rPr>
              <a:t>room_id</a:t>
            </a:r>
            <a:r>
              <a:t>: 6f410920-ea6b-4fb...</a:t>
            </a:r>
          </a:p>
          <a:p>
            <a:pPr defTabSz="448055">
              <a:defRPr sz="1470">
                <a:latin typeface="Menlo"/>
                <a:ea typeface="Menlo"/>
                <a:cs typeface="Menlo"/>
                <a:sym typeface="Menlo"/>
              </a:defRPr>
            </a:pPr>
            <a:r>
              <a:t>                </a:t>
            </a:r>
            <a:r>
              <a:rPr b="1">
                <a:solidFill>
                  <a:srgbClr val="011480"/>
                </a:solidFill>
              </a:rPr>
              <a:t>name</a:t>
            </a:r>
            <a:r>
              <a:t>: O0_00W50</a:t>
            </a:r>
          </a:p>
          <a:p>
            <a:pPr defTabSz="448055">
              <a:defRPr sz="1470">
                <a:latin typeface="Menlo"/>
                <a:ea typeface="Menlo"/>
                <a:cs typeface="Menlo"/>
                <a:sym typeface="Menlo"/>
              </a:defRPr>
            </a:pPr>
            <a:r>
              <a:t>                </a:t>
            </a:r>
            <a:r>
              <a:rPr b="1">
                <a:solidFill>
                  <a:srgbClr val="011480"/>
                </a:solidFill>
              </a:rPr>
              <a:t>capacity</a:t>
            </a:r>
            <a:r>
              <a:t>: 25</a:t>
            </a:r>
          </a:p>
          <a:p>
            <a:pPr defTabSz="448055">
              <a:defRPr sz="1470">
                <a:latin typeface="Menlo"/>
                <a:ea typeface="Menlo"/>
                <a:cs typeface="Menlo"/>
                <a:sym typeface="Menlo"/>
              </a:defRPr>
            </a:pPr>
            <a:r>
              <a:t>              - </a:t>
            </a:r>
            <a:r>
              <a:rPr b="1">
                <a:solidFill>
                  <a:srgbClr val="011480"/>
                </a:solidFill>
              </a:rPr>
              <a:t>room_id</a:t>
            </a:r>
            <a:r>
              <a:t>: fb904c1b-bc00-4ce...</a:t>
            </a:r>
          </a:p>
          <a:p>
            <a:pPr defTabSz="448055">
              <a:defRPr sz="1470">
                <a:latin typeface="Menlo"/>
                <a:ea typeface="Menlo"/>
                <a:cs typeface="Menlo"/>
                <a:sym typeface="Menlo"/>
              </a:defRPr>
            </a:pPr>
            <a:r>
              <a:t>                </a:t>
            </a:r>
            <a:r>
              <a:rPr b="1">
                <a:solidFill>
                  <a:srgbClr val="011480"/>
                </a:solidFill>
              </a:rPr>
              <a:t>name</a:t>
            </a:r>
            <a:r>
              <a:t>: O0_00W60</a:t>
            </a:r>
          </a:p>
          <a:p>
            <a:pPr defTabSz="448055">
              <a:defRPr sz="1470">
                <a:latin typeface="Menlo"/>
                <a:ea typeface="Menlo"/>
                <a:cs typeface="Menlo"/>
                <a:sym typeface="Menlo"/>
              </a:defRPr>
            </a:pPr>
            <a:r>
              <a:t>                </a:t>
            </a:r>
            <a:r>
              <a:rPr b="1">
                <a:solidFill>
                  <a:srgbClr val="011480"/>
                </a:solidFill>
              </a:rPr>
              <a:t>capacity</a:t>
            </a:r>
            <a:r>
              <a:t>: 42</a:t>
            </a:r>
          </a:p>
        </p:txBody>
      </p:sp>
      <p:sp>
        <p:nvSpPr>
          <p:cNvPr id="337" name="Linie"/>
          <p:cNvSpPr/>
          <p:nvPr/>
        </p:nvSpPr>
        <p:spPr>
          <a:xfrm flipV="1">
            <a:off x="6096000" y="1723194"/>
            <a:ext cx="0" cy="455620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36" grpId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OAS Specification - Path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OAS Specification - Paths</a:t>
            </a:r>
          </a:p>
        </p:txBody>
      </p:sp>
      <p:sp>
        <p:nvSpPr>
          <p:cNvPr id="340" name="#responses:…"/>
          <p:cNvSpPr txBox="1"/>
          <p:nvPr>
            <p:ph type="body" sz="half" idx="1"/>
          </p:nvPr>
        </p:nvSpPr>
        <p:spPr>
          <a:xfrm>
            <a:off x="838200" y="1825624"/>
            <a:ext cx="5359748" cy="4351339"/>
          </a:xfrm>
          <a:prstGeom prst="rect">
            <a:avLst/>
          </a:prstGeom>
        </p:spPr>
        <p:txBody>
          <a:bodyPr/>
          <a:lstStyle/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i="1" sz="1500">
                <a:solidFill>
                  <a:srgbClr val="80808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#responses: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b="1" sz="1500">
                <a:solidFill>
                  <a:srgbClr val="01148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b="0" i="1">
                <a:solidFill>
                  <a:srgbClr val="808080"/>
                </a:solidFill>
              </a:rPr>
              <a:t>  </a:t>
            </a:r>
            <a:r>
              <a:t>default</a:t>
            </a:r>
            <a:r>
              <a:rPr b="0">
                <a:solidFill>
                  <a:srgbClr val="000000"/>
                </a:solidFill>
              </a:rPr>
              <a:t>:</a:t>
            </a:r>
            <a:endParaRPr b="0">
              <a:solidFill>
                <a:srgbClr val="000000"/>
              </a:solidFill>
            </a:endParaRP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    </a:t>
            </a:r>
            <a:r>
              <a:rPr b="1">
                <a:solidFill>
                  <a:srgbClr val="011480"/>
                </a:solidFill>
              </a:rPr>
              <a:t>description</a:t>
            </a:r>
            <a:r>
              <a:t>: Fehlerhafter Zugriff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b="1" sz="1500">
                <a:solidFill>
                  <a:srgbClr val="01148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b="0">
                <a:solidFill>
                  <a:srgbClr val="000000"/>
                </a:solidFill>
              </a:rPr>
              <a:t>    </a:t>
            </a:r>
            <a:r>
              <a:t>content</a:t>
            </a:r>
            <a:r>
              <a:rPr b="0">
                <a:solidFill>
                  <a:srgbClr val="000000"/>
                </a:solidFill>
              </a:rPr>
              <a:t>:</a:t>
            </a:r>
            <a:endParaRPr b="0">
              <a:solidFill>
                <a:srgbClr val="000000"/>
              </a:solidFill>
            </a:endParaRP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b="1" sz="1500">
                <a:solidFill>
                  <a:srgbClr val="01148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b="0">
                <a:solidFill>
                  <a:srgbClr val="000000"/>
                </a:solidFill>
              </a:rPr>
              <a:t>      </a:t>
            </a:r>
            <a:r>
              <a:t>application/json</a:t>
            </a:r>
            <a:r>
              <a:rPr b="0">
                <a:solidFill>
                  <a:srgbClr val="000000"/>
                </a:solidFill>
              </a:rPr>
              <a:t>:</a:t>
            </a:r>
            <a:endParaRPr b="0">
              <a:solidFill>
                <a:srgbClr val="000000"/>
              </a:solidFill>
            </a:endParaRP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        </a:t>
            </a:r>
            <a:r>
              <a:rPr b="1">
                <a:solidFill>
                  <a:srgbClr val="011480"/>
                </a:solidFill>
              </a:rPr>
              <a:t>schema</a:t>
            </a:r>
            <a:r>
              <a:t>: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b="1" sz="1500">
                <a:solidFill>
                  <a:srgbClr val="018001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b="0">
                <a:solidFill>
                  <a:srgbClr val="000000"/>
                </a:solidFill>
              </a:rPr>
              <a:t>          </a:t>
            </a:r>
            <a:r>
              <a:rPr>
                <a:solidFill>
                  <a:srgbClr val="011480"/>
                </a:solidFill>
              </a:rPr>
              <a:t>$ref</a:t>
            </a:r>
            <a:r>
              <a:rPr b="0">
                <a:solidFill>
                  <a:srgbClr val="000000"/>
                </a:solidFill>
              </a:rPr>
              <a:t>: </a:t>
            </a:r>
            <a:r>
              <a:t>'#/components/schemas/Error'</a:t>
            </a:r>
          </a:p>
        </p:txBody>
      </p:sp>
      <p:sp>
        <p:nvSpPr>
          <p:cNvPr id="341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OAS Specification - Path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OAS Specification - Paths</a:t>
            </a:r>
          </a:p>
        </p:txBody>
      </p:sp>
      <p:sp>
        <p:nvSpPr>
          <p:cNvPr id="344" name="#/rooms:…"/>
          <p:cNvSpPr txBox="1"/>
          <p:nvPr>
            <p:ph type="body" sz="half" idx="1"/>
          </p:nvPr>
        </p:nvSpPr>
        <p:spPr>
          <a:xfrm>
            <a:off x="838200" y="1825624"/>
            <a:ext cx="7610773" cy="4351339"/>
          </a:xfrm>
          <a:prstGeom prst="rect">
            <a:avLst/>
          </a:prstGeom>
        </p:spPr>
        <p:txBody>
          <a:bodyPr/>
          <a:lstStyle/>
          <a:p>
            <a:pPr marL="0" indent="0" defTabSz="438911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i="1" sz="1440">
                <a:solidFill>
                  <a:srgbClr val="80808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#/rooms:</a:t>
            </a:r>
          </a:p>
          <a:p>
            <a:pPr marL="0" indent="0" defTabSz="438911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b="1" sz="1440">
                <a:solidFill>
                  <a:srgbClr val="01148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b="0" i="1">
                <a:solidFill>
                  <a:srgbClr val="808080"/>
                </a:solidFill>
              </a:rPr>
              <a:t>  </a:t>
            </a:r>
            <a:r>
              <a:t>post</a:t>
            </a:r>
            <a:r>
              <a:rPr b="0">
                <a:solidFill>
                  <a:srgbClr val="000000"/>
                </a:solidFill>
              </a:rPr>
              <a:t>:</a:t>
            </a:r>
            <a:endParaRPr b="0">
              <a:solidFill>
                <a:srgbClr val="000000"/>
              </a:solidFill>
            </a:endParaRPr>
          </a:p>
          <a:p>
            <a:pPr marL="0" indent="0" defTabSz="438911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440">
                <a:latin typeface="Menlo"/>
                <a:ea typeface="Menlo"/>
                <a:cs typeface="Menlo"/>
                <a:sym typeface="Menlo"/>
              </a:defRPr>
            </a:pPr>
            <a:r>
              <a:t>    </a:t>
            </a:r>
            <a:r>
              <a:rPr b="1">
                <a:solidFill>
                  <a:srgbClr val="011480"/>
                </a:solidFill>
              </a:rPr>
              <a:t>summary</a:t>
            </a:r>
            <a:r>
              <a:t>: Anlage eines Besprechungraumes.</a:t>
            </a:r>
          </a:p>
          <a:p>
            <a:pPr marL="0" indent="0" defTabSz="438911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440">
                <a:latin typeface="Menlo"/>
                <a:ea typeface="Menlo"/>
                <a:cs typeface="Menlo"/>
                <a:sym typeface="Menlo"/>
              </a:defRPr>
            </a:pPr>
            <a:r>
              <a:t>    </a:t>
            </a:r>
            <a:r>
              <a:rPr b="1">
                <a:solidFill>
                  <a:srgbClr val="011480"/>
                </a:solidFill>
              </a:rPr>
              <a:t>description</a:t>
            </a:r>
            <a:r>
              <a:t>: Legt einen neuen Besprechungsraum ...</a:t>
            </a:r>
          </a:p>
          <a:p>
            <a:pPr marL="0" indent="0" defTabSz="438911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440">
                <a:latin typeface="Menlo"/>
                <a:ea typeface="Menlo"/>
                <a:cs typeface="Menlo"/>
                <a:sym typeface="Menlo"/>
              </a:defRPr>
            </a:pPr>
            <a:r>
              <a:t>    </a:t>
            </a:r>
            <a:r>
              <a:rPr b="1">
                <a:solidFill>
                  <a:srgbClr val="011480"/>
                </a:solidFill>
              </a:rPr>
              <a:t>tags</a:t>
            </a:r>
            <a:r>
              <a:t>:</a:t>
            </a:r>
          </a:p>
          <a:p>
            <a:pPr marL="0" indent="0" defTabSz="438911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440">
                <a:latin typeface="Menlo"/>
                <a:ea typeface="Menlo"/>
                <a:cs typeface="Menlo"/>
                <a:sym typeface="Menlo"/>
              </a:defRPr>
            </a:pPr>
            <a:r>
              <a:t>      - Besprechungsräume</a:t>
            </a:r>
          </a:p>
          <a:p>
            <a:pPr marL="0" indent="0" defTabSz="438911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b="1" sz="1440">
                <a:solidFill>
                  <a:srgbClr val="01148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b="0">
                <a:solidFill>
                  <a:srgbClr val="000000"/>
                </a:solidFill>
              </a:rPr>
              <a:t>    </a:t>
            </a:r>
            <a:r>
              <a:t>operationId</a:t>
            </a:r>
            <a:r>
              <a:rPr b="0">
                <a:solidFill>
                  <a:srgbClr val="000000"/>
                </a:solidFill>
              </a:rPr>
              <a:t>: addRoom</a:t>
            </a:r>
            <a:endParaRPr b="0">
              <a:solidFill>
                <a:srgbClr val="000000"/>
              </a:solidFill>
            </a:endParaRPr>
          </a:p>
          <a:p>
            <a:pPr marL="0" indent="0" defTabSz="438911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b="1" sz="1440">
                <a:solidFill>
                  <a:srgbClr val="01148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b="0">
                <a:solidFill>
                  <a:srgbClr val="000000"/>
                </a:solidFill>
              </a:rPr>
              <a:t>    </a:t>
            </a:r>
            <a:r>
              <a:t>requestBody</a:t>
            </a:r>
            <a:r>
              <a:rPr b="0">
                <a:solidFill>
                  <a:srgbClr val="000000"/>
                </a:solidFill>
              </a:rPr>
              <a:t>:</a:t>
            </a:r>
            <a:endParaRPr b="0">
              <a:solidFill>
                <a:srgbClr val="000000"/>
              </a:solidFill>
            </a:endParaRPr>
          </a:p>
          <a:p>
            <a:pPr marL="0" indent="0" defTabSz="438911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b="1" sz="1440">
                <a:solidFill>
                  <a:srgbClr val="01148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b="0">
                <a:solidFill>
                  <a:srgbClr val="000000"/>
                </a:solidFill>
              </a:rPr>
              <a:t>      </a:t>
            </a:r>
            <a:r>
              <a:t>required</a:t>
            </a:r>
            <a:r>
              <a:rPr b="0">
                <a:solidFill>
                  <a:srgbClr val="000000"/>
                </a:solidFill>
              </a:rPr>
              <a:t>: true</a:t>
            </a:r>
            <a:endParaRPr b="0">
              <a:solidFill>
                <a:srgbClr val="000000"/>
              </a:solidFill>
            </a:endParaRPr>
          </a:p>
          <a:p>
            <a:pPr marL="0" indent="0" defTabSz="438911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b="1" sz="1440">
                <a:solidFill>
                  <a:srgbClr val="01148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b="0">
                <a:solidFill>
                  <a:srgbClr val="000000"/>
                </a:solidFill>
              </a:rPr>
              <a:t>      </a:t>
            </a:r>
            <a:r>
              <a:t>content</a:t>
            </a:r>
            <a:r>
              <a:rPr b="0">
                <a:solidFill>
                  <a:srgbClr val="000000"/>
                </a:solidFill>
              </a:rPr>
              <a:t>:</a:t>
            </a:r>
            <a:endParaRPr b="0">
              <a:solidFill>
                <a:srgbClr val="000000"/>
              </a:solidFill>
            </a:endParaRPr>
          </a:p>
          <a:p>
            <a:pPr marL="0" indent="0" defTabSz="438911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b="1" sz="1440">
                <a:solidFill>
                  <a:srgbClr val="01148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b="0">
                <a:solidFill>
                  <a:srgbClr val="000000"/>
                </a:solidFill>
              </a:rPr>
              <a:t>        </a:t>
            </a:r>
            <a:r>
              <a:t>application/json</a:t>
            </a:r>
            <a:r>
              <a:rPr b="0">
                <a:solidFill>
                  <a:srgbClr val="000000"/>
                </a:solidFill>
              </a:rPr>
              <a:t>:</a:t>
            </a:r>
            <a:endParaRPr b="0">
              <a:solidFill>
                <a:srgbClr val="000000"/>
              </a:solidFill>
            </a:endParaRPr>
          </a:p>
          <a:p>
            <a:pPr marL="0" indent="0" defTabSz="438911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440">
                <a:latin typeface="Menlo"/>
                <a:ea typeface="Menlo"/>
                <a:cs typeface="Menlo"/>
                <a:sym typeface="Menlo"/>
              </a:defRPr>
            </a:pPr>
            <a:r>
              <a:t>          </a:t>
            </a:r>
            <a:r>
              <a:rPr b="1">
                <a:solidFill>
                  <a:srgbClr val="011480"/>
                </a:solidFill>
              </a:rPr>
              <a:t>schema</a:t>
            </a:r>
            <a:r>
              <a:t>:</a:t>
            </a:r>
          </a:p>
          <a:p>
            <a:pPr marL="0" indent="0" defTabSz="438911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b="1" sz="1440">
                <a:solidFill>
                  <a:srgbClr val="018001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b="0">
                <a:solidFill>
                  <a:srgbClr val="000000"/>
                </a:solidFill>
              </a:rPr>
              <a:t>            </a:t>
            </a:r>
            <a:r>
              <a:rPr>
                <a:solidFill>
                  <a:srgbClr val="011480"/>
                </a:solidFill>
              </a:rPr>
              <a:t>$ref</a:t>
            </a:r>
            <a:r>
              <a:rPr b="0">
                <a:solidFill>
                  <a:srgbClr val="000000"/>
                </a:solidFill>
              </a:rPr>
              <a:t>: </a:t>
            </a:r>
            <a:r>
              <a:t>'#/components/schemas/RoomWrite'</a:t>
            </a:r>
          </a:p>
          <a:p>
            <a:pPr marL="0" indent="0" defTabSz="438911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b="1" sz="1440">
                <a:solidFill>
                  <a:srgbClr val="01148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18001"/>
                </a:solidFill>
              </a:rPr>
              <a:t>    </a:t>
            </a:r>
            <a:r>
              <a:t>responses</a:t>
            </a:r>
            <a:r>
              <a:rPr b="0">
                <a:solidFill>
                  <a:srgbClr val="000000"/>
                </a:solidFill>
              </a:rPr>
              <a:t>:</a:t>
            </a:r>
            <a:endParaRPr b="0">
              <a:solidFill>
                <a:srgbClr val="000000"/>
              </a:solidFill>
            </a:endParaRPr>
          </a:p>
          <a:p>
            <a:pPr marL="0" indent="0" defTabSz="438911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440">
                <a:latin typeface="Menlo"/>
                <a:ea typeface="Menlo"/>
                <a:cs typeface="Menlo"/>
                <a:sym typeface="Menlo"/>
              </a:defRPr>
            </a:pPr>
            <a:r>
              <a:t>      </a:t>
            </a:r>
            <a:r>
              <a:rPr b="1">
                <a:solidFill>
                  <a:srgbClr val="011480"/>
                </a:solidFill>
              </a:rPr>
              <a:t>'200'</a:t>
            </a:r>
            <a:r>
              <a:t>:</a:t>
            </a:r>
          </a:p>
          <a:p>
            <a:pPr marL="0" indent="0" defTabSz="438911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440">
                <a:latin typeface="Menlo"/>
                <a:ea typeface="Menlo"/>
                <a:cs typeface="Menlo"/>
                <a:sym typeface="Menlo"/>
              </a:defRPr>
            </a:pPr>
            <a:r>
              <a:t>        </a:t>
            </a:r>
            <a:r>
              <a:rPr b="1">
                <a:solidFill>
                  <a:srgbClr val="011480"/>
                </a:solidFill>
              </a:rPr>
              <a:t>description</a:t>
            </a:r>
            <a:r>
              <a:t>: Neuer Besprechungsraum wurde ...</a:t>
            </a:r>
          </a:p>
          <a:p>
            <a:pPr marL="0" indent="0" defTabSz="438911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440">
                <a:latin typeface="Menlo"/>
                <a:ea typeface="Menlo"/>
                <a:cs typeface="Menlo"/>
                <a:sym typeface="Menlo"/>
              </a:defRPr>
            </a:pPr>
            <a:r>
              <a:t>        </a:t>
            </a:r>
            <a:r>
              <a:rPr b="1">
                <a:solidFill>
                  <a:srgbClr val="011480"/>
                </a:solidFill>
              </a:rPr>
              <a:t>content</a:t>
            </a:r>
            <a:r>
              <a:t>:</a:t>
            </a:r>
          </a:p>
          <a:p>
            <a:pPr marL="0" indent="0" defTabSz="438911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b="1" sz="1440">
                <a:solidFill>
                  <a:srgbClr val="01148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b="0">
                <a:solidFill>
                  <a:srgbClr val="000000"/>
                </a:solidFill>
              </a:rPr>
              <a:t>          </a:t>
            </a:r>
            <a:r>
              <a:t>application/json</a:t>
            </a:r>
            <a:r>
              <a:rPr b="0">
                <a:solidFill>
                  <a:srgbClr val="000000"/>
                </a:solidFill>
              </a:rPr>
              <a:t>:</a:t>
            </a:r>
            <a:endParaRPr b="0">
              <a:solidFill>
                <a:srgbClr val="000000"/>
              </a:solidFill>
            </a:endParaRPr>
          </a:p>
          <a:p>
            <a:pPr marL="0" indent="0" defTabSz="438911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440">
                <a:latin typeface="Menlo"/>
                <a:ea typeface="Menlo"/>
                <a:cs typeface="Menlo"/>
                <a:sym typeface="Menlo"/>
              </a:defRPr>
            </a:pPr>
            <a:r>
              <a:t>            </a:t>
            </a:r>
            <a:r>
              <a:rPr b="1">
                <a:solidFill>
                  <a:srgbClr val="011480"/>
                </a:solidFill>
              </a:rPr>
              <a:t>schema</a:t>
            </a:r>
            <a:r>
              <a:t>:</a:t>
            </a:r>
          </a:p>
          <a:p>
            <a:pPr marL="0" indent="0" defTabSz="438911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b="1" sz="1440">
                <a:solidFill>
                  <a:srgbClr val="018001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b="0">
                <a:solidFill>
                  <a:srgbClr val="000000"/>
                </a:solidFill>
              </a:rPr>
              <a:t>              </a:t>
            </a:r>
            <a:r>
              <a:rPr>
                <a:solidFill>
                  <a:srgbClr val="011480"/>
                </a:solidFill>
              </a:rPr>
              <a:t>$ref</a:t>
            </a:r>
            <a:r>
              <a:rPr b="0">
                <a:solidFill>
                  <a:srgbClr val="000000"/>
                </a:solidFill>
              </a:rPr>
              <a:t>: </a:t>
            </a:r>
            <a:r>
              <a:t>'#/components/schemas/Room'</a:t>
            </a:r>
          </a:p>
        </p:txBody>
      </p:sp>
      <p:sp>
        <p:nvSpPr>
          <p:cNvPr id="345" name="Foliennummer"/>
          <p:cNvSpPr txBox="1"/>
          <p:nvPr>
            <p:ph type="sldNum" sz="quarter" idx="2"/>
          </p:nvPr>
        </p:nvSpPr>
        <p:spPr>
          <a:xfrm>
            <a:off x="5959172" y="6482985"/>
            <a:ext cx="273656" cy="26425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46" name="Rechteck"/>
          <p:cNvSpPr/>
          <p:nvPr/>
        </p:nvSpPr>
        <p:spPr>
          <a:xfrm>
            <a:off x="1235372" y="3291879"/>
            <a:ext cx="5495629" cy="1221235"/>
          </a:xfrm>
          <a:prstGeom prst="rect">
            <a:avLst/>
          </a:prstGeom>
          <a:ln w="12700">
            <a:solidFill>
              <a:srgbClr val="BE1700"/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OAS Specification - Path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OAS Specification - Paths</a:t>
            </a:r>
          </a:p>
        </p:txBody>
      </p:sp>
      <p:sp>
        <p:nvSpPr>
          <p:cNvPr id="349" name="#paths:…"/>
          <p:cNvSpPr txBox="1"/>
          <p:nvPr>
            <p:ph type="body" sz="half" idx="1"/>
          </p:nvPr>
        </p:nvSpPr>
        <p:spPr>
          <a:xfrm>
            <a:off x="838200" y="1825625"/>
            <a:ext cx="7610773" cy="4351338"/>
          </a:xfrm>
          <a:prstGeom prst="rect">
            <a:avLst/>
          </a:prstGeom>
        </p:spPr>
        <p:txBody>
          <a:bodyPr/>
          <a:lstStyle/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i="1" sz="1500">
                <a:solidFill>
                  <a:srgbClr val="80808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#paths: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b="1" sz="1500">
                <a:solidFill>
                  <a:srgbClr val="01148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b="0" i="1">
                <a:solidFill>
                  <a:srgbClr val="808080"/>
                </a:solidFill>
              </a:rPr>
              <a:t>  </a:t>
            </a:r>
            <a:r>
              <a:t>/rooms/{room_id}</a:t>
            </a:r>
            <a:r>
              <a:rPr b="0">
                <a:solidFill>
                  <a:srgbClr val="000000"/>
                </a:solidFill>
              </a:rPr>
              <a:t>:</a:t>
            </a:r>
            <a:endParaRPr b="0">
              <a:solidFill>
                <a:srgbClr val="000000"/>
              </a:solidFill>
            </a:endParaRP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    </a:t>
            </a:r>
            <a:r>
              <a:rPr b="1">
                <a:solidFill>
                  <a:srgbClr val="011480"/>
                </a:solidFill>
              </a:rPr>
              <a:t>description</a:t>
            </a:r>
            <a:r>
              <a:t>: Resource um auf einen einzelnen ...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b="1" sz="1500">
                <a:solidFill>
                  <a:srgbClr val="01148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b="0">
                <a:solidFill>
                  <a:srgbClr val="000000"/>
                </a:solidFill>
              </a:rPr>
              <a:t>    </a:t>
            </a:r>
            <a:r>
              <a:t>parameters</a:t>
            </a:r>
            <a:r>
              <a:rPr b="0">
                <a:solidFill>
                  <a:srgbClr val="000000"/>
                </a:solidFill>
              </a:rPr>
              <a:t>:</a:t>
            </a:r>
            <a:endParaRPr b="0">
              <a:solidFill>
                <a:srgbClr val="000000"/>
              </a:solidFill>
            </a:endParaRP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b="1" sz="1500">
                <a:solidFill>
                  <a:srgbClr val="018001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b="0">
                <a:solidFill>
                  <a:srgbClr val="000000"/>
                </a:solidFill>
              </a:rPr>
              <a:t>      - </a:t>
            </a:r>
            <a:r>
              <a:rPr>
                <a:solidFill>
                  <a:srgbClr val="011480"/>
                </a:solidFill>
              </a:rPr>
              <a:t>$ref</a:t>
            </a:r>
            <a:r>
              <a:rPr b="0">
                <a:solidFill>
                  <a:srgbClr val="000000"/>
                </a:solidFill>
              </a:rPr>
              <a:t>: </a:t>
            </a:r>
            <a:r>
              <a:t>'#/components/parameters/RoomId'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b="1" sz="1500">
                <a:solidFill>
                  <a:srgbClr val="018001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    </a:t>
            </a:r>
            <a:r>
              <a:rPr>
                <a:solidFill>
                  <a:srgbClr val="011480"/>
                </a:solidFill>
              </a:rPr>
              <a:t>get</a:t>
            </a:r>
            <a:r>
              <a:rPr b="0">
                <a:solidFill>
                  <a:srgbClr val="000000"/>
                </a:solidFill>
              </a:rPr>
              <a:t>:</a:t>
            </a:r>
            <a:endParaRPr b="0">
              <a:solidFill>
                <a:srgbClr val="000000"/>
              </a:solidFill>
            </a:endParaRP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      </a:t>
            </a:r>
            <a:r>
              <a:rPr i="1">
                <a:solidFill>
                  <a:srgbClr val="808080"/>
                </a:solidFill>
              </a:rPr>
              <a:t># ...</a:t>
            </a:r>
            <a:endParaRPr i="1">
              <a:solidFill>
                <a:srgbClr val="808080"/>
              </a:solidFill>
            </a:endParaRP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i="1" sz="1500">
                <a:solidFill>
                  <a:srgbClr val="80808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    </a:t>
            </a:r>
            <a:r>
              <a:rPr b="1" i="0">
                <a:solidFill>
                  <a:srgbClr val="011480"/>
                </a:solidFill>
              </a:rPr>
              <a:t>put</a:t>
            </a:r>
            <a:r>
              <a:rPr i="0">
                <a:solidFill>
                  <a:srgbClr val="000000"/>
                </a:solidFill>
              </a:rPr>
              <a:t>:</a:t>
            </a:r>
            <a:endParaRPr i="0">
              <a:solidFill>
                <a:srgbClr val="000000"/>
              </a:solidFill>
            </a:endParaRP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      </a:t>
            </a:r>
            <a:r>
              <a:rPr i="1">
                <a:solidFill>
                  <a:srgbClr val="808080"/>
                </a:solidFill>
              </a:rPr>
              <a:t># ...</a:t>
            </a:r>
          </a:p>
        </p:txBody>
      </p:sp>
      <p:sp>
        <p:nvSpPr>
          <p:cNvPr id="350" name="Foliennummer"/>
          <p:cNvSpPr txBox="1"/>
          <p:nvPr>
            <p:ph type="sldNum" sz="quarter" idx="2"/>
          </p:nvPr>
        </p:nvSpPr>
        <p:spPr>
          <a:xfrm>
            <a:off x="5959172" y="6482985"/>
            <a:ext cx="273656" cy="26425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51" name="Rechteck"/>
          <p:cNvSpPr/>
          <p:nvPr/>
        </p:nvSpPr>
        <p:spPr>
          <a:xfrm>
            <a:off x="1235372" y="2608064"/>
            <a:ext cx="5495628" cy="461765"/>
          </a:xfrm>
          <a:prstGeom prst="rect">
            <a:avLst/>
          </a:prstGeom>
          <a:ln w="12700">
            <a:solidFill>
              <a:srgbClr val="BE1700"/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52" name="Rechteck"/>
          <p:cNvSpPr/>
          <p:nvPr/>
        </p:nvSpPr>
        <p:spPr>
          <a:xfrm>
            <a:off x="1910655" y="2073984"/>
            <a:ext cx="1190924" cy="251555"/>
          </a:xfrm>
          <a:prstGeom prst="rect">
            <a:avLst/>
          </a:prstGeom>
          <a:ln w="12700">
            <a:solidFill>
              <a:srgbClr val="BE1700"/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Titel 3"/>
          <p:cNvSpPr txBox="1"/>
          <p:nvPr>
            <p:ph type="title"/>
          </p:nvPr>
        </p:nvSpPr>
        <p:spPr>
          <a:xfrm>
            <a:off x="831850" y="1709738"/>
            <a:ext cx="10515600" cy="2852738"/>
          </a:xfrm>
          <a:prstGeom prst="rect">
            <a:avLst/>
          </a:prstGeom>
        </p:spPr>
        <p:txBody>
          <a:bodyPr/>
          <a:lstStyle/>
          <a:p>
            <a:pPr/>
            <a:r>
              <a:t>Swagger-UI</a:t>
            </a:r>
          </a:p>
        </p:txBody>
      </p:sp>
      <p:sp>
        <p:nvSpPr>
          <p:cNvPr id="355" name="Textplatzhalter 4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Swagger-UI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Swagger-UI</a:t>
            </a:r>
          </a:p>
        </p:txBody>
      </p:sp>
      <p:sp>
        <p:nvSpPr>
          <p:cNvPr id="358" name="Foliennummer"/>
          <p:cNvSpPr txBox="1"/>
          <p:nvPr>
            <p:ph type="sldNum" sz="quarter" idx="2"/>
          </p:nvPr>
        </p:nvSpPr>
        <p:spPr>
          <a:xfrm>
            <a:off x="5959172" y="6482985"/>
            <a:ext cx="273656" cy="26425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359" name="Bild" descr="Bild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21093" y="1396998"/>
            <a:ext cx="9349814" cy="507258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70" name="Gruppieren"/>
          <p:cNvGrpSpPr/>
          <p:nvPr/>
        </p:nvGrpSpPr>
        <p:grpSpPr>
          <a:xfrm>
            <a:off x="188163" y="886936"/>
            <a:ext cx="11621173" cy="5775484"/>
            <a:chOff x="0" y="0"/>
            <a:chExt cx="11621172" cy="5775483"/>
          </a:xfrm>
        </p:grpSpPr>
        <p:sp>
          <p:nvSpPr>
            <p:cNvPr id="360" name="info:…"/>
            <p:cNvSpPr txBox="1"/>
            <p:nvPr/>
          </p:nvSpPr>
          <p:spPr>
            <a:xfrm>
              <a:off x="6484342" y="1356940"/>
              <a:ext cx="3794589" cy="866141"/>
            </a:xfrm>
            <a:prstGeom prst="rect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defTabSz="457200">
                <a:defRPr b="1" sz="1300">
                  <a:solidFill>
                    <a:srgbClr val="011480"/>
                  </a:solidFill>
                  <a:latin typeface="Menlo"/>
                  <a:ea typeface="Menlo"/>
                  <a:cs typeface="Menlo"/>
                  <a:sym typeface="Menlo"/>
                </a:defRPr>
              </a:pPr>
              <a:r>
                <a:t>info</a:t>
              </a:r>
              <a:r>
                <a:rPr b="0">
                  <a:solidFill>
                    <a:srgbClr val="000000"/>
                  </a:solidFill>
                </a:rPr>
                <a:t>:</a:t>
              </a:r>
              <a:endParaRPr b="0">
                <a:solidFill>
                  <a:srgbClr val="000000"/>
                </a:solidFill>
              </a:endParaRPr>
            </a:p>
            <a:p>
              <a:pPr defTabSz="457200">
                <a:defRPr sz="1300">
                  <a:latin typeface="Menlo"/>
                  <a:ea typeface="Menlo"/>
                  <a:cs typeface="Menlo"/>
                  <a:sym typeface="Menlo"/>
                </a:defRPr>
              </a:pPr>
              <a:r>
                <a:t>  </a:t>
              </a:r>
              <a:r>
                <a:rPr b="1">
                  <a:solidFill>
                    <a:srgbClr val="011480"/>
                  </a:solidFill>
                </a:rPr>
                <a:t>title</a:t>
              </a:r>
              <a:r>
                <a:t>: Raumbuchungs-API</a:t>
              </a:r>
            </a:p>
            <a:p>
              <a:pPr defTabSz="457200">
                <a:defRPr sz="1300">
                  <a:latin typeface="Menlo"/>
                  <a:ea typeface="Menlo"/>
                  <a:cs typeface="Menlo"/>
                  <a:sym typeface="Menlo"/>
                </a:defRPr>
              </a:pPr>
              <a:r>
                <a:t>  </a:t>
              </a:r>
              <a:r>
                <a:rPr b="1">
                  <a:solidFill>
                    <a:srgbClr val="011480"/>
                  </a:solidFill>
                </a:rPr>
                <a:t>version</a:t>
              </a:r>
              <a:r>
                <a:t>: 0.1.0</a:t>
              </a:r>
            </a:p>
            <a:p>
              <a:pPr defTabSz="457200">
                <a:defRPr sz="1300">
                  <a:latin typeface="Menlo"/>
                  <a:ea typeface="Menlo"/>
                  <a:cs typeface="Menlo"/>
                  <a:sym typeface="Menlo"/>
                </a:defRPr>
              </a:pPr>
              <a:r>
                <a:t>  </a:t>
              </a:r>
              <a:r>
                <a:rPr b="1">
                  <a:solidFill>
                    <a:srgbClr val="011480"/>
                  </a:solidFill>
                </a:rPr>
                <a:t>description</a:t>
              </a:r>
              <a:r>
                <a:t>: API für das Buchen ...</a:t>
              </a:r>
            </a:p>
          </p:txBody>
        </p:sp>
        <p:sp>
          <p:nvSpPr>
            <p:cNvPr id="361" name="openapi: 3.0.2"/>
            <p:cNvSpPr txBox="1"/>
            <p:nvPr/>
          </p:nvSpPr>
          <p:spPr>
            <a:xfrm>
              <a:off x="4858742" y="0"/>
              <a:ext cx="1508421" cy="294640"/>
            </a:xfrm>
            <a:prstGeom prst="rect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defTabSz="457200">
                <a:defRPr sz="1300">
                  <a:latin typeface="Menlo"/>
                  <a:ea typeface="Menlo"/>
                  <a:cs typeface="Menlo"/>
                  <a:sym typeface="Menlo"/>
                </a:defRPr>
              </a:pPr>
              <a:r>
                <a:rPr b="1">
                  <a:solidFill>
                    <a:srgbClr val="011480"/>
                  </a:solidFill>
                </a:rPr>
                <a:t>openapi</a:t>
              </a:r>
              <a:r>
                <a:t>: 3.0.2</a:t>
              </a:r>
            </a:p>
          </p:txBody>
        </p:sp>
        <p:sp>
          <p:nvSpPr>
            <p:cNvPr id="362" name="Linie"/>
            <p:cNvSpPr/>
            <p:nvPr/>
          </p:nvSpPr>
          <p:spPr>
            <a:xfrm flipH="1">
              <a:off x="5015632" y="308280"/>
              <a:ext cx="509784" cy="123161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63" name="Linie"/>
            <p:cNvSpPr/>
            <p:nvPr/>
          </p:nvSpPr>
          <p:spPr>
            <a:xfrm flipH="1">
              <a:off x="4786359" y="1682436"/>
              <a:ext cx="1652473" cy="192167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64" name="servers:…"/>
            <p:cNvSpPr txBox="1"/>
            <p:nvPr/>
          </p:nvSpPr>
          <p:spPr>
            <a:xfrm>
              <a:off x="7428990" y="2708471"/>
              <a:ext cx="4192183" cy="675641"/>
            </a:xfrm>
            <a:prstGeom prst="rect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defTabSz="457200">
                <a:defRPr b="1" sz="1300">
                  <a:solidFill>
                    <a:srgbClr val="011480"/>
                  </a:solidFill>
                  <a:latin typeface="Menlo"/>
                  <a:ea typeface="Menlo"/>
                  <a:cs typeface="Menlo"/>
                  <a:sym typeface="Menlo"/>
                </a:defRPr>
              </a:pPr>
              <a:r>
                <a:t>servers</a:t>
              </a:r>
              <a:r>
                <a:rPr b="0">
                  <a:solidFill>
                    <a:srgbClr val="000000"/>
                  </a:solidFill>
                </a:rPr>
                <a:t>:</a:t>
              </a:r>
              <a:endParaRPr b="0">
                <a:solidFill>
                  <a:srgbClr val="000000"/>
                </a:solidFill>
              </a:endParaRPr>
            </a:p>
            <a:p>
              <a:pPr defTabSz="457200">
                <a:defRPr sz="1300">
                  <a:latin typeface="Menlo"/>
                  <a:ea typeface="Menlo"/>
                  <a:cs typeface="Menlo"/>
                  <a:sym typeface="Menlo"/>
                </a:defRPr>
              </a:pPr>
              <a:r>
                <a:t>  - </a:t>
              </a:r>
              <a:r>
                <a:rPr b="1">
                  <a:solidFill>
                    <a:srgbClr val="011480"/>
                  </a:solidFill>
                </a:rPr>
                <a:t>url</a:t>
              </a:r>
              <a:r>
                <a:t>: https://test.de/raumbuchungsapi</a:t>
              </a:r>
            </a:p>
            <a:p>
              <a:pPr defTabSz="457200">
                <a:defRPr sz="1300">
                  <a:latin typeface="Menlo"/>
                  <a:ea typeface="Menlo"/>
                  <a:cs typeface="Menlo"/>
                  <a:sym typeface="Menlo"/>
                </a:defRPr>
              </a:pPr>
              <a:r>
                <a:t>    </a:t>
              </a:r>
              <a:r>
                <a:rPr b="1">
                  <a:solidFill>
                    <a:srgbClr val="011480"/>
                  </a:solidFill>
                </a:rPr>
                <a:t>description</a:t>
              </a:r>
              <a:r>
                <a:t>: Testumgebung</a:t>
              </a:r>
            </a:p>
          </p:txBody>
        </p:sp>
        <p:sp>
          <p:nvSpPr>
            <p:cNvPr id="365" name="Linie"/>
            <p:cNvSpPr/>
            <p:nvPr/>
          </p:nvSpPr>
          <p:spPr>
            <a:xfrm flipH="1">
              <a:off x="6838269" y="3170297"/>
              <a:ext cx="606523" cy="1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66" name="tags:…"/>
            <p:cNvSpPr txBox="1"/>
            <p:nvPr/>
          </p:nvSpPr>
          <p:spPr>
            <a:xfrm>
              <a:off x="97197" y="3588543"/>
              <a:ext cx="912029" cy="675641"/>
            </a:xfrm>
            <a:prstGeom prst="rect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defTabSz="457200">
                <a:defRPr b="1" sz="1300">
                  <a:solidFill>
                    <a:srgbClr val="011480"/>
                  </a:solidFill>
                  <a:latin typeface="Menlo"/>
                  <a:ea typeface="Menlo"/>
                  <a:cs typeface="Menlo"/>
                  <a:sym typeface="Menlo"/>
                </a:defRPr>
              </a:pPr>
              <a:r>
                <a:t>tags</a:t>
              </a:r>
              <a:r>
                <a:rPr b="0">
                  <a:solidFill>
                    <a:srgbClr val="000000"/>
                  </a:solidFill>
                </a:rPr>
                <a:t>:</a:t>
              </a:r>
              <a:endParaRPr b="0">
                <a:solidFill>
                  <a:srgbClr val="000000"/>
                </a:solidFill>
              </a:endParaRPr>
            </a:p>
            <a:p>
              <a:pPr defTabSz="457200">
                <a:defRPr sz="1300">
                  <a:latin typeface="Menlo"/>
                  <a:ea typeface="Menlo"/>
                  <a:cs typeface="Menlo"/>
                  <a:sym typeface="Menlo"/>
                </a:defRPr>
              </a:pPr>
              <a:r>
                <a:t>  - </a:t>
              </a:r>
              <a:r>
                <a:rPr b="1">
                  <a:solidFill>
                    <a:srgbClr val="011480"/>
                  </a:solidFill>
                </a:rPr>
                <a:t>...</a:t>
              </a:r>
            </a:p>
            <a:p>
              <a:pPr defTabSz="457200">
                <a:defRPr sz="1300">
                  <a:latin typeface="Menlo"/>
                  <a:ea typeface="Menlo"/>
                  <a:cs typeface="Menlo"/>
                  <a:sym typeface="Menlo"/>
                </a:defRPr>
              </a:pPr>
              <a:r>
                <a:t>  - ...</a:t>
              </a:r>
            </a:p>
          </p:txBody>
        </p:sp>
        <p:sp>
          <p:nvSpPr>
            <p:cNvPr id="367" name="Linie"/>
            <p:cNvSpPr/>
            <p:nvPr/>
          </p:nvSpPr>
          <p:spPr>
            <a:xfrm>
              <a:off x="1010202" y="3820252"/>
              <a:ext cx="422168" cy="422168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68" name="components:…"/>
            <p:cNvSpPr txBox="1"/>
            <p:nvPr/>
          </p:nvSpPr>
          <p:spPr>
            <a:xfrm>
              <a:off x="0" y="5290343"/>
              <a:ext cx="1309624" cy="485141"/>
            </a:xfrm>
            <a:prstGeom prst="rect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defTabSz="457200">
                <a:defRPr b="1" sz="1300">
                  <a:solidFill>
                    <a:srgbClr val="011480"/>
                  </a:solidFill>
                  <a:latin typeface="Menlo"/>
                  <a:ea typeface="Menlo"/>
                  <a:cs typeface="Menlo"/>
                  <a:sym typeface="Menlo"/>
                </a:defRPr>
              </a:pPr>
              <a:r>
                <a:t>components</a:t>
              </a:r>
              <a:r>
                <a:rPr b="0">
                  <a:solidFill>
                    <a:srgbClr val="000000"/>
                  </a:solidFill>
                </a:rPr>
                <a:t>:</a:t>
              </a:r>
              <a:endParaRPr b="0">
                <a:solidFill>
                  <a:srgbClr val="000000"/>
                </a:solidFill>
              </a:endParaRPr>
            </a:p>
            <a:p>
              <a:pPr defTabSz="457200">
                <a:defRPr b="1" sz="1300">
                  <a:solidFill>
                    <a:srgbClr val="011480"/>
                  </a:solidFill>
                  <a:latin typeface="Menlo"/>
                  <a:ea typeface="Menlo"/>
                  <a:cs typeface="Menlo"/>
                  <a:sym typeface="Menlo"/>
                </a:defRPr>
              </a:pPr>
              <a:r>
                <a:rPr b="0">
                  <a:solidFill>
                    <a:srgbClr val="000000"/>
                  </a:solidFill>
                </a:rPr>
                <a:t>  </a:t>
              </a:r>
              <a:r>
                <a:t>schemas</a:t>
              </a:r>
              <a:r>
                <a:rPr b="0">
                  <a:solidFill>
                    <a:srgbClr val="000000"/>
                  </a:solidFill>
                </a:rPr>
                <a:t>:</a:t>
              </a:r>
            </a:p>
          </p:txBody>
        </p:sp>
        <p:sp>
          <p:nvSpPr>
            <p:cNvPr id="369" name="Linie"/>
            <p:cNvSpPr/>
            <p:nvPr/>
          </p:nvSpPr>
          <p:spPr>
            <a:xfrm flipV="1">
              <a:off x="1306895" y="5230465"/>
              <a:ext cx="259765" cy="259765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70" grpId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Swagger-UI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Swagger-UI</a:t>
            </a:r>
          </a:p>
        </p:txBody>
      </p:sp>
      <p:sp>
        <p:nvSpPr>
          <p:cNvPr id="373" name="Foliennummer"/>
          <p:cNvSpPr txBox="1"/>
          <p:nvPr>
            <p:ph type="sldNum" sz="quarter" idx="2"/>
          </p:nvPr>
        </p:nvSpPr>
        <p:spPr>
          <a:xfrm>
            <a:off x="5959172" y="6482985"/>
            <a:ext cx="273656" cy="26425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374" name="Bild" descr="Bild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75400" y="1397248"/>
            <a:ext cx="8841200" cy="52829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Titel 3"/>
          <p:cNvSpPr txBox="1"/>
          <p:nvPr>
            <p:ph type="title"/>
          </p:nvPr>
        </p:nvSpPr>
        <p:spPr>
          <a:xfrm>
            <a:off x="831850" y="1709738"/>
            <a:ext cx="10515600" cy="2852738"/>
          </a:xfrm>
          <a:prstGeom prst="rect">
            <a:avLst/>
          </a:prstGeom>
        </p:spPr>
        <p:txBody>
          <a:bodyPr/>
          <a:lstStyle/>
          <a:p>
            <a:pPr/>
            <a:r>
              <a:t>Use Case</a:t>
            </a:r>
          </a:p>
        </p:txBody>
      </p:sp>
      <p:sp>
        <p:nvSpPr>
          <p:cNvPr id="377" name="Textplatzhalter 4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Use Cas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Use Case</a:t>
            </a:r>
          </a:p>
        </p:txBody>
      </p:sp>
      <p:sp>
        <p:nvSpPr>
          <p:cNvPr id="380" name="Raumbuchungs-API erweitern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Raumbuchungs-API erweitern</a:t>
            </a:r>
          </a:p>
          <a:p>
            <a:pPr/>
            <a:r>
              <a:t>Ressourcen für die eigentliche Buchung</a:t>
            </a:r>
          </a:p>
          <a:p>
            <a:pPr/>
            <a:r>
              <a:t>Buchungsobjekt</a:t>
            </a:r>
          </a:p>
          <a:p>
            <a:pPr lvl="1" marL="685800" indent="-228600"/>
            <a:r>
              <a:t>ID</a:t>
            </a:r>
          </a:p>
          <a:p>
            <a:pPr lvl="1" marL="685800" indent="-228600"/>
            <a:r>
              <a:t>Raum-ID</a:t>
            </a:r>
          </a:p>
          <a:p>
            <a:pPr lvl="1" marL="685800" indent="-228600"/>
            <a:r>
              <a:t>Start</a:t>
            </a:r>
          </a:p>
          <a:p>
            <a:pPr lvl="1" marL="685800" indent="-228600"/>
            <a:r>
              <a:t>Dauer</a:t>
            </a:r>
          </a:p>
          <a:p>
            <a:pPr lvl="1" marL="685800" indent="-228600"/>
            <a:r>
              <a:t>Email-Adresse des Reservieren (optional)</a:t>
            </a:r>
          </a:p>
        </p:txBody>
      </p:sp>
      <p:sp>
        <p:nvSpPr>
          <p:cNvPr id="381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Link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Links</a:t>
            </a:r>
          </a:p>
        </p:txBody>
      </p:sp>
      <p:sp>
        <p:nvSpPr>
          <p:cNvPr id="384" name="GitHub-Projekt: github.com/nordlb &gt; techtalks &gt; 01-api-design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GitHub-Projekt: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rPr>
              <a:t>github.com/nordlb</a:t>
            </a:r>
            <a:r>
              <a:t> &gt; techtalks &gt; 01-api-design </a:t>
            </a:r>
          </a:p>
          <a:p>
            <a:pPr/>
            <a:r>
              <a:t>OpenAPI</a:t>
            </a:r>
          </a:p>
          <a:p>
            <a:pPr lvl="1" marL="685800" indent="-228600"/>
            <a:r>
              <a:t>Online Editor: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3" invalidUrl="" action="" tgtFrame="" tooltip="" history="1" highlightClick="0" endSnd="0"/>
              </a:rPr>
              <a:t>editor.swagger.io</a:t>
            </a:r>
          </a:p>
          <a:p>
            <a:pPr lvl="1" marL="685800" indent="-228600"/>
            <a:r>
              <a:t>Specification: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4" invalidUrl="" action="" tgtFrame="" tooltip="" history="1" highlightClick="0" endSnd="0"/>
              </a:rPr>
              <a:t>swagger.io/specification/</a:t>
            </a:r>
            <a:r>
              <a:t> </a:t>
            </a:r>
          </a:p>
          <a:p>
            <a:pPr lvl="1" marL="685800" indent="-228600"/>
            <a:r>
              <a:t>Documentation: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5" invalidUrl="" action="" tgtFrame="" tooltip="" history="1" highlightClick="0" endSnd="0"/>
              </a:rPr>
              <a:t>swagger.io/docs/specification/about/</a:t>
            </a:r>
            <a:r>
              <a:t> </a:t>
            </a:r>
          </a:p>
          <a:p>
            <a:pPr/>
            <a:r>
              <a:t>REST</a:t>
            </a:r>
          </a:p>
          <a:p>
            <a:pPr lvl="1" marL="685800" indent="-228600"/>
            <a:r>
              <a:t>Dissertation Roy Fielding: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6" invalidUrl="" action="" tgtFrame="" tooltip="" history="1" highlightClick="0" endSnd="0"/>
              </a:rPr>
              <a:t>https://www.ics.uci.edu/~fielding/pubs/dissertation/fielding_dissertation.pdf</a:t>
            </a:r>
            <a:r>
              <a:t> </a:t>
            </a:r>
          </a:p>
          <a:p>
            <a:pPr lvl="1" marL="685800" indent="-228600"/>
            <a:r>
              <a:t>HTTP RCFs: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7" invalidUrl="" action="" tgtFrame="" tooltip="" history="1" highlightClick="0" endSnd="0"/>
              </a:rPr>
              <a:t>RFC7231</a:t>
            </a:r>
            <a:r>
              <a:t>,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8" invalidUrl="" action="" tgtFrame="" tooltip="" history="1" highlightClick="0" endSnd="0"/>
              </a:rPr>
              <a:t>RFC7230</a:t>
            </a:r>
            <a:r>
              <a:t>,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9" invalidUrl="" action="" tgtFrame="" tooltip="" history="1" highlightClick="0" endSnd="0"/>
              </a:rPr>
              <a:t>RFC6585</a:t>
            </a:r>
          </a:p>
        </p:txBody>
      </p:sp>
      <p:sp>
        <p:nvSpPr>
          <p:cNvPr id="385" name="Foliennumm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
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2" r:id="rId5"/>
    <p:sldId id="261" r:id="rId6"/>
    <p:sldId id="259" r:id="rId7"/>
    <p:sldId id="263" r:id="rId8"/>
    <p:sldId id="258" r:id="rId9"/>
    <p:sldId id="268" r:id="rId10"/>
    <p:sldId id="273" r:id="rId11"/>
    <p:sldId id="269" r:id="rId12"/>
    <p:sldId id="270" r:id="rId13"/>
    <p:sldId id="264" r:id="rId14"/>
    <p:sldId id="275" r:id="rId15"/>
    <p:sldId id="277" r:id="rId16"/>
    <p:sldId id="27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371" autoAdjust="0"/>
  </p:normalViewPr>
  <p:slideViewPr>
    <p:cSldViewPr snapToGrid="0">
      <p:cViewPr varScale="1">
        <p:scale>
          <a:sx n="96" d="100"/>
          <a:sy n="96" d="100"/>
        </p:scale>
        <p:origin x="10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F9453-AA48-4F58-9C32-B712D6A414C8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9A76C-20FA-4DC7-9C55-FD79EB381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17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HTTP Verben stärken Standardisierung (</a:t>
            </a:r>
            <a:r>
              <a:rPr lang="de-DE" dirty="0" err="1"/>
              <a:t>removeOffice</a:t>
            </a:r>
            <a:r>
              <a:rPr lang="de-DE" dirty="0"/>
              <a:t> / </a:t>
            </a:r>
            <a:r>
              <a:rPr lang="de-DE" dirty="0" err="1"/>
              <a:t>deleteOffice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dirty="0"/>
              <a:t>viele Frontends sind in </a:t>
            </a:r>
            <a:r>
              <a:rPr lang="de-DE" dirty="0" err="1"/>
              <a:t>Javascript</a:t>
            </a:r>
            <a:r>
              <a:rPr lang="de-DE" dirty="0"/>
              <a:t> geschrieben, deswegen ist JSON praktisch, aber keine Pflicht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9A76C-20FA-4DC7-9C55-FD79EB38178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874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Ressource wird immer im Plural beschrieben</a:t>
            </a:r>
          </a:p>
          <a:p>
            <a:pPr marL="171450" indent="-171450">
              <a:buFontTx/>
              <a:buChar char="-"/>
            </a:pPr>
            <a:r>
              <a:rPr lang="de-DE" dirty="0"/>
              <a:t>hat im Standard nur die aufgelisteten Endpunkte</a:t>
            </a:r>
          </a:p>
          <a:p>
            <a:pPr marL="171450" indent="-171450">
              <a:buFontTx/>
              <a:buChar char="-"/>
            </a:pPr>
            <a:r>
              <a:rPr lang="de-DE" dirty="0"/>
              <a:t>Endpunkte = URI (Unique </a:t>
            </a:r>
            <a:r>
              <a:rPr lang="de-DE" dirty="0" err="1"/>
              <a:t>Resource</a:t>
            </a:r>
            <a:r>
              <a:rPr lang="de-DE" dirty="0"/>
              <a:t> Identifier)</a:t>
            </a:r>
          </a:p>
          <a:p>
            <a:pPr marL="171450" indent="-171450">
              <a:buFontTx/>
              <a:buChar char="-"/>
            </a:pPr>
            <a:r>
              <a:rPr lang="de-DE" dirty="0"/>
              <a:t>es darf keine koexistierenden Endpunkte geben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9A76C-20FA-4DC7-9C55-FD79EB38178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156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424E9-168E-4EB1-8630-B8F62E92E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8F6772-966F-4B36-AA83-90059F7F2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9B9AFE-1ED7-4297-874E-88AF7599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BB1763-F877-4615-A33F-AB6EAD7A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F4D835-4534-4EFF-90AE-A0828B41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994A6-43CC-46D9-9BDB-F55C817B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2FE248-7BF5-4C20-A401-C29ED4CA9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EEC3D1-1DD6-4350-B864-588FE2FA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200C0D-DADD-4086-8759-AF5B168E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E472D-968B-4BA5-B855-D108D5B8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91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4E7B8-908A-4E99-8018-DB56206A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DF93D5-701B-4CAB-9850-E60E7D5F6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6D4BCF-EC20-4245-952D-2078A02D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7B555B-6A53-46D6-AA04-EAB9E1FD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B6E31A-7800-418C-8EF8-E0C7CF28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59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8AC80E-C6A9-4AB2-B109-B07A9356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8CEE0E-CD18-4DAF-A847-75B508E3F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5BC848-324A-469B-A486-27E543AB8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D580FA-141B-473B-9F23-F0F09733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DC6FA5-0944-4F7F-AD2F-B559A6CE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681FC7-C8C9-47C1-8715-F9F82313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63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5BBA7-7037-424D-A72D-9DBAA1E2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73ADCA-9BB3-431E-B230-988EA40F6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B018BD-CCF5-4781-A64E-FB17EE1CF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AADC8B-B3F6-4D03-ABEB-99AE1C81C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FACC1BB-CD38-4F67-86CF-8B35B6163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C8339D9-EFFE-4C21-A646-DAB77597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F06743F-90CC-4D3E-8CC3-D58DFAC0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F74F5D3-7A7C-4C42-8769-9E954ED1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324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2B1A4-CA7A-4E92-95FE-A842EBA4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E19E50-1168-4D31-A954-826D0529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80DB79-B69A-4C4F-82DB-E94A1E60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A038DC-E7B3-48FD-97A1-719D0AC4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337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675F2BE-87F6-4B36-A710-90B4CD28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766728-D52D-4D20-A0EE-118B87EB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6765BE-A2E6-4BDE-A32D-575C73E3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91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B27C3-E12B-44B8-9BAC-57F800BB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2E8888-E44C-4AB7-8CCF-7352A5E4A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10CCBC-0458-4258-8D0B-FBA9A63D8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095F92-BACD-4D03-AC44-5A89C780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F9F3E1-B4C2-4E7D-BBB9-DC2B4448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BD31FA-C032-4CE7-8676-99E339D1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817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29368-7922-43FD-B933-32880E20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F98C95F-83B0-4035-BFF9-9168112CC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B8929F-4834-4DC8-9748-61CBF4AA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6A1137-2E98-4862-B18B-F5811447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629868-2775-4DF6-8943-B64F0245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FAAE63-FAF7-4B6C-AF0D-4E0347E0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56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FA3E1-625F-4159-8A18-26977423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F74777-2A13-4348-8627-D214D0DC0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ECC827-7D9A-414C-B68D-746C3095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8FABFC-EB5F-4F71-9D3A-8ED97AC5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FF2783-548E-4248-B923-981B370E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6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877FB69-80E1-4F13-9C2B-316ABE159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AA2CAF-9C28-4AC3-B7EE-463936BB9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270918-DB98-4EBF-A33C-EA5476CE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95EC1B-6AFF-4E81-9F99-05C740CB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FF6623-5999-402B-B28C-88F0C435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54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CAE293-99E9-47C9-9482-094C1AAEE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2A59FE-5233-46B6-B07D-92A0BB41E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ADDD7D-05BE-4A9A-A712-FE4CDFEA2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21499-028A-4DD7-A317-DC66A102D1C4}" type="datetimeFigureOut">
              <a:rPr lang="de-DE" smtClean="0"/>
              <a:t>07.09.2019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E0F88E-DAE5-4EB8-AD73-C2EDC1D08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C790FE-4843-422C-B81E-92003C588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0E2C7-EF47-4018-86AA-F94B8B2E35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19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F62CD59-B9AD-4D6F-898C-4D59C1C2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eine API?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E803DC-C541-4195-9E65-2D647436D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46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0C305-399E-426F-A6B2-8509FE9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Herzlich Willkommen im RESTaurant!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77C8F-9A7B-4BC5-96A5-B81B397FB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7214" y="3927015"/>
            <a:ext cx="1836586" cy="2244428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AA8E9F-5974-45EE-8B95-5627BEFED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590495"/>
            <a:ext cx="2725141" cy="158646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3682263-AEE8-4E64-91D2-4DCCD6C76D39}"/>
              </a:ext>
            </a:extLst>
          </p:cNvPr>
          <p:cNvSpPr txBox="1"/>
          <p:nvPr/>
        </p:nvSpPr>
        <p:spPr>
          <a:xfrm>
            <a:off x="1624522" y="4590495"/>
            <a:ext cx="115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Kunde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0FFC37-E607-4B24-9022-55C13FD48F59}"/>
              </a:ext>
            </a:extLst>
          </p:cNvPr>
          <p:cNvSpPr txBox="1"/>
          <p:nvPr/>
        </p:nvSpPr>
        <p:spPr>
          <a:xfrm>
            <a:off x="9830693" y="3463549"/>
            <a:ext cx="110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Küche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9FFB4CA2-E8FA-40E9-89C2-6BD6B2CD1409}"/>
              </a:ext>
            </a:extLst>
          </p:cNvPr>
          <p:cNvSpPr txBox="1"/>
          <p:nvPr/>
        </p:nvSpPr>
        <p:spPr>
          <a:xfrm>
            <a:off x="10047675" y="6501459"/>
            <a:ext cx="1768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Bilder von https://publicdomainvectors.org</a:t>
            </a:r>
          </a:p>
        </p:txBody>
      </p:sp>
    </p:spTree>
    <p:extLst>
      <p:ext uri="{BB962C8B-B14F-4D97-AF65-F5344CB8AC3E}">
        <p14:creationId xmlns:p14="http://schemas.microsoft.com/office/powerpoint/2010/main" val="217551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0C305-399E-426F-A6B2-8509FE9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Herzlich Willkommen im RESTaurant!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77C8F-9A7B-4BC5-96A5-B81B397FB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7214" y="3927015"/>
            <a:ext cx="1836586" cy="2244428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AA8E9F-5974-45EE-8B95-5627BEFED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590495"/>
            <a:ext cx="2725141" cy="158646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4166AD1-73A7-4097-88D9-56C2B0EFF5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2755" y="3463549"/>
            <a:ext cx="1592637" cy="2707894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3682263-AEE8-4E64-91D2-4DCCD6C76D39}"/>
              </a:ext>
            </a:extLst>
          </p:cNvPr>
          <p:cNvSpPr txBox="1"/>
          <p:nvPr/>
        </p:nvSpPr>
        <p:spPr>
          <a:xfrm>
            <a:off x="1624522" y="4590495"/>
            <a:ext cx="115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Kunde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685A1F-0577-48C4-95C2-A72657D2B508}"/>
              </a:ext>
            </a:extLst>
          </p:cNvPr>
          <p:cNvSpPr txBox="1"/>
          <p:nvPr/>
        </p:nvSpPr>
        <p:spPr>
          <a:xfrm>
            <a:off x="6349885" y="3463549"/>
            <a:ext cx="1209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Kellner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0FFC37-E607-4B24-9022-55C13FD48F59}"/>
              </a:ext>
            </a:extLst>
          </p:cNvPr>
          <p:cNvSpPr txBox="1"/>
          <p:nvPr/>
        </p:nvSpPr>
        <p:spPr>
          <a:xfrm>
            <a:off x="9830693" y="3463549"/>
            <a:ext cx="110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Küche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9FFB4CA2-E8FA-40E9-89C2-6BD6B2CD1409}"/>
              </a:ext>
            </a:extLst>
          </p:cNvPr>
          <p:cNvSpPr txBox="1"/>
          <p:nvPr/>
        </p:nvSpPr>
        <p:spPr>
          <a:xfrm>
            <a:off x="10047675" y="6501459"/>
            <a:ext cx="1768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Bilder von https://publicdomainvectors.org</a:t>
            </a:r>
          </a:p>
        </p:txBody>
      </p:sp>
    </p:spTree>
    <p:extLst>
      <p:ext uri="{BB962C8B-B14F-4D97-AF65-F5344CB8AC3E}">
        <p14:creationId xmlns:p14="http://schemas.microsoft.com/office/powerpoint/2010/main" val="39439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0C305-399E-426F-A6B2-8509FE9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Herzlich Willkommen im RESTaurant!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77C8F-9A7B-4BC5-96A5-B81B397FB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7214" y="3927015"/>
            <a:ext cx="1836586" cy="2244428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AA8E9F-5974-45EE-8B95-5627BEFED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590495"/>
            <a:ext cx="2725141" cy="158646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4166AD1-73A7-4097-88D9-56C2B0EFF5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2755" y="3463549"/>
            <a:ext cx="1592637" cy="2707894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3682263-AEE8-4E64-91D2-4DCCD6C76D39}"/>
              </a:ext>
            </a:extLst>
          </p:cNvPr>
          <p:cNvSpPr txBox="1"/>
          <p:nvPr/>
        </p:nvSpPr>
        <p:spPr>
          <a:xfrm>
            <a:off x="1624522" y="4590495"/>
            <a:ext cx="115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Kunde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685A1F-0577-48C4-95C2-A72657D2B508}"/>
              </a:ext>
            </a:extLst>
          </p:cNvPr>
          <p:cNvSpPr txBox="1"/>
          <p:nvPr/>
        </p:nvSpPr>
        <p:spPr>
          <a:xfrm>
            <a:off x="6349885" y="3463549"/>
            <a:ext cx="1209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Kellner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0FFC37-E607-4B24-9022-55C13FD48F59}"/>
              </a:ext>
            </a:extLst>
          </p:cNvPr>
          <p:cNvSpPr txBox="1"/>
          <p:nvPr/>
        </p:nvSpPr>
        <p:spPr>
          <a:xfrm>
            <a:off x="9830693" y="3463549"/>
            <a:ext cx="110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Küche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9FFB4CA2-E8FA-40E9-89C2-6BD6B2CD1409}"/>
              </a:ext>
            </a:extLst>
          </p:cNvPr>
          <p:cNvSpPr txBox="1"/>
          <p:nvPr/>
        </p:nvSpPr>
        <p:spPr>
          <a:xfrm>
            <a:off x="10047675" y="6501459"/>
            <a:ext cx="1768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Bilder von https://publicdomainvectors.org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83C856B-242F-40DD-811F-87504FEA1A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3316" y="1923329"/>
            <a:ext cx="1290762" cy="177104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ECFD8C3-9E54-4348-89BD-1D02A3D28A86}"/>
              </a:ext>
            </a:extLst>
          </p:cNvPr>
          <p:cNvSpPr txBox="1"/>
          <p:nvPr/>
        </p:nvSpPr>
        <p:spPr>
          <a:xfrm>
            <a:off x="3764078" y="2624185"/>
            <a:ext cx="1609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Speisekarte</a:t>
            </a:r>
          </a:p>
        </p:txBody>
      </p:sp>
    </p:spTree>
    <p:extLst>
      <p:ext uri="{BB962C8B-B14F-4D97-AF65-F5344CB8AC3E}">
        <p14:creationId xmlns:p14="http://schemas.microsoft.com/office/powerpoint/2010/main" val="46686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0C305-399E-426F-A6B2-8509FE9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Herzlich Willkommen im RESTaurant!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77C8F-9A7B-4BC5-96A5-B81B397FB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7214" y="3927015"/>
            <a:ext cx="1836586" cy="2244428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AA8E9F-5974-45EE-8B95-5627BEFED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590495"/>
            <a:ext cx="2725141" cy="158646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4166AD1-73A7-4097-88D9-56C2B0EFF5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2755" y="3463549"/>
            <a:ext cx="1592637" cy="2707894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3682263-AEE8-4E64-91D2-4DCCD6C76D39}"/>
              </a:ext>
            </a:extLst>
          </p:cNvPr>
          <p:cNvSpPr txBox="1"/>
          <p:nvPr/>
        </p:nvSpPr>
        <p:spPr>
          <a:xfrm>
            <a:off x="1624522" y="4590495"/>
            <a:ext cx="141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das Frontend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685A1F-0577-48C4-95C2-A72657D2B508}"/>
              </a:ext>
            </a:extLst>
          </p:cNvPr>
          <p:cNvSpPr txBox="1"/>
          <p:nvPr/>
        </p:nvSpPr>
        <p:spPr>
          <a:xfrm>
            <a:off x="6349885" y="3463549"/>
            <a:ext cx="1676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Schnittstelle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0FFC37-E607-4B24-9022-55C13FD48F59}"/>
              </a:ext>
            </a:extLst>
          </p:cNvPr>
          <p:cNvSpPr txBox="1"/>
          <p:nvPr/>
        </p:nvSpPr>
        <p:spPr>
          <a:xfrm>
            <a:off x="9830693" y="3463549"/>
            <a:ext cx="134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das Backend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9FFB4CA2-E8FA-40E9-89C2-6BD6B2CD1409}"/>
              </a:ext>
            </a:extLst>
          </p:cNvPr>
          <p:cNvSpPr txBox="1"/>
          <p:nvPr/>
        </p:nvSpPr>
        <p:spPr>
          <a:xfrm>
            <a:off x="10047675" y="6501459"/>
            <a:ext cx="1768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Bilder von https://publicdomainvectors.org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080D4E5-5DBA-4FF0-A0EA-7B2183D8E4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3316" y="1923329"/>
            <a:ext cx="1290762" cy="177104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DFB1B3C-A1DF-4181-8E60-41A6049E3DCB}"/>
              </a:ext>
            </a:extLst>
          </p:cNvPr>
          <p:cNvSpPr txBox="1"/>
          <p:nvPr/>
        </p:nvSpPr>
        <p:spPr>
          <a:xfrm>
            <a:off x="3764078" y="2624185"/>
            <a:ext cx="306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Schnittstellenbeschreibung</a:t>
            </a:r>
          </a:p>
        </p:txBody>
      </p:sp>
    </p:spTree>
    <p:extLst>
      <p:ext uri="{BB962C8B-B14F-4D97-AF65-F5344CB8AC3E}">
        <p14:creationId xmlns:p14="http://schemas.microsoft.com/office/powerpoint/2010/main" val="401620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0C305-399E-426F-A6B2-8509FE9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Herzlich Willkommen im RESTaurant!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77C8F-9A7B-4BC5-96A5-B81B397FB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7214" y="3927015"/>
            <a:ext cx="1836586" cy="2244428"/>
          </a:xfr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8167A9D-709E-45C9-8A37-9B16530CF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3316" y="1923329"/>
            <a:ext cx="1290762" cy="177104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AA8E9F-5974-45EE-8B95-5627BEFED3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" y="4590495"/>
            <a:ext cx="2725141" cy="158646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4166AD1-73A7-4097-88D9-56C2B0EFF5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2755" y="3463549"/>
            <a:ext cx="1592637" cy="2707894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3682263-AEE8-4E64-91D2-4DCCD6C76D39}"/>
              </a:ext>
            </a:extLst>
          </p:cNvPr>
          <p:cNvSpPr txBox="1"/>
          <p:nvPr/>
        </p:nvSpPr>
        <p:spPr>
          <a:xfrm>
            <a:off x="1624522" y="4590495"/>
            <a:ext cx="115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Kunde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685A1F-0577-48C4-95C2-A72657D2B508}"/>
              </a:ext>
            </a:extLst>
          </p:cNvPr>
          <p:cNvSpPr txBox="1"/>
          <p:nvPr/>
        </p:nvSpPr>
        <p:spPr>
          <a:xfrm>
            <a:off x="6349885" y="3463549"/>
            <a:ext cx="1209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Kellner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0FFC37-E607-4B24-9022-55C13FD48F59}"/>
              </a:ext>
            </a:extLst>
          </p:cNvPr>
          <p:cNvSpPr txBox="1"/>
          <p:nvPr/>
        </p:nvSpPr>
        <p:spPr>
          <a:xfrm>
            <a:off x="9830693" y="3463549"/>
            <a:ext cx="110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Küche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3F317FF-52BC-46BA-9781-39A841EF512B}"/>
              </a:ext>
            </a:extLst>
          </p:cNvPr>
          <p:cNvSpPr txBox="1"/>
          <p:nvPr/>
        </p:nvSpPr>
        <p:spPr>
          <a:xfrm>
            <a:off x="3764078" y="2624185"/>
            <a:ext cx="1609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Speisekarte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91CE87-20A9-4DED-8635-99B43479C7BF}"/>
              </a:ext>
            </a:extLst>
          </p:cNvPr>
          <p:cNvCxnSpPr>
            <a:stCxn id="15" idx="0"/>
          </p:cNvCxnSpPr>
          <p:nvPr/>
        </p:nvCxnSpPr>
        <p:spPr>
          <a:xfrm flipV="1">
            <a:off x="2200770" y="3758268"/>
            <a:ext cx="424984" cy="8322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26EB8A3-D738-4CA2-A574-DF6D32EF2708}"/>
              </a:ext>
            </a:extLst>
          </p:cNvPr>
          <p:cNvCxnSpPr>
            <a:cxnSpLocks/>
          </p:cNvCxnSpPr>
          <p:nvPr/>
        </p:nvCxnSpPr>
        <p:spPr>
          <a:xfrm>
            <a:off x="3959604" y="3463549"/>
            <a:ext cx="1224644" cy="46346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B739296D-0CED-41E6-AC82-A3AE53333EB8}"/>
              </a:ext>
            </a:extLst>
          </p:cNvPr>
          <p:cNvCxnSpPr>
            <a:cxnSpLocks/>
          </p:cNvCxnSpPr>
          <p:nvPr/>
        </p:nvCxnSpPr>
        <p:spPr>
          <a:xfrm>
            <a:off x="7433161" y="4448164"/>
            <a:ext cx="1989762" cy="1423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D086A13-DD7D-4D39-8E5C-E6751B2B3FB9}"/>
              </a:ext>
            </a:extLst>
          </p:cNvPr>
          <p:cNvCxnSpPr>
            <a:cxnSpLocks/>
          </p:cNvCxnSpPr>
          <p:nvPr/>
        </p:nvCxnSpPr>
        <p:spPr>
          <a:xfrm flipH="1">
            <a:off x="3919452" y="5637402"/>
            <a:ext cx="178806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C900CFC-DC36-4E57-9DFB-76F51F68A705}"/>
              </a:ext>
            </a:extLst>
          </p:cNvPr>
          <p:cNvCxnSpPr>
            <a:cxnSpLocks/>
          </p:cNvCxnSpPr>
          <p:nvPr/>
        </p:nvCxnSpPr>
        <p:spPr>
          <a:xfrm flipH="1">
            <a:off x="7139031" y="5613633"/>
            <a:ext cx="218304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1DB1D27E-1B66-4294-A73D-87E141EC1676}"/>
              </a:ext>
            </a:extLst>
          </p:cNvPr>
          <p:cNvSpPr txBox="1"/>
          <p:nvPr/>
        </p:nvSpPr>
        <p:spPr>
          <a:xfrm>
            <a:off x="1453062" y="3825458"/>
            <a:ext cx="886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wählt aus</a:t>
            </a:r>
          </a:p>
          <a:p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Angebot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5A75E4C-2AD3-4D93-88EB-F2C646E87DC3}"/>
              </a:ext>
            </a:extLst>
          </p:cNvPr>
          <p:cNvSpPr txBox="1"/>
          <p:nvPr/>
        </p:nvSpPr>
        <p:spPr>
          <a:xfrm>
            <a:off x="3760484" y="3796223"/>
            <a:ext cx="139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nimmt die Bestellung auf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F8CF049-E63C-4EAF-9A1F-80B500663113}"/>
              </a:ext>
            </a:extLst>
          </p:cNvPr>
          <p:cNvSpPr txBox="1"/>
          <p:nvPr/>
        </p:nvSpPr>
        <p:spPr>
          <a:xfrm>
            <a:off x="7650032" y="3912771"/>
            <a:ext cx="147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übersetzt die Bestellung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628BB5E-DBE9-4DBF-B28C-86DB4360190B}"/>
              </a:ext>
            </a:extLst>
          </p:cNvPr>
          <p:cNvSpPr txBox="1"/>
          <p:nvPr/>
        </p:nvSpPr>
        <p:spPr>
          <a:xfrm>
            <a:off x="7545210" y="5637402"/>
            <a:ext cx="147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fertigt das Gericht an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39ED57A-6121-465B-B6D9-31B5A8CAB928}"/>
              </a:ext>
            </a:extLst>
          </p:cNvPr>
          <p:cNvSpPr txBox="1"/>
          <p:nvPr/>
        </p:nvSpPr>
        <p:spPr>
          <a:xfrm>
            <a:off x="3955882" y="5648223"/>
            <a:ext cx="147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liefert das</a:t>
            </a:r>
          </a:p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Gericht aus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133E569-875C-47B3-B40B-425549B2A867}"/>
              </a:ext>
            </a:extLst>
          </p:cNvPr>
          <p:cNvSpPr txBox="1"/>
          <p:nvPr/>
        </p:nvSpPr>
        <p:spPr>
          <a:xfrm>
            <a:off x="10047675" y="6501459"/>
            <a:ext cx="1768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Bilder von https://publicdomainvectors.org</a:t>
            </a:r>
          </a:p>
        </p:txBody>
      </p:sp>
    </p:spTree>
    <p:extLst>
      <p:ext uri="{BB962C8B-B14F-4D97-AF65-F5344CB8AC3E}">
        <p14:creationId xmlns:p14="http://schemas.microsoft.com/office/powerpoint/2010/main" val="90940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0C305-399E-426F-A6B2-8509FE9A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Herzlich Willkommen im RESTaurant!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77C8F-9A7B-4BC5-96A5-B81B397FB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7214" y="3927015"/>
            <a:ext cx="1836586" cy="2244428"/>
          </a:xfr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8167A9D-709E-45C9-8A37-9B16530CF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3316" y="1923329"/>
            <a:ext cx="1290762" cy="177104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AA8E9F-5974-45EE-8B95-5627BEFED3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" y="4590495"/>
            <a:ext cx="2725141" cy="158646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4166AD1-73A7-4097-88D9-56C2B0EFF5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2755" y="3463549"/>
            <a:ext cx="1592637" cy="2707894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691CE87-20A9-4DED-8635-99B43479C7BF}"/>
              </a:ext>
            </a:extLst>
          </p:cNvPr>
          <p:cNvCxnSpPr>
            <a:cxnSpLocks/>
          </p:cNvCxnSpPr>
          <p:nvPr/>
        </p:nvCxnSpPr>
        <p:spPr>
          <a:xfrm flipV="1">
            <a:off x="2200770" y="3758268"/>
            <a:ext cx="424984" cy="8322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26EB8A3-D738-4CA2-A574-DF6D32EF2708}"/>
              </a:ext>
            </a:extLst>
          </p:cNvPr>
          <p:cNvCxnSpPr>
            <a:cxnSpLocks/>
          </p:cNvCxnSpPr>
          <p:nvPr/>
        </p:nvCxnSpPr>
        <p:spPr>
          <a:xfrm>
            <a:off x="3959604" y="3463549"/>
            <a:ext cx="1224644" cy="46346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B739296D-0CED-41E6-AC82-A3AE53333EB8}"/>
              </a:ext>
            </a:extLst>
          </p:cNvPr>
          <p:cNvCxnSpPr>
            <a:cxnSpLocks/>
          </p:cNvCxnSpPr>
          <p:nvPr/>
        </p:nvCxnSpPr>
        <p:spPr>
          <a:xfrm>
            <a:off x="7433161" y="4448164"/>
            <a:ext cx="1989762" cy="1423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D086A13-DD7D-4D39-8E5C-E6751B2B3FB9}"/>
              </a:ext>
            </a:extLst>
          </p:cNvPr>
          <p:cNvCxnSpPr>
            <a:cxnSpLocks/>
          </p:cNvCxnSpPr>
          <p:nvPr/>
        </p:nvCxnSpPr>
        <p:spPr>
          <a:xfrm flipH="1">
            <a:off x="3919452" y="5637402"/>
            <a:ext cx="178806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C900CFC-DC36-4E57-9DFB-76F51F68A705}"/>
              </a:ext>
            </a:extLst>
          </p:cNvPr>
          <p:cNvCxnSpPr>
            <a:cxnSpLocks/>
          </p:cNvCxnSpPr>
          <p:nvPr/>
        </p:nvCxnSpPr>
        <p:spPr>
          <a:xfrm flipH="1">
            <a:off x="7139031" y="5613633"/>
            <a:ext cx="218304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1DB1D27E-1B66-4294-A73D-87E141EC1676}"/>
              </a:ext>
            </a:extLst>
          </p:cNvPr>
          <p:cNvSpPr txBox="1"/>
          <p:nvPr/>
        </p:nvSpPr>
        <p:spPr>
          <a:xfrm>
            <a:off x="1214677" y="3713217"/>
            <a:ext cx="10766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wählt aus</a:t>
            </a:r>
          </a:p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verfügbaren</a:t>
            </a:r>
          </a:p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Endpunkten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5A75E4C-2AD3-4D93-88EB-F2C646E87DC3}"/>
              </a:ext>
            </a:extLst>
          </p:cNvPr>
          <p:cNvSpPr txBox="1"/>
          <p:nvPr/>
        </p:nvSpPr>
        <p:spPr>
          <a:xfrm>
            <a:off x="3760484" y="3796223"/>
            <a:ext cx="139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sendet die Anfrage ab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F8CF049-E63C-4EAF-9A1F-80B500663113}"/>
              </a:ext>
            </a:extLst>
          </p:cNvPr>
          <p:cNvSpPr txBox="1"/>
          <p:nvPr/>
        </p:nvSpPr>
        <p:spPr>
          <a:xfrm>
            <a:off x="7650032" y="3912771"/>
            <a:ext cx="147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leitet die</a:t>
            </a:r>
          </a:p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Anfrage weiter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628BB5E-DBE9-4DBF-B28C-86DB4360190B}"/>
              </a:ext>
            </a:extLst>
          </p:cNvPr>
          <p:cNvSpPr txBox="1"/>
          <p:nvPr/>
        </p:nvSpPr>
        <p:spPr>
          <a:xfrm>
            <a:off x="7545210" y="5637402"/>
            <a:ext cx="1476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gibt Antwort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39ED57A-6121-465B-B6D9-31B5A8CAB928}"/>
              </a:ext>
            </a:extLst>
          </p:cNvPr>
          <p:cNvSpPr txBox="1"/>
          <p:nvPr/>
        </p:nvSpPr>
        <p:spPr>
          <a:xfrm>
            <a:off x="3955882" y="5648223"/>
            <a:ext cx="147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liefert die Antwort aus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133E569-875C-47B3-B40B-425549B2A867}"/>
              </a:ext>
            </a:extLst>
          </p:cNvPr>
          <p:cNvSpPr txBox="1"/>
          <p:nvPr/>
        </p:nvSpPr>
        <p:spPr>
          <a:xfrm>
            <a:off x="10047675" y="6501459"/>
            <a:ext cx="17684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Bilder von https://publicdomainvectors.org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6202DFE-928E-405C-B214-28599A36AC79}"/>
              </a:ext>
            </a:extLst>
          </p:cNvPr>
          <p:cNvSpPr txBox="1"/>
          <p:nvPr/>
        </p:nvSpPr>
        <p:spPr>
          <a:xfrm>
            <a:off x="1624522" y="4590495"/>
            <a:ext cx="141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das Frontend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8534B7B-9003-4A9E-A79A-9457A6BC85C0}"/>
              </a:ext>
            </a:extLst>
          </p:cNvPr>
          <p:cNvSpPr txBox="1"/>
          <p:nvPr/>
        </p:nvSpPr>
        <p:spPr>
          <a:xfrm>
            <a:off x="6349885" y="3463549"/>
            <a:ext cx="1676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Schnittstelle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B5C03D2-7381-4126-B56D-29E91745CE35}"/>
              </a:ext>
            </a:extLst>
          </p:cNvPr>
          <p:cNvSpPr txBox="1"/>
          <p:nvPr/>
        </p:nvSpPr>
        <p:spPr>
          <a:xfrm>
            <a:off x="9830693" y="3463549"/>
            <a:ext cx="134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das Backend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CDA65E0-49CC-47C3-8495-B3950C92C415}"/>
              </a:ext>
            </a:extLst>
          </p:cNvPr>
          <p:cNvSpPr txBox="1"/>
          <p:nvPr/>
        </p:nvSpPr>
        <p:spPr>
          <a:xfrm>
            <a:off x="3764078" y="2624185"/>
            <a:ext cx="306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Schnittstellenbeschreibung</a:t>
            </a:r>
          </a:p>
        </p:txBody>
      </p:sp>
    </p:spTree>
    <p:extLst>
      <p:ext uri="{BB962C8B-B14F-4D97-AF65-F5344CB8AC3E}">
        <p14:creationId xmlns:p14="http://schemas.microsoft.com/office/powerpoint/2010/main" val="2055755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F62CD59-B9AD-4D6F-898C-4D59C1C2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de-DE" dirty="0"/>
              <a:t>SOAP &amp; XML vs. REST &amp; JSON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E803DC-C541-4195-9E65-2D647436D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0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3DE79-39C7-4D44-B228-87130C7B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Strukturierung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FE1941-A579-4207-A661-FB5B4490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DE" dirty="0"/>
              <a:t>SOAP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E16E30D7-F9A2-4E6C-842B-C039391778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969" y="3013683"/>
            <a:ext cx="2505425" cy="2667372"/>
          </a:xfr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AA7C75-91F8-487D-851E-42DF9E102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de-DE" dirty="0"/>
              <a:t>REST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932B4BB-43AD-4758-B66F-A66A527445D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581" y="2989867"/>
            <a:ext cx="3048425" cy="2715004"/>
          </a:xfr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D3A9110-E539-4BEF-9239-DF9D4F2A1327}"/>
              </a:ext>
            </a:extLst>
          </p:cNvPr>
          <p:cNvSpPr txBox="1"/>
          <p:nvPr/>
        </p:nvSpPr>
        <p:spPr>
          <a:xfrm>
            <a:off x="2541710" y="5520205"/>
            <a:ext cx="1753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aktionsorientiert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3CB4AF9-7A28-47AB-9C73-B72C39699FD7}"/>
              </a:ext>
            </a:extLst>
          </p:cNvPr>
          <p:cNvSpPr txBox="1"/>
          <p:nvPr/>
        </p:nvSpPr>
        <p:spPr>
          <a:xfrm>
            <a:off x="7711518" y="5496389"/>
            <a:ext cx="2104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ressourcenorientiert</a:t>
            </a:r>
          </a:p>
        </p:txBody>
      </p:sp>
    </p:spTree>
    <p:extLst>
      <p:ext uri="{BB962C8B-B14F-4D97-AF65-F5344CB8AC3E}">
        <p14:creationId xmlns:p14="http://schemas.microsoft.com/office/powerpoint/2010/main" val="1493686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3DE79-39C7-4D44-B228-87130C7B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FE1941-A579-4207-A661-FB5B4490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DE" dirty="0"/>
              <a:t>SOAP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AA7C75-91F8-487D-851E-42DF9E102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de-DE" dirty="0"/>
              <a:t>REST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D3A9110-E539-4BEF-9239-DF9D4F2A1327}"/>
              </a:ext>
            </a:extLst>
          </p:cNvPr>
          <p:cNvSpPr txBox="1"/>
          <p:nvPr/>
        </p:nvSpPr>
        <p:spPr>
          <a:xfrm>
            <a:off x="2207701" y="5574963"/>
            <a:ext cx="2418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Remote </a:t>
            </a:r>
            <a:r>
              <a:rPr lang="de-DE" dirty="0" err="1"/>
              <a:t>Procedure</a:t>
            </a:r>
            <a:r>
              <a:rPr lang="de-DE" dirty="0"/>
              <a:t> Calls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3CB4AF9-7A28-47AB-9C73-B72C39699FD7}"/>
              </a:ext>
            </a:extLst>
          </p:cNvPr>
          <p:cNvSpPr txBox="1"/>
          <p:nvPr/>
        </p:nvSpPr>
        <p:spPr>
          <a:xfrm>
            <a:off x="7385051" y="5574963"/>
            <a:ext cx="275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Hypertext Transfer Protocol</a:t>
            </a:r>
          </a:p>
        </p:txBody>
      </p:sp>
      <p:pic>
        <p:nvPicPr>
          <p:cNvPr id="9" name="Inhaltsplatzhalter 8" descr="Ein Bild, das Vektorgrafiken enthält.&#10;&#10;Automatisch generierte Beschreibung">
            <a:extLst>
              <a:ext uri="{FF2B5EF4-FFF2-40B4-BE49-F238E27FC236}">
                <a16:creationId xmlns:a16="http://schemas.microsoft.com/office/drawing/2014/main" id="{5538C4AA-ACA4-4F66-BED9-41BA506DD6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524" y="3080010"/>
            <a:ext cx="3925159" cy="2247153"/>
          </a:xfrm>
        </p:spPr>
      </p:pic>
      <p:pic>
        <p:nvPicPr>
          <p:cNvPr id="16" name="Inhaltsplatzhalter 15">
            <a:extLst>
              <a:ext uri="{FF2B5EF4-FFF2-40B4-BE49-F238E27FC236}">
                <a16:creationId xmlns:a16="http://schemas.microsoft.com/office/drawing/2014/main" id="{6CA89421-D3C4-4156-872A-1D8BE913079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986" y="3181307"/>
            <a:ext cx="3944490" cy="2044561"/>
          </a:xfrm>
        </p:spPr>
      </p:pic>
    </p:spTree>
    <p:extLst>
      <p:ext uri="{BB962C8B-B14F-4D97-AF65-F5344CB8AC3E}">
        <p14:creationId xmlns:p14="http://schemas.microsoft.com/office/powerpoint/2010/main" val="122383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41835-FAF4-45A3-BA79-26FABD04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Beliebtheit</a:t>
            </a:r>
          </a:p>
        </p:txBody>
      </p:sp>
      <p:pic>
        <p:nvPicPr>
          <p:cNvPr id="4" name="Inhaltsplatzhalter 10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3A936D44-9648-4E00-BC4F-E46143D5A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736" y="1825625"/>
            <a:ext cx="8450528" cy="4351338"/>
          </a:xfrm>
        </p:spPr>
      </p:pic>
    </p:spTree>
    <p:extLst>
      <p:ext uri="{BB962C8B-B14F-4D97-AF65-F5344CB8AC3E}">
        <p14:creationId xmlns:p14="http://schemas.microsoft.com/office/powerpoint/2010/main" val="3536033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83AEF-2D46-4CA4-B8B0-1DF30397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Informationsdichte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50B8608-C632-4B1F-AF86-EE36795621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5" y="1843881"/>
            <a:ext cx="60388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023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F62CD59-B9AD-4D6F-898C-4D59C1C2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das REST-Paradigma?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E803DC-C541-4195-9E65-2D647436D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68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AAB51-A749-4AEE-A6FB-E111750B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8800" b="1" dirty="0" err="1"/>
              <a:t>RE</a:t>
            </a:r>
            <a:r>
              <a:rPr lang="de-DE" dirty="0" err="1"/>
              <a:t>presentational</a:t>
            </a:r>
            <a:r>
              <a:rPr lang="de-DE" dirty="0"/>
              <a:t> </a:t>
            </a:r>
            <a:r>
              <a:rPr lang="de-DE" sz="8800" b="1" dirty="0"/>
              <a:t>S</a:t>
            </a:r>
            <a:r>
              <a:rPr lang="de-DE" dirty="0"/>
              <a:t>tate </a:t>
            </a:r>
            <a:r>
              <a:rPr lang="de-DE" sz="8800" b="1" dirty="0"/>
              <a:t>T</a:t>
            </a:r>
            <a:r>
              <a:rPr lang="de-DE" dirty="0"/>
              <a:t>ransfer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414CAD-0658-4A6E-BFF9-E186F9AD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de-DE" dirty="0"/>
              <a:t>kein Regelwerk, sondern Sammlung von Best Practices</a:t>
            </a:r>
          </a:p>
          <a:p>
            <a:pPr>
              <a:lnSpc>
                <a:spcPct val="150000"/>
              </a:lnSpc>
            </a:pPr>
            <a:r>
              <a:rPr lang="de-DE" dirty="0"/>
              <a:t>zustandslos</a:t>
            </a:r>
          </a:p>
          <a:p>
            <a:pPr>
              <a:lnSpc>
                <a:spcPct val="150000"/>
              </a:lnSpc>
            </a:pPr>
            <a:r>
              <a:rPr lang="de-DE" dirty="0"/>
              <a:t>übergibt Abbild eines Zustandes (State Transfer)</a:t>
            </a:r>
          </a:p>
          <a:p>
            <a:pPr>
              <a:lnSpc>
                <a:spcPct val="150000"/>
              </a:lnSpc>
            </a:pPr>
            <a:r>
              <a:rPr lang="de-DE" dirty="0"/>
              <a:t>muss nicht mit JSON arbeiten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7854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90671-FB44-46E7-8BDA-AA36D3F3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Ressourcenorientierung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B88B41C-97A9-4888-A529-76C551249803}"/>
              </a:ext>
            </a:extLst>
          </p:cNvPr>
          <p:cNvSpPr txBox="1"/>
          <p:nvPr/>
        </p:nvSpPr>
        <p:spPr>
          <a:xfrm>
            <a:off x="2676939" y="2714082"/>
            <a:ext cx="154080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>
                <a:latin typeface="Consolas" panose="020B0609020204030204" pitchFamily="49" charset="0"/>
              </a:rPr>
              <a:t>GET</a:t>
            </a:r>
          </a:p>
          <a:p>
            <a:r>
              <a:rPr lang="de-DE" sz="3200" dirty="0">
                <a:latin typeface="Consolas" panose="020B0609020204030204" pitchFamily="49" charset="0"/>
              </a:rPr>
              <a:t>POST</a:t>
            </a:r>
          </a:p>
          <a:p>
            <a:r>
              <a:rPr lang="de-DE" sz="3200" dirty="0">
                <a:latin typeface="Consolas" panose="020B0609020204030204" pitchFamily="49" charset="0"/>
              </a:rPr>
              <a:t>PUT</a:t>
            </a:r>
          </a:p>
          <a:p>
            <a:r>
              <a:rPr lang="de-DE" sz="3200" dirty="0">
                <a:latin typeface="Consolas" panose="020B0609020204030204" pitchFamily="49" charset="0"/>
              </a:rPr>
              <a:t>PATCH</a:t>
            </a:r>
          </a:p>
          <a:p>
            <a:r>
              <a:rPr lang="de-DE" sz="3200" dirty="0">
                <a:latin typeface="Consolas" panose="020B0609020204030204" pitchFamily="49" charset="0"/>
              </a:rPr>
              <a:t>DELETE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C91ECEC-2655-422C-9C49-BDB5CB182C10}"/>
              </a:ext>
            </a:extLst>
          </p:cNvPr>
          <p:cNvSpPr txBox="1"/>
          <p:nvPr/>
        </p:nvSpPr>
        <p:spPr>
          <a:xfrm>
            <a:off x="5920408" y="3637411"/>
            <a:ext cx="35702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>
                <a:latin typeface="Consolas" panose="020B0609020204030204" pitchFamily="49" charset="0"/>
              </a:rPr>
              <a:t>/</a:t>
            </a:r>
            <a:r>
              <a:rPr lang="de-DE" sz="4000" b="1" dirty="0" err="1">
                <a:latin typeface="Consolas" panose="020B0609020204030204" pitchFamily="49" charset="0"/>
              </a:rPr>
              <a:t>offices</a:t>
            </a:r>
            <a:r>
              <a:rPr lang="de-DE" sz="4000" b="1" dirty="0">
                <a:latin typeface="Consolas" panose="020B0609020204030204" pitchFamily="49" charset="0"/>
              </a:rPr>
              <a:t>/</a:t>
            </a:r>
            <a:r>
              <a:rPr lang="de-DE" sz="4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:</a:t>
            </a:r>
            <a:r>
              <a:rPr lang="de-DE" sz="4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endParaRPr lang="de-DE" sz="4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29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EDC34-5FE3-4A41-ACEF-D97EBC2E0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Operationen auf eine Ressource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5BBC131-AABA-4E62-A923-43F733C5CC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424731"/>
              </p:ext>
            </p:extLst>
          </p:nvPr>
        </p:nvGraphicFramePr>
        <p:xfrm>
          <a:off x="838200" y="1690688"/>
          <a:ext cx="10515599" cy="480218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4220191">
                  <a:extLst>
                    <a:ext uri="{9D8B030D-6E8A-4147-A177-3AD203B41FA5}">
                      <a16:colId xmlns:a16="http://schemas.microsoft.com/office/drawing/2014/main" val="2113560801"/>
                    </a:ext>
                  </a:extLst>
                </a:gridCol>
                <a:gridCol w="1978513">
                  <a:extLst>
                    <a:ext uri="{9D8B030D-6E8A-4147-A177-3AD203B41FA5}">
                      <a16:colId xmlns:a16="http://schemas.microsoft.com/office/drawing/2014/main" val="1601527984"/>
                    </a:ext>
                  </a:extLst>
                </a:gridCol>
                <a:gridCol w="4316895">
                  <a:extLst>
                    <a:ext uri="{9D8B030D-6E8A-4147-A177-3AD203B41FA5}">
                      <a16:colId xmlns:a16="http://schemas.microsoft.com/office/drawing/2014/main" val="481548262"/>
                    </a:ext>
                  </a:extLst>
                </a:gridCol>
              </a:tblGrid>
              <a:tr h="3343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de-DE" sz="1600" dirty="0">
                          <a:effectLst/>
                        </a:rPr>
                        <a:t>Aktion</a:t>
                      </a:r>
                      <a:endParaRPr lang="de-DE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de-DE" sz="1600" dirty="0">
                          <a:effectLst/>
                        </a:rPr>
                        <a:t>HTTP-Methode</a:t>
                      </a:r>
                      <a:endParaRPr lang="de-DE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de-DE" sz="1600" dirty="0">
                          <a:effectLst/>
                        </a:rPr>
                        <a:t>URI</a:t>
                      </a:r>
                      <a:endParaRPr lang="de-DE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2529018"/>
                  </a:ext>
                </a:extLst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alle Büros auslesen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GET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9948839"/>
                  </a:ext>
                </a:extLst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neues Büro anlegen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POST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/offices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4316594"/>
                  </a:ext>
                </a:extLst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Büro mit der ID {x} auslesen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GET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8287739"/>
                  </a:ext>
                </a:extLst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Büro mit der ID {x} komplett aktualisieren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PUT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4615870"/>
                  </a:ext>
                </a:extLst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Büro mit der ID {x} teilweise aktualisieren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PATCH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1946353"/>
                  </a:ext>
                </a:extLst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Büro mit der ID {x} löschen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DELETE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5672793"/>
                  </a:ext>
                </a:extLst>
              </a:tr>
              <a:tr h="709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alle Schreibtische, die in dem Büro mit der ID {x} stehen, auslesen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GET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desks</a:t>
                      </a:r>
                      <a:r>
                        <a:rPr lang="de-DE" sz="1600" dirty="0">
                          <a:effectLst/>
                        </a:rPr>
                        <a:t>/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6404527"/>
                  </a:ext>
                </a:extLst>
              </a:tr>
              <a:tr h="709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einen neuen Schreibtisch anlegen, der in dem Büro mit der ID {x} steht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POST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desks</a:t>
                      </a:r>
                      <a:r>
                        <a:rPr lang="de-DE" sz="1600" dirty="0">
                          <a:effectLst/>
                        </a:rPr>
                        <a:t>/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8252459"/>
                  </a:ext>
                </a:extLst>
              </a:tr>
              <a:tr h="709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Schreibtisch mit der ID {y} auslesen, der in dem Büro mit der ID {x} steht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>
                          <a:effectLst/>
                        </a:rPr>
                        <a:t>GET</a:t>
                      </a:r>
                      <a:endParaRPr lang="de-DE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offices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r>
                        <a:rPr lang="de-DE" sz="1600" dirty="0">
                          <a:effectLst/>
                        </a:rPr>
                        <a:t>/</a:t>
                      </a:r>
                      <a:r>
                        <a:rPr lang="de-DE" sz="1600" dirty="0" err="1">
                          <a:effectLst/>
                        </a:rPr>
                        <a:t>desks</a:t>
                      </a:r>
                      <a:r>
                        <a:rPr lang="de-DE" sz="1600" dirty="0">
                          <a:effectLst/>
                        </a:rPr>
                        <a:t>/:</a:t>
                      </a:r>
                      <a:r>
                        <a:rPr lang="de-DE" sz="1600" dirty="0" err="1">
                          <a:effectLst/>
                        </a:rPr>
                        <a:t>id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6390862"/>
                  </a:ext>
                </a:extLst>
              </a:tr>
              <a:tr h="334363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de-DE" sz="1600" dirty="0">
                          <a:effectLst/>
                        </a:rPr>
                        <a:t>…</a:t>
                      </a:r>
                      <a:endParaRPr lang="de-DE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730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63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Breitbild</PresentationFormat>
  <Paragraphs>115</Paragraphs>
  <Slides>16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</vt:lpstr>
      <vt:lpstr>Was ist eine API?</vt:lpstr>
      <vt:lpstr>Herzlich Willkommen im RESTaurant!</vt:lpstr>
      <vt:lpstr>Herzlich Willkommen im RESTaurant!</vt:lpstr>
      <vt:lpstr>Herzlich Willkommen im RESTaurant!</vt:lpstr>
      <vt:lpstr>Herzlich Willkommen im RESTaurant!</vt:lpstr>
      <vt:lpstr>Herzlich Willkommen im RESTaurant!</vt:lpstr>
      <vt:lpstr>Herzlich Willkommen im RESTaurant!</vt:lpstr>
      <vt:lpstr>SOAP &amp; XML vs. REST &amp; JSON</vt:lpstr>
      <vt:lpstr>Strukturierung</vt:lpstr>
      <vt:lpstr>Basis</vt:lpstr>
      <vt:lpstr>Beliebtheit</vt:lpstr>
      <vt:lpstr>Informationsdichte</vt:lpstr>
      <vt:lpstr>Was ist das REST-Paradigma?</vt:lpstr>
      <vt:lpstr>REpresentational State Transfer</vt:lpstr>
      <vt:lpstr>Ressourcenorientierung</vt:lpstr>
      <vt:lpstr>Operationen auf eine Ressource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 ist eine API?</dc:title>
  <dc:creator>Manuel Ottlik</dc:creator>
  <cp:lastModifiedBy>Manuel Ottlik</cp:lastModifiedBy>
  <cp:revision>11</cp:revision>
  <dcterms:created xsi:type="dcterms:W3CDTF">2019-09-07T14:17:17Z</dcterms:created>
  <dcterms:modified xsi:type="dcterms:W3CDTF">2019-09-07T16:04:44Z</dcterms:modified>
</cp:coreProperties>
</file>